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583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capability overview. No client identity, no commercial figures.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This frames every later slide: the differentiator is the envelope, not the generation.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flow top to bottom. Note the dashed return: findings and overrides become amendments to the standards.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4 is the one to dwell on. Security reviewers respond to capability removal in a way they never respond to policy.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Any competent system produces an audit trail. This produces an explanation.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savings: the framing is released capacity, not removed headcount. Any number needs the client’s own actuals behind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6928" y="786384"/>
            <a:ext cx="2487168" cy="301752"/>
          </a:xfrm>
          <a:prstGeom prst="rect">
            <a:avLst/>
          </a:prstGeom>
        </p:spPr>
      </p:pic>
      <p:sp>
        <p:nvSpPr>
          <p:cNvPr id="3" name="Text 0"/>
          <p:cNvSpPr txBox="1"/>
          <p:nvPr/>
        </p:nvSpPr>
        <p:spPr>
          <a:xfrm>
            <a:off x="566928" y="1225296"/>
            <a:ext cx="8229600" cy="274320"/>
          </a:xfrm>
          <a:prstGeom prst="rect">
            <a:avLst/>
          </a:prstGeom>
          <a:noFill/>
          <a:ln/>
        </p:spPr>
        <p:txBody>
          <a:bodyPr wrap="square" lIns="0" tIns="0" rIns="0" bIns="0" rtlCol="0" anchor="ctr"/>
          <a:lstStyle/>
          <a:p>
            <a:pPr marL="0" indent="0">
              <a:buNone/>
            </a:pPr>
            <a:r>
              <a:rPr lang="en-US" sz="1200" b="1" kern="0" spc="200" dirty="0">
                <a:solidFill>
                  <a:srgbClr val="0096FF"/>
                </a:solidFill>
                <a:latin typeface="Calibri" pitchFamily="34" charset="0"/>
                <a:ea typeface="Calibri" pitchFamily="34" charset="-122"/>
                <a:cs typeface="Calibri" pitchFamily="34" charset="-120"/>
              </a:rPr>
              <a:t>AI CENTER OF EXCELLENCE</a:t>
            </a:r>
            <a:endParaRPr lang="en-US" sz="1200" dirty="0"/>
          </a:p>
        </p:txBody>
      </p:sp>
      <p:sp>
        <p:nvSpPr>
          <p:cNvPr id="4" name="Text 1"/>
          <p:cNvSpPr txBox="1"/>
          <p:nvPr/>
        </p:nvSpPr>
        <p:spPr>
          <a:xfrm>
            <a:off x="566928" y="1883664"/>
            <a:ext cx="10424160" cy="1005840"/>
          </a:xfrm>
          <a:prstGeom prst="rect">
            <a:avLst/>
          </a:prstGeom>
          <a:noFill/>
          <a:ln/>
        </p:spPr>
        <p:txBody>
          <a:bodyPr wrap="square" lIns="0" tIns="0" rIns="0" bIns="0" rtlCol="0" anchor="ctr"/>
          <a:lstStyle/>
          <a:p>
            <a:pPr marL="0" indent="0">
              <a:buNone/>
            </a:pPr>
            <a:r>
              <a:rPr lang="en-US" sz="5400" b="1" dirty="0">
                <a:solidFill>
                  <a:srgbClr val="0D1523"/>
                </a:solidFill>
                <a:latin typeface="Cambria" pitchFamily="34" charset="0"/>
                <a:ea typeface="Cambria" pitchFamily="34" charset="-122"/>
                <a:cs typeface="Cambria" pitchFamily="34" charset="-120"/>
              </a:rPr>
              <a:t>Governed Agentic SDLC</a:t>
            </a:r>
            <a:endParaRPr lang="en-US" sz="5400" dirty="0"/>
          </a:p>
        </p:txBody>
      </p:sp>
      <p:sp>
        <p:nvSpPr>
          <p:cNvPr id="5" name="Text 2"/>
          <p:cNvSpPr txBox="1"/>
          <p:nvPr/>
        </p:nvSpPr>
        <p:spPr>
          <a:xfrm>
            <a:off x="566928" y="2944368"/>
            <a:ext cx="8778240" cy="548640"/>
          </a:xfrm>
          <a:prstGeom prst="rect">
            <a:avLst/>
          </a:prstGeom>
          <a:noFill/>
          <a:ln/>
        </p:spPr>
        <p:txBody>
          <a:bodyPr wrap="square" lIns="0" tIns="0" rIns="0" bIns="0" rtlCol="0" anchor="ctr"/>
          <a:lstStyle/>
          <a:p>
            <a:pPr marL="0" indent="0">
              <a:lnSpc>
                <a:spcPct val="120000"/>
              </a:lnSpc>
              <a:buNone/>
            </a:pPr>
            <a:r>
              <a:rPr lang="en-US" sz="2200" dirty="0">
                <a:solidFill>
                  <a:srgbClr val="0096FF"/>
                </a:solidFill>
                <a:latin typeface="Calibri" pitchFamily="34" charset="0"/>
                <a:ea typeface="Calibri" pitchFamily="34" charset="-122"/>
                <a:cs typeface="Calibri" pitchFamily="34" charset="-120"/>
              </a:rPr>
              <a:t>AI-driven software engineering that can be trusted inside a production codebase</a:t>
            </a:r>
            <a:endParaRPr lang="en-US" sz="2200" dirty="0"/>
          </a:p>
        </p:txBody>
      </p:sp>
      <p:sp>
        <p:nvSpPr>
          <p:cNvPr id="6" name="Shape 3"/>
          <p:cNvSpPr/>
          <p:nvPr/>
        </p:nvSpPr>
        <p:spPr>
          <a:xfrm>
            <a:off x="566928" y="3712464"/>
            <a:ext cx="2103120" cy="50292"/>
          </a:xfrm>
          <a:prstGeom prst="rect">
            <a:avLst/>
          </a:prstGeom>
          <a:solidFill>
            <a:srgbClr val="F53E5A"/>
          </a:solidFill>
          <a:ln/>
        </p:spPr>
        <p:txBody>
          <a:bodyPr/>
          <a:lstStyle/>
          <a:p>
            <a:endParaRPr lang="en-IN"/>
          </a:p>
        </p:txBody>
      </p:sp>
      <p:sp>
        <p:nvSpPr>
          <p:cNvPr id="7" name="Text 4"/>
          <p:cNvSpPr txBox="1"/>
          <p:nvPr/>
        </p:nvSpPr>
        <p:spPr>
          <a:xfrm>
            <a:off x="566928" y="3986784"/>
            <a:ext cx="7863840" cy="914400"/>
          </a:xfrm>
          <a:prstGeom prst="rect">
            <a:avLst/>
          </a:prstGeom>
          <a:noFill/>
          <a:ln/>
        </p:spPr>
        <p:txBody>
          <a:bodyPr wrap="square" lIns="0" tIns="0" rIns="0" bIns="0" rtlCol="0" anchor="ctr"/>
          <a:lstStyle/>
          <a:p>
            <a:pPr marL="0" indent="0">
              <a:lnSpc>
                <a:spcPct val="125000"/>
              </a:lnSpc>
              <a:buNone/>
            </a:pPr>
            <a:r>
              <a:rPr lang="en-US" sz="1600" i="1" dirty="0">
                <a:solidFill>
                  <a:srgbClr val="16202C"/>
                </a:solidFill>
                <a:latin typeface="Calibri" pitchFamily="34" charset="0"/>
                <a:ea typeface="Calibri" pitchFamily="34" charset="-122"/>
                <a:cs typeface="Calibri" pitchFamily="34" charset="-120"/>
              </a:rPr>
              <a:t>Five role-specialised agents carry a requirement from intake to a merge-ready change — inside your environment, against your repository, under mandatory human approval.</a:t>
            </a:r>
            <a:endParaRPr lang="en-US" sz="1600" dirty="0"/>
          </a:p>
        </p:txBody>
      </p:sp>
      <p:pic>
        <p:nvPicPr>
          <p:cNvPr id="8" name="Image 1" descr="preencoded.png"/>
          <p:cNvPicPr>
            <a:picLocks noChangeAspect="1"/>
          </p:cNvPicPr>
          <p:nvPr/>
        </p:nvPicPr>
        <p:blipFill>
          <a:blip r:embed="rId4">
            <a:alphaModFix amt="8000"/>
          </a:blip>
          <a:stretch>
            <a:fillRect/>
          </a:stretch>
        </p:blipFill>
        <p:spPr>
          <a:xfrm>
            <a:off x="8961120" y="1371600"/>
            <a:ext cx="2834640" cy="2834640"/>
          </a:xfrm>
          <a:prstGeom prst="rect">
            <a:avLst/>
          </a:prstGeom>
        </p:spPr>
      </p:pic>
      <p:sp>
        <p:nvSpPr>
          <p:cNvPr id="9" name="Text 5"/>
          <p:cNvSpPr txBox="1"/>
          <p:nvPr/>
        </p:nvSpPr>
        <p:spPr>
          <a:xfrm>
            <a:off x="566928" y="5705856"/>
            <a:ext cx="10058400" cy="274320"/>
          </a:xfrm>
          <a:prstGeom prst="rect">
            <a:avLst/>
          </a:prstGeom>
          <a:noFill/>
          <a:ln/>
        </p:spPr>
        <p:txBody>
          <a:bodyPr wrap="square" lIns="0" tIns="0" rIns="0" bIns="0" rtlCol="0" anchor="ctr"/>
          <a:lstStyle/>
          <a:p>
            <a:pPr marL="0" indent="0">
              <a:buNone/>
            </a:pPr>
            <a:r>
              <a:rPr lang="en-US" sz="1250" b="1" dirty="0">
                <a:solidFill>
                  <a:srgbClr val="0D1523"/>
                </a:solidFill>
                <a:latin typeface="Calibri" pitchFamily="34" charset="0"/>
                <a:ea typeface="Calibri" pitchFamily="34" charset="-122"/>
                <a:cs typeface="Calibri" pitchFamily="34" charset="-120"/>
              </a:rPr>
              <a:t>Prashobh Paul</a:t>
            </a:r>
            <a:r>
              <a:rPr lang="en-US" sz="1250" dirty="0">
                <a:solidFill>
                  <a:srgbClr val="68788A"/>
                </a:solidFill>
                <a:latin typeface="Calibri" pitchFamily="34" charset="0"/>
                <a:ea typeface="Calibri" pitchFamily="34" charset="-122"/>
                <a:cs typeface="Calibri" pitchFamily="34" charset="-120"/>
              </a:rPr>
              <a:t>   ·   AI Architect, QualiZeal AI Center of Excellence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The premise</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Code generation is close to commoditised. The operating envelope is not.</a:t>
            </a:r>
            <a:endParaRPr lang="en-US" sz="1450" dirty="0"/>
          </a:p>
        </p:txBody>
      </p:sp>
      <p:sp>
        <p:nvSpPr>
          <p:cNvPr id="4" name="Shape 2"/>
          <p:cNvSpPr/>
          <p:nvPr/>
        </p:nvSpPr>
        <p:spPr>
          <a:xfrm>
            <a:off x="566928" y="1609344"/>
            <a:ext cx="5394960" cy="1828800"/>
          </a:xfrm>
          <a:prstGeom prst="roundRect">
            <a:avLst>
              <a:gd name="adj" fmla="val 5000"/>
            </a:avLst>
          </a:prstGeom>
          <a:solidFill>
            <a:srgbClr val="F3F7FB"/>
          </a:solidFill>
          <a:ln w="12700">
            <a:solidFill>
              <a:srgbClr val="D9E2EC"/>
            </a:solidFill>
            <a:prstDash val="solid"/>
          </a:ln>
        </p:spPr>
        <p:txBody>
          <a:bodyPr/>
          <a:lstStyle/>
          <a:p>
            <a:endParaRPr lang="en-IN"/>
          </a:p>
        </p:txBody>
      </p:sp>
      <p:sp>
        <p:nvSpPr>
          <p:cNvPr id="5" name="Text 3"/>
          <p:cNvSpPr txBox="1"/>
          <p:nvPr/>
        </p:nvSpPr>
        <p:spPr>
          <a:xfrm>
            <a:off x="877824" y="1883664"/>
            <a:ext cx="4773168" cy="1280160"/>
          </a:xfrm>
          <a:prstGeom prst="rect">
            <a:avLst/>
          </a:prstGeom>
          <a:noFill/>
          <a:ln/>
        </p:spPr>
        <p:txBody>
          <a:bodyPr wrap="square" lIns="0" tIns="0" rIns="0" bIns="0" rtlCol="0" anchor="ctr"/>
          <a:lstStyle/>
          <a:p>
            <a:pPr marL="0" indent="0">
              <a:lnSpc>
                <a:spcPct val="135000"/>
              </a:lnSpc>
              <a:buNone/>
            </a:pPr>
            <a:r>
              <a:rPr lang="en-US" sz="1600" dirty="0">
                <a:solidFill>
                  <a:srgbClr val="16202C"/>
                </a:solidFill>
                <a:latin typeface="Calibri" pitchFamily="34" charset="0"/>
                <a:ea typeface="Calibri" pitchFamily="34" charset="-122"/>
                <a:cs typeface="Calibri" pitchFamily="34" charset="-120"/>
              </a:rPr>
              <a:t>Generating code is no longer the hard part, and will be less so next year. What does not commoditise is whether the system can be trusted where it runs.</a:t>
            </a:r>
            <a:endParaRPr lang="en-US" sz="1600" dirty="0"/>
          </a:p>
        </p:txBody>
      </p:sp>
      <p:sp>
        <p:nvSpPr>
          <p:cNvPr id="6" name="Text 4"/>
          <p:cNvSpPr txBox="1"/>
          <p:nvPr/>
        </p:nvSpPr>
        <p:spPr>
          <a:xfrm>
            <a:off x="566928" y="3712464"/>
            <a:ext cx="5394960" cy="274320"/>
          </a:xfrm>
          <a:prstGeom prst="rect">
            <a:avLst/>
          </a:prstGeom>
          <a:noFill/>
          <a:ln/>
        </p:spPr>
        <p:txBody>
          <a:bodyPr wrap="square" lIns="0" tIns="0" rIns="0" bIns="0" rtlCol="0" anchor="ctr"/>
          <a:lstStyle/>
          <a:p>
            <a:pPr marL="0" indent="0">
              <a:buNone/>
            </a:pPr>
            <a:r>
              <a:rPr lang="en-US" sz="1100" b="1" kern="0" spc="160" dirty="0">
                <a:solidFill>
                  <a:srgbClr val="68788A"/>
                </a:solidFill>
                <a:latin typeface="Calibri" pitchFamily="34" charset="0"/>
                <a:ea typeface="Calibri" pitchFamily="34" charset="-122"/>
                <a:cs typeface="Calibri" pitchFamily="34" charset="-120"/>
              </a:rPr>
              <a:t>THREE QUESTIONS THAT DECIDE ADOPTION</a:t>
            </a:r>
            <a:endParaRPr lang="en-US" sz="1100" dirty="0"/>
          </a:p>
        </p:txBody>
      </p:sp>
      <p:sp>
        <p:nvSpPr>
          <p:cNvPr id="7" name="Shape 5"/>
          <p:cNvSpPr/>
          <p:nvPr/>
        </p:nvSpPr>
        <p:spPr>
          <a:xfrm>
            <a:off x="566928" y="4078224"/>
            <a:ext cx="384048" cy="384048"/>
          </a:xfrm>
          <a:prstGeom prst="ellipse">
            <a:avLst/>
          </a:prstGeom>
          <a:solidFill>
            <a:srgbClr val="E8F5FF"/>
          </a:solidFill>
          <a:ln w="13970">
            <a:solidFill>
              <a:srgbClr val="0086E6"/>
            </a:solidFill>
            <a:prstDash val="solid"/>
          </a:ln>
        </p:spPr>
        <p:txBody>
          <a:bodyPr/>
          <a:lstStyle/>
          <a:p>
            <a:endParaRPr lang="en-IN"/>
          </a:p>
        </p:txBody>
      </p:sp>
      <p:sp>
        <p:nvSpPr>
          <p:cNvPr id="8" name="Text 6"/>
          <p:cNvSpPr txBox="1"/>
          <p:nvPr/>
        </p:nvSpPr>
        <p:spPr>
          <a:xfrm>
            <a:off x="566928" y="4078224"/>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97280" y="4059936"/>
            <a:ext cx="1554480" cy="237744"/>
          </a:xfrm>
          <a:prstGeom prst="rect">
            <a:avLst/>
          </a:prstGeom>
          <a:noFill/>
          <a:ln/>
        </p:spPr>
        <p:txBody>
          <a:bodyPr wrap="square" lIns="0" tIns="0" rIns="0" bIns="0" rtlCol="0" anchor="ctr"/>
          <a:lstStyle/>
          <a:p>
            <a:pPr marL="0" indent="0">
              <a:buNone/>
            </a:pPr>
            <a:r>
              <a:rPr lang="en-US" sz="1350" b="1" dirty="0">
                <a:solidFill>
                  <a:srgbClr val="0D1523"/>
                </a:solidFill>
                <a:latin typeface="Calibri" pitchFamily="34" charset="0"/>
                <a:ea typeface="Calibri" pitchFamily="34" charset="-122"/>
                <a:cs typeface="Calibri" pitchFamily="34" charset="-120"/>
              </a:rPr>
              <a:t>Trust</a:t>
            </a:r>
            <a:endParaRPr lang="en-US" sz="1350" dirty="0"/>
          </a:p>
        </p:txBody>
      </p:sp>
      <p:sp>
        <p:nvSpPr>
          <p:cNvPr id="10" name="Text 8"/>
          <p:cNvSpPr txBox="1"/>
          <p:nvPr/>
        </p:nvSpPr>
        <p:spPr>
          <a:xfrm>
            <a:off x="1097280" y="4297680"/>
            <a:ext cx="4754880" cy="329184"/>
          </a:xfrm>
          <a:prstGeom prst="rect">
            <a:avLst/>
          </a:prstGeom>
          <a:noFill/>
          <a:ln/>
        </p:spPr>
        <p:txBody>
          <a:bodyPr wrap="square" lIns="0" tIns="0" rIns="0" bIns="0" rtlCol="0" anchor="ctr"/>
          <a:lstStyle/>
          <a:p>
            <a:pPr marL="0" indent="0">
              <a:buNone/>
            </a:pPr>
            <a:r>
              <a:rPr lang="en-US" sz="1200" dirty="0">
                <a:solidFill>
                  <a:srgbClr val="68788A"/>
                </a:solidFill>
                <a:latin typeface="Calibri" pitchFamily="34" charset="0"/>
                <a:ea typeface="Calibri" pitchFamily="34" charset="-122"/>
                <a:cs typeface="Calibri" pitchFamily="34" charset="-120"/>
              </a:rPr>
              <a:t>Can it operate inside a codebase somebody else is accountable for?</a:t>
            </a:r>
            <a:endParaRPr lang="en-US" sz="1200" dirty="0"/>
          </a:p>
        </p:txBody>
      </p:sp>
      <p:sp>
        <p:nvSpPr>
          <p:cNvPr id="11" name="Shape 9"/>
          <p:cNvSpPr/>
          <p:nvPr/>
        </p:nvSpPr>
        <p:spPr>
          <a:xfrm>
            <a:off x="566928" y="4700016"/>
            <a:ext cx="384048" cy="384048"/>
          </a:xfrm>
          <a:prstGeom prst="ellipse">
            <a:avLst/>
          </a:prstGeom>
          <a:solidFill>
            <a:srgbClr val="E8F5FF"/>
          </a:solidFill>
          <a:ln w="13970">
            <a:solidFill>
              <a:srgbClr val="0086E6"/>
            </a:solidFill>
            <a:prstDash val="solid"/>
          </a:ln>
        </p:spPr>
        <p:txBody>
          <a:bodyPr/>
          <a:lstStyle/>
          <a:p>
            <a:endParaRPr lang="en-IN"/>
          </a:p>
        </p:txBody>
      </p:sp>
      <p:sp>
        <p:nvSpPr>
          <p:cNvPr id="12" name="Text 10"/>
          <p:cNvSpPr txBox="1"/>
          <p:nvPr/>
        </p:nvSpPr>
        <p:spPr>
          <a:xfrm>
            <a:off x="566928" y="4700016"/>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97280" y="4681728"/>
            <a:ext cx="1554480" cy="237744"/>
          </a:xfrm>
          <a:prstGeom prst="rect">
            <a:avLst/>
          </a:prstGeom>
          <a:noFill/>
          <a:ln/>
        </p:spPr>
        <p:txBody>
          <a:bodyPr wrap="square" lIns="0" tIns="0" rIns="0" bIns="0" rtlCol="0" anchor="ctr"/>
          <a:lstStyle/>
          <a:p>
            <a:pPr marL="0" indent="0">
              <a:buNone/>
            </a:pPr>
            <a:r>
              <a:rPr lang="en-US" sz="1350" b="1" dirty="0">
                <a:solidFill>
                  <a:srgbClr val="0D1523"/>
                </a:solidFill>
                <a:latin typeface="Calibri" pitchFamily="34" charset="0"/>
                <a:ea typeface="Calibri" pitchFamily="34" charset="-122"/>
                <a:cs typeface="Calibri" pitchFamily="34" charset="-120"/>
              </a:rPr>
              <a:t>Explanation</a:t>
            </a:r>
            <a:endParaRPr lang="en-US" sz="1350" dirty="0"/>
          </a:p>
        </p:txBody>
      </p:sp>
      <p:sp>
        <p:nvSpPr>
          <p:cNvPr id="14" name="Text 12"/>
          <p:cNvSpPr txBox="1"/>
          <p:nvPr/>
        </p:nvSpPr>
        <p:spPr>
          <a:xfrm>
            <a:off x="1097280" y="4919472"/>
            <a:ext cx="4754880" cy="329184"/>
          </a:xfrm>
          <a:prstGeom prst="rect">
            <a:avLst/>
          </a:prstGeom>
          <a:noFill/>
          <a:ln/>
        </p:spPr>
        <p:txBody>
          <a:bodyPr wrap="square" lIns="0" tIns="0" rIns="0" bIns="0" rtlCol="0" anchor="ctr"/>
          <a:lstStyle/>
          <a:p>
            <a:pPr marL="0" indent="0">
              <a:buNone/>
            </a:pPr>
            <a:r>
              <a:rPr lang="en-US" sz="1200" dirty="0">
                <a:solidFill>
                  <a:srgbClr val="68788A"/>
                </a:solidFill>
                <a:latin typeface="Calibri" pitchFamily="34" charset="0"/>
                <a:ea typeface="Calibri" pitchFamily="34" charset="-122"/>
                <a:cs typeface="Calibri" pitchFamily="34" charset="-120"/>
              </a:rPr>
              <a:t>Can its actions be explained after the fact, not merely logged?</a:t>
            </a:r>
            <a:endParaRPr lang="en-US" sz="1200" dirty="0"/>
          </a:p>
        </p:txBody>
      </p:sp>
      <p:sp>
        <p:nvSpPr>
          <p:cNvPr id="15" name="Shape 13"/>
          <p:cNvSpPr/>
          <p:nvPr/>
        </p:nvSpPr>
        <p:spPr>
          <a:xfrm>
            <a:off x="566928" y="5321808"/>
            <a:ext cx="384048" cy="384048"/>
          </a:xfrm>
          <a:prstGeom prst="ellipse">
            <a:avLst/>
          </a:prstGeom>
          <a:solidFill>
            <a:srgbClr val="E8F5FF"/>
          </a:solidFill>
          <a:ln w="13970">
            <a:solidFill>
              <a:srgbClr val="0086E6"/>
            </a:solidFill>
            <a:prstDash val="solid"/>
          </a:ln>
        </p:spPr>
        <p:txBody>
          <a:bodyPr/>
          <a:lstStyle/>
          <a:p>
            <a:endParaRPr lang="en-IN"/>
          </a:p>
        </p:txBody>
      </p:sp>
      <p:sp>
        <p:nvSpPr>
          <p:cNvPr id="16" name="Text 14"/>
          <p:cNvSpPr txBox="1"/>
          <p:nvPr/>
        </p:nvSpPr>
        <p:spPr>
          <a:xfrm>
            <a:off x="566928" y="5321808"/>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097280" y="5303520"/>
            <a:ext cx="1554480" cy="237744"/>
          </a:xfrm>
          <a:prstGeom prst="rect">
            <a:avLst/>
          </a:prstGeom>
          <a:noFill/>
          <a:ln/>
        </p:spPr>
        <p:txBody>
          <a:bodyPr wrap="square" lIns="0" tIns="0" rIns="0" bIns="0" rtlCol="0" anchor="ctr"/>
          <a:lstStyle/>
          <a:p>
            <a:pPr marL="0" indent="0">
              <a:buNone/>
            </a:pPr>
            <a:r>
              <a:rPr lang="en-US" sz="1350" b="1" dirty="0">
                <a:solidFill>
                  <a:srgbClr val="0D1523"/>
                </a:solidFill>
                <a:latin typeface="Calibri" pitchFamily="34" charset="0"/>
                <a:ea typeface="Calibri" pitchFamily="34" charset="-122"/>
                <a:cs typeface="Calibri" pitchFamily="34" charset="-120"/>
              </a:rPr>
              <a:t>Ownership</a:t>
            </a:r>
            <a:endParaRPr lang="en-US" sz="1350" dirty="0"/>
          </a:p>
        </p:txBody>
      </p:sp>
      <p:sp>
        <p:nvSpPr>
          <p:cNvPr id="18" name="Text 16"/>
          <p:cNvSpPr txBox="1"/>
          <p:nvPr/>
        </p:nvSpPr>
        <p:spPr>
          <a:xfrm>
            <a:off x="1097280" y="5541264"/>
            <a:ext cx="4754880" cy="329184"/>
          </a:xfrm>
          <a:prstGeom prst="rect">
            <a:avLst/>
          </a:prstGeom>
          <a:noFill/>
          <a:ln/>
        </p:spPr>
        <p:txBody>
          <a:bodyPr wrap="square" lIns="0" tIns="0" rIns="0" bIns="0" rtlCol="0" anchor="ctr"/>
          <a:lstStyle/>
          <a:p>
            <a:pPr marL="0" indent="0">
              <a:buNone/>
            </a:pPr>
            <a:r>
              <a:rPr lang="en-US" sz="1200" dirty="0">
                <a:solidFill>
                  <a:srgbClr val="68788A"/>
                </a:solidFill>
                <a:latin typeface="Calibri" pitchFamily="34" charset="0"/>
                <a:ea typeface="Calibri" pitchFamily="34" charset="-122"/>
                <a:cs typeface="Calibri" pitchFamily="34" charset="-120"/>
              </a:rPr>
              <a:t>Can the organisation own it once the people who built it move on?</a:t>
            </a:r>
            <a:endParaRPr lang="en-US" sz="1200" dirty="0"/>
          </a:p>
        </p:txBody>
      </p:sp>
      <p:sp>
        <p:nvSpPr>
          <p:cNvPr id="19" name="Text 17"/>
          <p:cNvSpPr txBox="1"/>
          <p:nvPr/>
        </p:nvSpPr>
        <p:spPr>
          <a:xfrm>
            <a:off x="6419088" y="1828800"/>
            <a:ext cx="5175504" cy="914400"/>
          </a:xfrm>
          <a:prstGeom prst="rect">
            <a:avLst/>
          </a:prstGeom>
          <a:noFill/>
          <a:ln/>
        </p:spPr>
        <p:txBody>
          <a:bodyPr wrap="square" lIns="0" tIns="0" rIns="0" bIns="0" rtlCol="0" anchor="ctr"/>
          <a:lstStyle/>
          <a:p>
            <a:pPr marL="0" indent="0">
              <a:lnSpc>
                <a:spcPct val="110000"/>
              </a:lnSpc>
              <a:buNone/>
            </a:pPr>
            <a:r>
              <a:rPr lang="en-US" sz="2600" b="1" dirty="0">
                <a:solidFill>
                  <a:srgbClr val="0D1523"/>
                </a:solidFill>
                <a:latin typeface="Cambria" pitchFamily="34" charset="0"/>
                <a:ea typeface="Cambria" pitchFamily="34" charset="-122"/>
                <a:cs typeface="Cambria" pitchFamily="34" charset="-120"/>
              </a:rPr>
              <a:t>The agents are the</a:t>
            </a:r>
            <a:endParaRPr lang="en-US" sz="2600" dirty="0"/>
          </a:p>
          <a:p>
            <a:pPr marL="0" indent="0">
              <a:lnSpc>
                <a:spcPct val="110000"/>
              </a:lnSpc>
              <a:buNone/>
            </a:pPr>
            <a:r>
              <a:rPr lang="en-US" sz="2600" b="1" dirty="0">
                <a:solidFill>
                  <a:srgbClr val="0D1523"/>
                </a:solidFill>
                <a:latin typeface="Cambria" pitchFamily="34" charset="0"/>
                <a:ea typeface="Cambria" pitchFamily="34" charset="-122"/>
                <a:cs typeface="Cambria" pitchFamily="34" charset="-120"/>
              </a:rPr>
              <a:t>visible part.</a:t>
            </a:r>
            <a:endParaRPr lang="en-US" sz="2600" dirty="0"/>
          </a:p>
        </p:txBody>
      </p:sp>
      <p:sp>
        <p:nvSpPr>
          <p:cNvPr id="20" name="Text 18"/>
          <p:cNvSpPr txBox="1"/>
          <p:nvPr/>
        </p:nvSpPr>
        <p:spPr>
          <a:xfrm>
            <a:off x="6419088" y="2907792"/>
            <a:ext cx="5175504" cy="1737360"/>
          </a:xfrm>
          <a:prstGeom prst="rect">
            <a:avLst/>
          </a:prstGeom>
          <a:noFill/>
          <a:ln/>
        </p:spPr>
        <p:txBody>
          <a:bodyPr wrap="square" lIns="0" tIns="0" rIns="0" bIns="0" rtlCol="0" anchor="ctr"/>
          <a:lstStyle/>
          <a:p>
            <a:pPr marL="0" indent="0">
              <a:lnSpc>
                <a:spcPct val="140000"/>
              </a:lnSpc>
              <a:buNone/>
            </a:pPr>
            <a:r>
              <a:rPr lang="en-US" sz="1500" dirty="0">
                <a:solidFill>
                  <a:srgbClr val="16202C"/>
                </a:solidFill>
                <a:latin typeface="Calibri" pitchFamily="34" charset="0"/>
                <a:ea typeface="Calibri" pitchFamily="34" charset="-122"/>
                <a:cs typeface="Calibri" pitchFamily="34" charset="-120"/>
              </a:rPr>
              <a:t>What makes a system defensible in a live codebase is everything around them — a contract that lets a handoff be refused, guardrails that remove capability rather than discourage its use, and an audit trail that records not only what was approved but why.</a:t>
            </a:r>
            <a:endParaRPr lang="en-US" sz="1500" dirty="0"/>
          </a:p>
        </p:txBody>
      </p:sp>
      <p:sp>
        <p:nvSpPr>
          <p:cNvPr id="21" name="Shape 19"/>
          <p:cNvSpPr/>
          <p:nvPr/>
        </p:nvSpPr>
        <p:spPr>
          <a:xfrm>
            <a:off x="6419088" y="4718304"/>
            <a:ext cx="5175504" cy="1005840"/>
          </a:xfrm>
          <a:prstGeom prst="roundRect">
            <a:avLst>
              <a:gd name="adj" fmla="val 9091"/>
            </a:avLst>
          </a:prstGeom>
          <a:solidFill>
            <a:srgbClr val="FFF1F3"/>
          </a:solidFill>
          <a:ln w="12700">
            <a:solidFill>
              <a:srgbClr val="F53E5A"/>
            </a:solidFill>
            <a:prstDash val="solid"/>
          </a:ln>
        </p:spPr>
        <p:txBody>
          <a:bodyPr/>
          <a:lstStyle/>
          <a:p>
            <a:endParaRPr lang="en-IN"/>
          </a:p>
        </p:txBody>
      </p:sp>
      <p:sp>
        <p:nvSpPr>
          <p:cNvPr id="22" name="Text 20"/>
          <p:cNvSpPr txBox="1"/>
          <p:nvPr/>
        </p:nvSpPr>
        <p:spPr>
          <a:xfrm>
            <a:off x="6693408" y="4937760"/>
            <a:ext cx="4626864" cy="603504"/>
          </a:xfrm>
          <a:prstGeom prst="rect">
            <a:avLst/>
          </a:prstGeom>
          <a:noFill/>
          <a:ln/>
        </p:spPr>
        <p:txBody>
          <a:bodyPr wrap="square" lIns="0" tIns="0" rIns="0" bIns="0" rtlCol="0" anchor="ctr"/>
          <a:lstStyle/>
          <a:p>
            <a:pPr marL="0" indent="0">
              <a:lnSpc>
                <a:spcPct val="125000"/>
              </a:lnSpc>
              <a:buNone/>
            </a:pPr>
            <a:r>
              <a:rPr lang="en-US" sz="1500" i="1" dirty="0">
                <a:solidFill>
                  <a:srgbClr val="8C1A2B"/>
                </a:solidFill>
                <a:latin typeface="Calibri" pitchFamily="34" charset="0"/>
                <a:ea typeface="Calibri" pitchFamily="34" charset="-122"/>
                <a:cs typeface="Calibri" pitchFamily="34" charset="-120"/>
              </a:rPr>
              <a:t>Governance is the product. The agents are the delivery mechanism.</a:t>
            </a:r>
            <a:endParaRPr lang="en-US" sz="1500" dirty="0"/>
          </a:p>
        </p:txBody>
      </p:sp>
      <p:pic>
        <p:nvPicPr>
          <p:cNvPr id="23"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24" name="Text 21"/>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25" name="Text 22"/>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Five role-specialised agents</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Each owns one responsibility, holds no state, and cannot advance its own work</a:t>
            </a:r>
            <a:endParaRPr lang="en-US" sz="1450" dirty="0"/>
          </a:p>
        </p:txBody>
      </p:sp>
      <p:sp>
        <p:nvSpPr>
          <p:cNvPr id="4" name="Shape 2"/>
          <p:cNvSpPr/>
          <p:nvPr/>
        </p:nvSpPr>
        <p:spPr>
          <a:xfrm>
            <a:off x="566928" y="1609344"/>
            <a:ext cx="2059229" cy="4114800"/>
          </a:xfrm>
          <a:prstGeom prst="roundRect">
            <a:avLst>
              <a:gd name="adj" fmla="val 3996"/>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5" name="Shape 3"/>
          <p:cNvSpPr/>
          <p:nvPr/>
        </p:nvSpPr>
        <p:spPr>
          <a:xfrm>
            <a:off x="786384" y="1828800"/>
            <a:ext cx="384048" cy="384048"/>
          </a:xfrm>
          <a:prstGeom prst="ellipse">
            <a:avLst/>
          </a:prstGeom>
          <a:solidFill>
            <a:srgbClr val="E8F5FF"/>
          </a:solidFill>
          <a:ln w="13970">
            <a:solidFill>
              <a:srgbClr val="0086E6"/>
            </a:solidFill>
            <a:prstDash val="solid"/>
          </a:ln>
        </p:spPr>
        <p:txBody>
          <a:bodyPr/>
          <a:lstStyle/>
          <a:p>
            <a:endParaRPr lang="en-IN"/>
          </a:p>
        </p:txBody>
      </p:sp>
      <p:sp>
        <p:nvSpPr>
          <p:cNvPr id="6" name="Text 4"/>
          <p:cNvSpPr txBox="1"/>
          <p:nvPr/>
        </p:nvSpPr>
        <p:spPr>
          <a:xfrm>
            <a:off x="786384" y="1828800"/>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86384" y="2340864"/>
            <a:ext cx="1620317" cy="566928"/>
          </a:xfrm>
          <a:prstGeom prst="rect">
            <a:avLst/>
          </a:prstGeom>
          <a:noFill/>
          <a:ln/>
        </p:spPr>
        <p:txBody>
          <a:bodyPr wrap="square" lIns="0" tIns="0" rIns="0" bIns="0" rtlCol="0" anchor="t"/>
          <a:lstStyle/>
          <a:p>
            <a:pPr marL="0" indent="0">
              <a:lnSpc>
                <a:spcPct val="115000"/>
              </a:lnSpc>
              <a:buNone/>
            </a:pPr>
            <a:r>
              <a:rPr lang="en-US" sz="1550" b="1" dirty="0">
                <a:solidFill>
                  <a:srgbClr val="0086E6"/>
                </a:solidFill>
                <a:latin typeface="Calibri" pitchFamily="34" charset="0"/>
                <a:ea typeface="Calibri" pitchFamily="34" charset="-122"/>
                <a:cs typeface="Calibri" pitchFamily="34" charset="-120"/>
              </a:rPr>
              <a:t>Feature Builder</a:t>
            </a:r>
            <a:endParaRPr lang="en-US" sz="1550" dirty="0"/>
          </a:p>
        </p:txBody>
      </p:sp>
      <p:sp>
        <p:nvSpPr>
          <p:cNvPr id="8" name="Text 6"/>
          <p:cNvSpPr txBox="1"/>
          <p:nvPr/>
        </p:nvSpPr>
        <p:spPr>
          <a:xfrm>
            <a:off x="786384" y="2944368"/>
            <a:ext cx="1620317" cy="201168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Turns a requirement into epics, stories with acceptance criteria, and tasks mapped to stack layers. Enforces scope boundaries and halts on anything outside the agreed surface.</a:t>
            </a:r>
            <a:endParaRPr lang="en-US" sz="1180" dirty="0"/>
          </a:p>
        </p:txBody>
      </p:sp>
      <p:sp>
        <p:nvSpPr>
          <p:cNvPr id="9" name="Shape 7"/>
          <p:cNvSpPr/>
          <p:nvPr/>
        </p:nvSpPr>
        <p:spPr>
          <a:xfrm>
            <a:off x="786384" y="5138928"/>
            <a:ext cx="1620317" cy="365760"/>
          </a:xfrm>
          <a:prstGeom prst="roundRect">
            <a:avLst>
              <a:gd name="adj" fmla="val 20000"/>
            </a:avLst>
          </a:prstGeom>
          <a:solidFill>
            <a:srgbClr val="E8F5FF"/>
          </a:solidFill>
          <a:ln w="12700">
            <a:solidFill>
              <a:srgbClr val="E8F5FF"/>
            </a:solidFill>
            <a:prstDash val="solid"/>
          </a:ln>
        </p:spPr>
        <p:txBody>
          <a:bodyPr/>
          <a:lstStyle/>
          <a:p>
            <a:endParaRPr lang="en-IN"/>
          </a:p>
        </p:txBody>
      </p:sp>
      <p:sp>
        <p:nvSpPr>
          <p:cNvPr id="10" name="Text 8"/>
          <p:cNvSpPr txBox="1"/>
          <p:nvPr/>
        </p:nvSpPr>
        <p:spPr>
          <a:xfrm>
            <a:off x="786384" y="5138928"/>
            <a:ext cx="1620317" cy="365760"/>
          </a:xfrm>
          <a:prstGeom prst="rect">
            <a:avLst/>
          </a:prstGeom>
          <a:noFill/>
          <a:ln/>
        </p:spPr>
        <p:txBody>
          <a:bodyPr wrap="square" lIns="0" tIns="0" rIns="0" bIns="0" rtlCol="0" anchor="ctr"/>
          <a:lstStyle/>
          <a:p>
            <a:pPr marL="0" indent="0" algn="ctr">
              <a:buNone/>
            </a:pPr>
            <a:r>
              <a:rPr lang="en-US" sz="1100" b="1" dirty="0">
                <a:solidFill>
                  <a:srgbClr val="01517F"/>
                </a:solidFill>
                <a:latin typeface="Calibri" pitchFamily="34" charset="0"/>
                <a:ea typeface="Calibri" pitchFamily="34" charset="-122"/>
                <a:cs typeface="Calibri" pitchFamily="34" charset="-120"/>
              </a:rPr>
              <a:t>Writes no code</a:t>
            </a:r>
            <a:endParaRPr lang="en-US" sz="1100" dirty="0"/>
          </a:p>
        </p:txBody>
      </p:sp>
      <p:sp>
        <p:nvSpPr>
          <p:cNvPr id="11" name="Shape 9"/>
          <p:cNvSpPr/>
          <p:nvPr/>
        </p:nvSpPr>
        <p:spPr>
          <a:xfrm>
            <a:off x="2658161" y="3611880"/>
            <a:ext cx="118872" cy="155448"/>
          </a:xfrm>
          <a:prstGeom prst="rightArrow">
            <a:avLst/>
          </a:prstGeom>
          <a:solidFill>
            <a:srgbClr val="A5B0BE"/>
          </a:solidFill>
          <a:ln w="12700">
            <a:solidFill>
              <a:srgbClr val="A5B0BE"/>
            </a:solidFill>
            <a:prstDash val="solid"/>
          </a:ln>
        </p:spPr>
        <p:txBody>
          <a:bodyPr/>
          <a:lstStyle/>
          <a:p>
            <a:endParaRPr lang="en-IN"/>
          </a:p>
        </p:txBody>
      </p:sp>
      <p:sp>
        <p:nvSpPr>
          <p:cNvPr id="12" name="Shape 10"/>
          <p:cNvSpPr/>
          <p:nvPr/>
        </p:nvSpPr>
        <p:spPr>
          <a:xfrm>
            <a:off x="2809037" y="1609344"/>
            <a:ext cx="2059229" cy="4114800"/>
          </a:xfrm>
          <a:prstGeom prst="roundRect">
            <a:avLst>
              <a:gd name="adj" fmla="val 3996"/>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13" name="Shape 11"/>
          <p:cNvSpPr/>
          <p:nvPr/>
        </p:nvSpPr>
        <p:spPr>
          <a:xfrm>
            <a:off x="3028493" y="1828800"/>
            <a:ext cx="384048" cy="384048"/>
          </a:xfrm>
          <a:prstGeom prst="ellipse">
            <a:avLst/>
          </a:prstGeom>
          <a:solidFill>
            <a:srgbClr val="E8F5FF"/>
          </a:solidFill>
          <a:ln w="13970">
            <a:solidFill>
              <a:srgbClr val="0086E6"/>
            </a:solidFill>
            <a:prstDash val="solid"/>
          </a:ln>
        </p:spPr>
        <p:txBody>
          <a:bodyPr/>
          <a:lstStyle/>
          <a:p>
            <a:endParaRPr lang="en-IN"/>
          </a:p>
        </p:txBody>
      </p:sp>
      <p:sp>
        <p:nvSpPr>
          <p:cNvPr id="14" name="Text 12"/>
          <p:cNvSpPr txBox="1"/>
          <p:nvPr/>
        </p:nvSpPr>
        <p:spPr>
          <a:xfrm>
            <a:off x="3028493" y="1828800"/>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028493" y="2340864"/>
            <a:ext cx="1620317" cy="566928"/>
          </a:xfrm>
          <a:prstGeom prst="rect">
            <a:avLst/>
          </a:prstGeom>
          <a:noFill/>
          <a:ln/>
        </p:spPr>
        <p:txBody>
          <a:bodyPr wrap="square" lIns="0" tIns="0" rIns="0" bIns="0" rtlCol="0" anchor="t"/>
          <a:lstStyle/>
          <a:p>
            <a:pPr marL="0" indent="0">
              <a:lnSpc>
                <a:spcPct val="115000"/>
              </a:lnSpc>
              <a:buNone/>
            </a:pPr>
            <a:r>
              <a:rPr lang="en-US" sz="1550" b="1" dirty="0">
                <a:solidFill>
                  <a:srgbClr val="0086E6"/>
                </a:solidFill>
                <a:latin typeface="Calibri" pitchFamily="34" charset="0"/>
                <a:ea typeface="Calibri" pitchFamily="34" charset="-122"/>
                <a:cs typeface="Calibri" pitchFamily="34" charset="-120"/>
              </a:rPr>
              <a:t>Developer</a:t>
            </a:r>
            <a:endParaRPr lang="en-US" sz="1550" dirty="0"/>
          </a:p>
        </p:txBody>
      </p:sp>
      <p:sp>
        <p:nvSpPr>
          <p:cNvPr id="16" name="Text 14"/>
          <p:cNvSpPr txBox="1"/>
          <p:nvPr/>
        </p:nvSpPr>
        <p:spPr>
          <a:xfrm>
            <a:off x="3028493" y="2944368"/>
            <a:ext cx="1620317" cy="201168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Analyses the existing codebase, presents an implementation plan for approval, then builds across the stack — matching the patterns already there rather than inventing new ones.</a:t>
            </a:r>
            <a:endParaRPr lang="en-US" sz="1180" dirty="0"/>
          </a:p>
        </p:txBody>
      </p:sp>
      <p:sp>
        <p:nvSpPr>
          <p:cNvPr id="17" name="Shape 15"/>
          <p:cNvSpPr/>
          <p:nvPr/>
        </p:nvSpPr>
        <p:spPr>
          <a:xfrm>
            <a:off x="3028493" y="5138928"/>
            <a:ext cx="1620317" cy="365760"/>
          </a:xfrm>
          <a:prstGeom prst="roundRect">
            <a:avLst>
              <a:gd name="adj" fmla="val 20000"/>
            </a:avLst>
          </a:prstGeom>
          <a:solidFill>
            <a:srgbClr val="E8F5FF"/>
          </a:solidFill>
          <a:ln w="12700">
            <a:solidFill>
              <a:srgbClr val="E8F5FF"/>
            </a:solidFill>
            <a:prstDash val="solid"/>
          </a:ln>
        </p:spPr>
        <p:txBody>
          <a:bodyPr/>
          <a:lstStyle/>
          <a:p>
            <a:endParaRPr lang="en-IN"/>
          </a:p>
        </p:txBody>
      </p:sp>
      <p:sp>
        <p:nvSpPr>
          <p:cNvPr id="18" name="Text 16"/>
          <p:cNvSpPr txBox="1"/>
          <p:nvPr/>
        </p:nvSpPr>
        <p:spPr>
          <a:xfrm>
            <a:off x="3028493" y="5138928"/>
            <a:ext cx="1620317" cy="365760"/>
          </a:xfrm>
          <a:prstGeom prst="rect">
            <a:avLst/>
          </a:prstGeom>
          <a:noFill/>
          <a:ln/>
        </p:spPr>
        <p:txBody>
          <a:bodyPr wrap="square" lIns="0" tIns="0" rIns="0" bIns="0" rtlCol="0" anchor="ctr"/>
          <a:lstStyle/>
          <a:p>
            <a:pPr marL="0" indent="0" algn="ctr">
              <a:buNone/>
            </a:pPr>
            <a:r>
              <a:rPr lang="en-US" sz="1100" b="1" dirty="0">
                <a:solidFill>
                  <a:srgbClr val="01517F"/>
                </a:solidFill>
                <a:latin typeface="Calibri" pitchFamily="34" charset="0"/>
                <a:ea typeface="Calibri" pitchFamily="34" charset="-122"/>
                <a:cs typeface="Calibri" pitchFamily="34" charset="-120"/>
              </a:rPr>
              <a:t>Plan approved first</a:t>
            </a:r>
            <a:endParaRPr lang="en-US" sz="1100" dirty="0"/>
          </a:p>
        </p:txBody>
      </p:sp>
      <p:sp>
        <p:nvSpPr>
          <p:cNvPr id="19" name="Shape 17"/>
          <p:cNvSpPr/>
          <p:nvPr/>
        </p:nvSpPr>
        <p:spPr>
          <a:xfrm>
            <a:off x="4900270" y="3611880"/>
            <a:ext cx="118872" cy="155448"/>
          </a:xfrm>
          <a:prstGeom prst="rightArrow">
            <a:avLst/>
          </a:prstGeom>
          <a:solidFill>
            <a:srgbClr val="A5B0BE"/>
          </a:solidFill>
          <a:ln w="12700">
            <a:solidFill>
              <a:srgbClr val="A5B0BE"/>
            </a:solidFill>
            <a:prstDash val="solid"/>
          </a:ln>
        </p:spPr>
        <p:txBody>
          <a:bodyPr/>
          <a:lstStyle/>
          <a:p>
            <a:endParaRPr lang="en-IN"/>
          </a:p>
        </p:txBody>
      </p:sp>
      <p:sp>
        <p:nvSpPr>
          <p:cNvPr id="20" name="Shape 18"/>
          <p:cNvSpPr/>
          <p:nvPr/>
        </p:nvSpPr>
        <p:spPr>
          <a:xfrm>
            <a:off x="5051146" y="1609344"/>
            <a:ext cx="2059229" cy="4114800"/>
          </a:xfrm>
          <a:prstGeom prst="roundRect">
            <a:avLst>
              <a:gd name="adj" fmla="val 3996"/>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21" name="Shape 19"/>
          <p:cNvSpPr/>
          <p:nvPr/>
        </p:nvSpPr>
        <p:spPr>
          <a:xfrm>
            <a:off x="5270602" y="1828800"/>
            <a:ext cx="384048" cy="384048"/>
          </a:xfrm>
          <a:prstGeom prst="ellipse">
            <a:avLst/>
          </a:prstGeom>
          <a:solidFill>
            <a:srgbClr val="E8F5FF"/>
          </a:solidFill>
          <a:ln w="13970">
            <a:solidFill>
              <a:srgbClr val="0086E6"/>
            </a:solidFill>
            <a:prstDash val="solid"/>
          </a:ln>
        </p:spPr>
        <p:txBody>
          <a:bodyPr/>
          <a:lstStyle/>
          <a:p>
            <a:endParaRPr lang="en-IN"/>
          </a:p>
        </p:txBody>
      </p:sp>
      <p:sp>
        <p:nvSpPr>
          <p:cNvPr id="22" name="Text 20"/>
          <p:cNvSpPr txBox="1"/>
          <p:nvPr/>
        </p:nvSpPr>
        <p:spPr>
          <a:xfrm>
            <a:off x="5270602" y="1828800"/>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5270602" y="2340864"/>
            <a:ext cx="1620317" cy="566928"/>
          </a:xfrm>
          <a:prstGeom prst="rect">
            <a:avLst/>
          </a:prstGeom>
          <a:noFill/>
          <a:ln/>
        </p:spPr>
        <p:txBody>
          <a:bodyPr wrap="square" lIns="0" tIns="0" rIns="0" bIns="0" rtlCol="0" anchor="t"/>
          <a:lstStyle/>
          <a:p>
            <a:pPr marL="0" indent="0">
              <a:lnSpc>
                <a:spcPct val="115000"/>
              </a:lnSpc>
              <a:buNone/>
            </a:pPr>
            <a:r>
              <a:rPr lang="en-US" sz="1550" b="1" dirty="0">
                <a:solidFill>
                  <a:srgbClr val="0086E6"/>
                </a:solidFill>
                <a:latin typeface="Calibri" pitchFamily="34" charset="0"/>
                <a:ea typeface="Calibri" pitchFamily="34" charset="-122"/>
                <a:cs typeface="Calibri" pitchFamily="34" charset="-120"/>
              </a:rPr>
              <a:t>Test Engineer</a:t>
            </a:r>
            <a:endParaRPr lang="en-US" sz="1550" dirty="0"/>
          </a:p>
        </p:txBody>
      </p:sp>
      <p:sp>
        <p:nvSpPr>
          <p:cNvPr id="24" name="Text 22"/>
          <p:cNvSpPr txBox="1"/>
          <p:nvPr/>
        </p:nvSpPr>
        <p:spPr>
          <a:xfrm>
            <a:off x="5270602" y="2944368"/>
            <a:ext cx="1620317" cy="201168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Owns test strategy and generation across unit, component, integration and interface layers. Detects coverage gaps and maintains tests as the implementation changes.</a:t>
            </a:r>
            <a:endParaRPr lang="en-US" sz="1180" dirty="0"/>
          </a:p>
        </p:txBody>
      </p:sp>
      <p:sp>
        <p:nvSpPr>
          <p:cNvPr id="25" name="Shape 23"/>
          <p:cNvSpPr/>
          <p:nvPr/>
        </p:nvSpPr>
        <p:spPr>
          <a:xfrm>
            <a:off x="5270602" y="5138928"/>
            <a:ext cx="1620317" cy="365760"/>
          </a:xfrm>
          <a:prstGeom prst="roundRect">
            <a:avLst>
              <a:gd name="adj" fmla="val 20000"/>
            </a:avLst>
          </a:prstGeom>
          <a:solidFill>
            <a:srgbClr val="E8F5FF"/>
          </a:solidFill>
          <a:ln w="12700">
            <a:solidFill>
              <a:srgbClr val="E8F5FF"/>
            </a:solidFill>
            <a:prstDash val="solid"/>
          </a:ln>
        </p:spPr>
        <p:txBody>
          <a:bodyPr/>
          <a:lstStyle/>
          <a:p>
            <a:endParaRPr lang="en-IN"/>
          </a:p>
        </p:txBody>
      </p:sp>
      <p:sp>
        <p:nvSpPr>
          <p:cNvPr id="26" name="Text 24"/>
          <p:cNvSpPr txBox="1"/>
          <p:nvPr/>
        </p:nvSpPr>
        <p:spPr>
          <a:xfrm>
            <a:off x="5270602" y="5138928"/>
            <a:ext cx="1620317" cy="365760"/>
          </a:xfrm>
          <a:prstGeom prst="rect">
            <a:avLst/>
          </a:prstGeom>
          <a:noFill/>
          <a:ln/>
        </p:spPr>
        <p:txBody>
          <a:bodyPr wrap="square" lIns="0" tIns="0" rIns="0" bIns="0" rtlCol="0" anchor="ctr"/>
          <a:lstStyle/>
          <a:p>
            <a:pPr marL="0" indent="0" algn="ctr">
              <a:buNone/>
            </a:pPr>
            <a:r>
              <a:rPr lang="en-US" sz="1100" b="1" dirty="0">
                <a:solidFill>
                  <a:srgbClr val="01517F"/>
                </a:solidFill>
                <a:latin typeface="Calibri" pitchFamily="34" charset="0"/>
                <a:ea typeface="Calibri" pitchFamily="34" charset="-122"/>
                <a:cs typeface="Calibri" pitchFamily="34" charset="-120"/>
              </a:rPr>
              <a:t>Strategy is gated</a:t>
            </a:r>
            <a:endParaRPr lang="en-US" sz="1100" dirty="0"/>
          </a:p>
        </p:txBody>
      </p:sp>
      <p:sp>
        <p:nvSpPr>
          <p:cNvPr id="27" name="Shape 25"/>
          <p:cNvSpPr/>
          <p:nvPr/>
        </p:nvSpPr>
        <p:spPr>
          <a:xfrm>
            <a:off x="7142378" y="3611880"/>
            <a:ext cx="118872" cy="155448"/>
          </a:xfrm>
          <a:prstGeom prst="rightArrow">
            <a:avLst/>
          </a:prstGeom>
          <a:solidFill>
            <a:srgbClr val="A5B0BE"/>
          </a:solidFill>
          <a:ln w="12700">
            <a:solidFill>
              <a:srgbClr val="A5B0BE"/>
            </a:solidFill>
            <a:prstDash val="solid"/>
          </a:ln>
        </p:spPr>
        <p:txBody>
          <a:bodyPr/>
          <a:lstStyle/>
          <a:p>
            <a:endParaRPr lang="en-IN"/>
          </a:p>
        </p:txBody>
      </p:sp>
      <p:sp>
        <p:nvSpPr>
          <p:cNvPr id="28" name="Shape 26"/>
          <p:cNvSpPr/>
          <p:nvPr/>
        </p:nvSpPr>
        <p:spPr>
          <a:xfrm>
            <a:off x="7293254" y="1609344"/>
            <a:ext cx="2059229" cy="4114800"/>
          </a:xfrm>
          <a:prstGeom prst="roundRect">
            <a:avLst>
              <a:gd name="adj" fmla="val 3996"/>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29" name="Shape 27"/>
          <p:cNvSpPr/>
          <p:nvPr/>
        </p:nvSpPr>
        <p:spPr>
          <a:xfrm>
            <a:off x="7512710" y="1828800"/>
            <a:ext cx="384048" cy="384048"/>
          </a:xfrm>
          <a:prstGeom prst="ellipse">
            <a:avLst/>
          </a:prstGeom>
          <a:solidFill>
            <a:srgbClr val="E8F5FF"/>
          </a:solidFill>
          <a:ln w="13970">
            <a:solidFill>
              <a:srgbClr val="0086E6"/>
            </a:solidFill>
            <a:prstDash val="solid"/>
          </a:ln>
        </p:spPr>
        <p:txBody>
          <a:bodyPr/>
          <a:lstStyle/>
          <a:p>
            <a:endParaRPr lang="en-IN"/>
          </a:p>
        </p:txBody>
      </p:sp>
      <p:sp>
        <p:nvSpPr>
          <p:cNvPr id="30" name="Text 28"/>
          <p:cNvSpPr txBox="1"/>
          <p:nvPr/>
        </p:nvSpPr>
        <p:spPr>
          <a:xfrm>
            <a:off x="7512710" y="1828800"/>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4</a:t>
            </a:r>
            <a:endParaRPr lang="en-US" sz="1300" dirty="0"/>
          </a:p>
        </p:txBody>
      </p:sp>
      <p:sp>
        <p:nvSpPr>
          <p:cNvPr id="31" name="Text 29"/>
          <p:cNvSpPr txBox="1"/>
          <p:nvPr/>
        </p:nvSpPr>
        <p:spPr>
          <a:xfrm>
            <a:off x="7512710" y="2340864"/>
            <a:ext cx="1620317" cy="566928"/>
          </a:xfrm>
          <a:prstGeom prst="rect">
            <a:avLst/>
          </a:prstGeom>
          <a:noFill/>
          <a:ln/>
        </p:spPr>
        <p:txBody>
          <a:bodyPr wrap="square" lIns="0" tIns="0" rIns="0" bIns="0" rtlCol="0" anchor="t"/>
          <a:lstStyle/>
          <a:p>
            <a:pPr marL="0" indent="0">
              <a:lnSpc>
                <a:spcPct val="115000"/>
              </a:lnSpc>
              <a:buNone/>
            </a:pPr>
            <a:r>
              <a:rPr lang="en-US" sz="1550" b="1" dirty="0">
                <a:solidFill>
                  <a:srgbClr val="0086E6"/>
                </a:solidFill>
                <a:latin typeface="Calibri" pitchFamily="34" charset="0"/>
                <a:ea typeface="Calibri" pitchFamily="34" charset="-122"/>
                <a:cs typeface="Calibri" pitchFamily="34" charset="-120"/>
              </a:rPr>
              <a:t>Code Reviewer</a:t>
            </a:r>
            <a:endParaRPr lang="en-US" sz="1550" dirty="0"/>
          </a:p>
        </p:txBody>
      </p:sp>
      <p:sp>
        <p:nvSpPr>
          <p:cNvPr id="32" name="Text 30"/>
          <p:cNvSpPr txBox="1"/>
          <p:nvPr/>
        </p:nvSpPr>
        <p:spPr>
          <a:xfrm>
            <a:off x="7512710" y="2944368"/>
            <a:ext cx="1620317" cy="201168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Cross-stack automated review before a human opens the change: standards, architectural boundaries, schema breaking changes, infrastructure security. Findings are severity-classified.</a:t>
            </a:r>
            <a:endParaRPr lang="en-US" sz="1180" dirty="0"/>
          </a:p>
        </p:txBody>
      </p:sp>
      <p:sp>
        <p:nvSpPr>
          <p:cNvPr id="33" name="Shape 31"/>
          <p:cNvSpPr/>
          <p:nvPr/>
        </p:nvSpPr>
        <p:spPr>
          <a:xfrm>
            <a:off x="7512710" y="5138928"/>
            <a:ext cx="1620317" cy="365760"/>
          </a:xfrm>
          <a:prstGeom prst="roundRect">
            <a:avLst>
              <a:gd name="adj" fmla="val 20000"/>
            </a:avLst>
          </a:prstGeom>
          <a:solidFill>
            <a:srgbClr val="E8F5FF"/>
          </a:solidFill>
          <a:ln w="12700">
            <a:solidFill>
              <a:srgbClr val="E8F5FF"/>
            </a:solidFill>
            <a:prstDash val="solid"/>
          </a:ln>
        </p:spPr>
        <p:txBody>
          <a:bodyPr/>
          <a:lstStyle/>
          <a:p>
            <a:endParaRPr lang="en-IN"/>
          </a:p>
        </p:txBody>
      </p:sp>
      <p:sp>
        <p:nvSpPr>
          <p:cNvPr id="34" name="Text 32"/>
          <p:cNvSpPr txBox="1"/>
          <p:nvPr/>
        </p:nvSpPr>
        <p:spPr>
          <a:xfrm>
            <a:off x="7512710" y="5138928"/>
            <a:ext cx="1620317" cy="365760"/>
          </a:xfrm>
          <a:prstGeom prst="rect">
            <a:avLst/>
          </a:prstGeom>
          <a:noFill/>
          <a:ln/>
        </p:spPr>
        <p:txBody>
          <a:bodyPr wrap="square" lIns="0" tIns="0" rIns="0" bIns="0" rtlCol="0" anchor="ctr"/>
          <a:lstStyle/>
          <a:p>
            <a:pPr marL="0" indent="0" algn="ctr">
              <a:buNone/>
            </a:pPr>
            <a:r>
              <a:rPr lang="en-US" sz="1100" b="1" dirty="0">
                <a:solidFill>
                  <a:srgbClr val="01517F"/>
                </a:solidFill>
                <a:latin typeface="Calibri" pitchFamily="34" charset="0"/>
                <a:ea typeface="Calibri" pitchFamily="34" charset="-122"/>
                <a:cs typeface="Calibri" pitchFamily="34" charset="-120"/>
              </a:rPr>
              <a:t>Never auto-merges</a:t>
            </a:r>
            <a:endParaRPr lang="en-US" sz="1100" dirty="0"/>
          </a:p>
        </p:txBody>
      </p:sp>
      <p:sp>
        <p:nvSpPr>
          <p:cNvPr id="35" name="Shape 33"/>
          <p:cNvSpPr/>
          <p:nvPr/>
        </p:nvSpPr>
        <p:spPr>
          <a:xfrm>
            <a:off x="9384487" y="3611880"/>
            <a:ext cx="118872" cy="155448"/>
          </a:xfrm>
          <a:prstGeom prst="rightArrow">
            <a:avLst/>
          </a:prstGeom>
          <a:solidFill>
            <a:srgbClr val="A5B0BE"/>
          </a:solidFill>
          <a:ln w="12700">
            <a:solidFill>
              <a:srgbClr val="A5B0BE"/>
            </a:solidFill>
            <a:prstDash val="solid"/>
          </a:ln>
        </p:spPr>
        <p:txBody>
          <a:bodyPr/>
          <a:lstStyle/>
          <a:p>
            <a:endParaRPr lang="en-IN"/>
          </a:p>
        </p:txBody>
      </p:sp>
      <p:sp>
        <p:nvSpPr>
          <p:cNvPr id="36" name="Shape 34"/>
          <p:cNvSpPr/>
          <p:nvPr/>
        </p:nvSpPr>
        <p:spPr>
          <a:xfrm>
            <a:off x="9535363" y="1609344"/>
            <a:ext cx="2059229" cy="4114800"/>
          </a:xfrm>
          <a:prstGeom prst="roundRect">
            <a:avLst>
              <a:gd name="adj" fmla="val 3996"/>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37" name="Shape 35"/>
          <p:cNvSpPr/>
          <p:nvPr/>
        </p:nvSpPr>
        <p:spPr>
          <a:xfrm>
            <a:off x="9754819" y="1828800"/>
            <a:ext cx="384048" cy="384048"/>
          </a:xfrm>
          <a:prstGeom prst="ellipse">
            <a:avLst/>
          </a:prstGeom>
          <a:solidFill>
            <a:srgbClr val="E8F5FF"/>
          </a:solidFill>
          <a:ln w="13970">
            <a:solidFill>
              <a:srgbClr val="0086E6"/>
            </a:solidFill>
            <a:prstDash val="solid"/>
          </a:ln>
        </p:spPr>
        <p:txBody>
          <a:bodyPr/>
          <a:lstStyle/>
          <a:p>
            <a:endParaRPr lang="en-IN"/>
          </a:p>
        </p:txBody>
      </p:sp>
      <p:sp>
        <p:nvSpPr>
          <p:cNvPr id="38" name="Text 36"/>
          <p:cNvSpPr txBox="1"/>
          <p:nvPr/>
        </p:nvSpPr>
        <p:spPr>
          <a:xfrm>
            <a:off x="9754819" y="1828800"/>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5</a:t>
            </a:r>
            <a:endParaRPr lang="en-US" sz="1300" dirty="0"/>
          </a:p>
        </p:txBody>
      </p:sp>
      <p:sp>
        <p:nvSpPr>
          <p:cNvPr id="39" name="Text 37"/>
          <p:cNvSpPr txBox="1"/>
          <p:nvPr/>
        </p:nvSpPr>
        <p:spPr>
          <a:xfrm>
            <a:off x="9754819" y="2340864"/>
            <a:ext cx="1620317" cy="566928"/>
          </a:xfrm>
          <a:prstGeom prst="rect">
            <a:avLst/>
          </a:prstGeom>
          <a:noFill/>
          <a:ln/>
        </p:spPr>
        <p:txBody>
          <a:bodyPr wrap="square" lIns="0" tIns="0" rIns="0" bIns="0" rtlCol="0" anchor="t"/>
          <a:lstStyle/>
          <a:p>
            <a:pPr marL="0" indent="0">
              <a:lnSpc>
                <a:spcPct val="115000"/>
              </a:lnSpc>
              <a:buNone/>
            </a:pPr>
            <a:r>
              <a:rPr lang="en-US" sz="1550" b="1" dirty="0">
                <a:solidFill>
                  <a:srgbClr val="0086E6"/>
                </a:solidFill>
                <a:latin typeface="Calibri" pitchFamily="34" charset="0"/>
                <a:ea typeface="Calibri" pitchFamily="34" charset="-122"/>
                <a:cs typeface="Calibri" pitchFamily="34" charset="-120"/>
              </a:rPr>
              <a:t>Documentation</a:t>
            </a:r>
            <a:endParaRPr lang="en-US" sz="1550" dirty="0"/>
          </a:p>
        </p:txBody>
      </p:sp>
      <p:sp>
        <p:nvSpPr>
          <p:cNvPr id="40" name="Text 38"/>
          <p:cNvSpPr txBox="1"/>
          <p:nvPr/>
        </p:nvSpPr>
        <p:spPr>
          <a:xfrm>
            <a:off x="9754819" y="2944368"/>
            <a:ext cx="1620317" cy="201168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Regenerates API, component, interface and infrastructure documentation plus changelogs from the code itself, and flags documentation that no longer matches it.</a:t>
            </a:r>
            <a:endParaRPr lang="en-US" sz="1180" dirty="0"/>
          </a:p>
        </p:txBody>
      </p:sp>
      <p:sp>
        <p:nvSpPr>
          <p:cNvPr id="41" name="Shape 39"/>
          <p:cNvSpPr/>
          <p:nvPr/>
        </p:nvSpPr>
        <p:spPr>
          <a:xfrm>
            <a:off x="9754819" y="5138928"/>
            <a:ext cx="1620317" cy="365760"/>
          </a:xfrm>
          <a:prstGeom prst="roundRect">
            <a:avLst>
              <a:gd name="adj" fmla="val 20000"/>
            </a:avLst>
          </a:prstGeom>
          <a:solidFill>
            <a:srgbClr val="E8F5FF"/>
          </a:solidFill>
          <a:ln w="12700">
            <a:solidFill>
              <a:srgbClr val="E8F5FF"/>
            </a:solidFill>
            <a:prstDash val="solid"/>
          </a:ln>
        </p:spPr>
        <p:txBody>
          <a:bodyPr/>
          <a:lstStyle/>
          <a:p>
            <a:endParaRPr lang="en-IN"/>
          </a:p>
        </p:txBody>
      </p:sp>
      <p:sp>
        <p:nvSpPr>
          <p:cNvPr id="42" name="Text 40"/>
          <p:cNvSpPr txBox="1"/>
          <p:nvPr/>
        </p:nvSpPr>
        <p:spPr>
          <a:xfrm>
            <a:off x="9754819" y="5138928"/>
            <a:ext cx="1620317" cy="365760"/>
          </a:xfrm>
          <a:prstGeom prst="rect">
            <a:avLst/>
          </a:prstGeom>
          <a:noFill/>
          <a:ln/>
        </p:spPr>
        <p:txBody>
          <a:bodyPr wrap="square" lIns="0" tIns="0" rIns="0" bIns="0" rtlCol="0" anchor="ctr"/>
          <a:lstStyle/>
          <a:p>
            <a:pPr marL="0" indent="0" algn="ctr">
              <a:buNone/>
            </a:pPr>
            <a:r>
              <a:rPr lang="en-US" sz="1100" b="1" dirty="0">
                <a:solidFill>
                  <a:srgbClr val="01517F"/>
                </a:solidFill>
                <a:latin typeface="Calibri" pitchFamily="34" charset="0"/>
                <a:ea typeface="Calibri" pitchFamily="34" charset="-122"/>
                <a:cs typeface="Calibri" pitchFamily="34" charset="-120"/>
              </a:rPr>
              <a:t>Drift is a gate</a:t>
            </a:r>
            <a:endParaRPr lang="en-US" sz="1100" dirty="0"/>
          </a:p>
        </p:txBody>
      </p:sp>
      <p:pic>
        <p:nvPicPr>
          <p:cNvPr id="43"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44" name="Text 41"/>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45" name="Text 42"/>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How work moves between them</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The agents do not call each other — every handoff is a contract that can be refused</a:t>
            </a:r>
            <a:endParaRPr lang="en-US" sz="1450" dirty="0"/>
          </a:p>
        </p:txBody>
      </p:sp>
      <p:sp>
        <p:nvSpPr>
          <p:cNvPr id="4" name="Shape 2"/>
          <p:cNvSpPr/>
          <p:nvPr/>
        </p:nvSpPr>
        <p:spPr>
          <a:xfrm>
            <a:off x="566928" y="1645920"/>
            <a:ext cx="1465653" cy="969264"/>
          </a:xfrm>
          <a:prstGeom prst="roundRect">
            <a:avLst>
              <a:gd name="adj" fmla="val 8491"/>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5" name="Text 3"/>
          <p:cNvSpPr txBox="1"/>
          <p:nvPr/>
        </p:nvSpPr>
        <p:spPr>
          <a:xfrm>
            <a:off x="676656" y="1792224"/>
            <a:ext cx="1246197" cy="274320"/>
          </a:xfrm>
          <a:prstGeom prst="rect">
            <a:avLst/>
          </a:prstGeom>
          <a:noFill/>
          <a:ln/>
        </p:spPr>
        <p:txBody>
          <a:bodyPr wrap="square" lIns="0" tIns="0" rIns="0" bIns="0" rtlCol="0" anchor="ctr"/>
          <a:lstStyle/>
          <a:p>
            <a:pPr marL="0" indent="0" algn="ctr">
              <a:buNone/>
            </a:pPr>
            <a:r>
              <a:rPr lang="en-US" sz="1350" b="1" dirty="0">
                <a:solidFill>
                  <a:srgbClr val="0D1523"/>
                </a:solidFill>
                <a:latin typeface="Calibri" pitchFamily="34" charset="0"/>
                <a:ea typeface="Calibri" pitchFamily="34" charset="-122"/>
                <a:cs typeface="Calibri" pitchFamily="34" charset="-120"/>
              </a:rPr>
              <a:t>Requirement</a:t>
            </a:r>
            <a:endParaRPr lang="en-US" sz="1350" dirty="0"/>
          </a:p>
        </p:txBody>
      </p:sp>
      <p:sp>
        <p:nvSpPr>
          <p:cNvPr id="6" name="Text 4"/>
          <p:cNvSpPr txBox="1"/>
          <p:nvPr/>
        </p:nvSpPr>
        <p:spPr>
          <a:xfrm>
            <a:off x="676656"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intake</a:t>
            </a:r>
            <a:endParaRPr lang="en-US" sz="1050" dirty="0"/>
          </a:p>
        </p:txBody>
      </p:sp>
      <p:sp>
        <p:nvSpPr>
          <p:cNvPr id="7" name="Shape 5"/>
          <p:cNvSpPr/>
          <p:nvPr/>
        </p:nvSpPr>
        <p:spPr>
          <a:xfrm>
            <a:off x="2037153" y="2066544"/>
            <a:ext cx="109728" cy="137160"/>
          </a:xfrm>
          <a:prstGeom prst="rightArrow">
            <a:avLst/>
          </a:prstGeom>
          <a:solidFill>
            <a:srgbClr val="A5B0BE"/>
          </a:solidFill>
          <a:ln w="12700">
            <a:solidFill>
              <a:srgbClr val="A5B0BE"/>
            </a:solidFill>
            <a:prstDash val="solid"/>
          </a:ln>
        </p:spPr>
        <p:txBody>
          <a:bodyPr/>
          <a:lstStyle/>
          <a:p>
            <a:endParaRPr lang="en-IN"/>
          </a:p>
        </p:txBody>
      </p:sp>
      <p:sp>
        <p:nvSpPr>
          <p:cNvPr id="8" name="Shape 6"/>
          <p:cNvSpPr/>
          <p:nvPr/>
        </p:nvSpPr>
        <p:spPr>
          <a:xfrm>
            <a:off x="2160597" y="1645920"/>
            <a:ext cx="1465653" cy="969264"/>
          </a:xfrm>
          <a:prstGeom prst="roundRect">
            <a:avLst>
              <a:gd name="adj" fmla="val 8491"/>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9" name="Text 7"/>
          <p:cNvSpPr txBox="1"/>
          <p:nvPr/>
        </p:nvSpPr>
        <p:spPr>
          <a:xfrm>
            <a:off x="2270325" y="1792224"/>
            <a:ext cx="1246197" cy="274320"/>
          </a:xfrm>
          <a:prstGeom prst="rect">
            <a:avLst/>
          </a:prstGeom>
          <a:noFill/>
          <a:ln/>
        </p:spPr>
        <p:txBody>
          <a:bodyPr wrap="square" lIns="0" tIns="0" rIns="0" bIns="0" rtlCol="0" anchor="ctr"/>
          <a:lstStyle/>
          <a:p>
            <a:pPr marL="0" indent="0" algn="ctr">
              <a:buNone/>
            </a:pPr>
            <a:r>
              <a:rPr lang="en-US" sz="1350" b="1" dirty="0">
                <a:solidFill>
                  <a:srgbClr val="0D1523"/>
                </a:solidFill>
                <a:latin typeface="Calibri" pitchFamily="34" charset="0"/>
                <a:ea typeface="Calibri" pitchFamily="34" charset="-122"/>
                <a:cs typeface="Calibri" pitchFamily="34" charset="-120"/>
              </a:rPr>
              <a:t>Stories</a:t>
            </a:r>
            <a:endParaRPr lang="en-US" sz="1350" dirty="0"/>
          </a:p>
        </p:txBody>
      </p:sp>
      <p:sp>
        <p:nvSpPr>
          <p:cNvPr id="10" name="Text 8"/>
          <p:cNvSpPr txBox="1"/>
          <p:nvPr/>
        </p:nvSpPr>
        <p:spPr>
          <a:xfrm>
            <a:off x="2270325"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scope agreed</a:t>
            </a:r>
            <a:endParaRPr lang="en-US" sz="1050" dirty="0"/>
          </a:p>
        </p:txBody>
      </p:sp>
      <p:sp>
        <p:nvSpPr>
          <p:cNvPr id="11" name="Shape 9"/>
          <p:cNvSpPr/>
          <p:nvPr/>
        </p:nvSpPr>
        <p:spPr>
          <a:xfrm>
            <a:off x="3630821" y="2066544"/>
            <a:ext cx="109728" cy="137160"/>
          </a:xfrm>
          <a:prstGeom prst="rightArrow">
            <a:avLst/>
          </a:prstGeom>
          <a:solidFill>
            <a:srgbClr val="A5B0BE"/>
          </a:solidFill>
          <a:ln w="12700">
            <a:solidFill>
              <a:srgbClr val="A5B0BE"/>
            </a:solidFill>
            <a:prstDash val="solid"/>
          </a:ln>
        </p:spPr>
        <p:txBody>
          <a:bodyPr/>
          <a:lstStyle/>
          <a:p>
            <a:endParaRPr lang="en-IN"/>
          </a:p>
        </p:txBody>
      </p:sp>
      <p:sp>
        <p:nvSpPr>
          <p:cNvPr id="12" name="Shape 10"/>
          <p:cNvSpPr/>
          <p:nvPr/>
        </p:nvSpPr>
        <p:spPr>
          <a:xfrm>
            <a:off x="3754265" y="1645920"/>
            <a:ext cx="1465653" cy="969264"/>
          </a:xfrm>
          <a:prstGeom prst="roundRect">
            <a:avLst>
              <a:gd name="adj" fmla="val 8491"/>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13" name="Text 11"/>
          <p:cNvSpPr txBox="1"/>
          <p:nvPr/>
        </p:nvSpPr>
        <p:spPr>
          <a:xfrm>
            <a:off x="3863993" y="1792224"/>
            <a:ext cx="1246197" cy="274320"/>
          </a:xfrm>
          <a:prstGeom prst="rect">
            <a:avLst/>
          </a:prstGeom>
          <a:noFill/>
          <a:ln/>
        </p:spPr>
        <p:txBody>
          <a:bodyPr wrap="square" lIns="0" tIns="0" rIns="0" bIns="0" rtlCol="0" anchor="ctr"/>
          <a:lstStyle/>
          <a:p>
            <a:pPr marL="0" indent="0" algn="ctr">
              <a:buNone/>
            </a:pPr>
            <a:r>
              <a:rPr lang="en-US" sz="1350" b="1" dirty="0">
                <a:solidFill>
                  <a:srgbClr val="0D1523"/>
                </a:solidFill>
                <a:latin typeface="Calibri" pitchFamily="34" charset="0"/>
                <a:ea typeface="Calibri" pitchFamily="34" charset="-122"/>
                <a:cs typeface="Calibri" pitchFamily="34" charset="-120"/>
              </a:rPr>
              <a:t>Implementation</a:t>
            </a:r>
            <a:endParaRPr lang="en-US" sz="1350" dirty="0"/>
          </a:p>
        </p:txBody>
      </p:sp>
      <p:sp>
        <p:nvSpPr>
          <p:cNvPr id="14" name="Text 12"/>
          <p:cNvSpPr txBox="1"/>
          <p:nvPr/>
        </p:nvSpPr>
        <p:spPr>
          <a:xfrm>
            <a:off x="3863993"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plan approved</a:t>
            </a:r>
            <a:endParaRPr lang="en-US" sz="1050" dirty="0"/>
          </a:p>
        </p:txBody>
      </p:sp>
      <p:sp>
        <p:nvSpPr>
          <p:cNvPr id="15" name="Shape 13"/>
          <p:cNvSpPr/>
          <p:nvPr/>
        </p:nvSpPr>
        <p:spPr>
          <a:xfrm>
            <a:off x="5224490" y="2066544"/>
            <a:ext cx="109728" cy="137160"/>
          </a:xfrm>
          <a:prstGeom prst="rightArrow">
            <a:avLst/>
          </a:prstGeom>
          <a:solidFill>
            <a:srgbClr val="A5B0BE"/>
          </a:solidFill>
          <a:ln w="12700">
            <a:solidFill>
              <a:srgbClr val="A5B0BE"/>
            </a:solidFill>
            <a:prstDash val="solid"/>
          </a:ln>
        </p:spPr>
        <p:txBody>
          <a:bodyPr/>
          <a:lstStyle/>
          <a:p>
            <a:endParaRPr lang="en-IN"/>
          </a:p>
        </p:txBody>
      </p:sp>
      <p:sp>
        <p:nvSpPr>
          <p:cNvPr id="16" name="Shape 14"/>
          <p:cNvSpPr/>
          <p:nvPr/>
        </p:nvSpPr>
        <p:spPr>
          <a:xfrm>
            <a:off x="5347934" y="1645920"/>
            <a:ext cx="1465653" cy="969264"/>
          </a:xfrm>
          <a:prstGeom prst="roundRect">
            <a:avLst>
              <a:gd name="adj" fmla="val 8491"/>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17" name="Text 15"/>
          <p:cNvSpPr txBox="1"/>
          <p:nvPr/>
        </p:nvSpPr>
        <p:spPr>
          <a:xfrm>
            <a:off x="5457662" y="1792224"/>
            <a:ext cx="1246197" cy="274320"/>
          </a:xfrm>
          <a:prstGeom prst="rect">
            <a:avLst/>
          </a:prstGeom>
          <a:noFill/>
          <a:ln/>
        </p:spPr>
        <p:txBody>
          <a:bodyPr wrap="square" lIns="0" tIns="0" rIns="0" bIns="0" rtlCol="0" anchor="ctr"/>
          <a:lstStyle/>
          <a:p>
            <a:pPr marL="0" indent="0" algn="ctr">
              <a:buNone/>
            </a:pPr>
            <a:r>
              <a:rPr lang="en-US" sz="1350" b="1" dirty="0">
                <a:solidFill>
                  <a:srgbClr val="0D1523"/>
                </a:solidFill>
                <a:latin typeface="Calibri" pitchFamily="34" charset="0"/>
                <a:ea typeface="Calibri" pitchFamily="34" charset="-122"/>
                <a:cs typeface="Calibri" pitchFamily="34" charset="-120"/>
              </a:rPr>
              <a:t>Tests</a:t>
            </a:r>
            <a:endParaRPr lang="en-US" sz="1350" dirty="0"/>
          </a:p>
        </p:txBody>
      </p:sp>
      <p:sp>
        <p:nvSpPr>
          <p:cNvPr id="18" name="Text 16"/>
          <p:cNvSpPr txBox="1"/>
          <p:nvPr/>
        </p:nvSpPr>
        <p:spPr>
          <a:xfrm>
            <a:off x="5457662"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strategy agreed</a:t>
            </a:r>
            <a:endParaRPr lang="en-US" sz="1050" dirty="0"/>
          </a:p>
        </p:txBody>
      </p:sp>
      <p:sp>
        <p:nvSpPr>
          <p:cNvPr id="19" name="Shape 17"/>
          <p:cNvSpPr/>
          <p:nvPr/>
        </p:nvSpPr>
        <p:spPr>
          <a:xfrm>
            <a:off x="6818158" y="2066544"/>
            <a:ext cx="109728" cy="137160"/>
          </a:xfrm>
          <a:prstGeom prst="rightArrow">
            <a:avLst/>
          </a:prstGeom>
          <a:solidFill>
            <a:srgbClr val="A5B0BE"/>
          </a:solidFill>
          <a:ln w="12700">
            <a:solidFill>
              <a:srgbClr val="A5B0BE"/>
            </a:solidFill>
            <a:prstDash val="solid"/>
          </a:ln>
        </p:spPr>
        <p:txBody>
          <a:bodyPr/>
          <a:lstStyle/>
          <a:p>
            <a:endParaRPr lang="en-IN"/>
          </a:p>
        </p:txBody>
      </p:sp>
      <p:sp>
        <p:nvSpPr>
          <p:cNvPr id="20" name="Shape 18"/>
          <p:cNvSpPr/>
          <p:nvPr/>
        </p:nvSpPr>
        <p:spPr>
          <a:xfrm>
            <a:off x="6941602" y="1645920"/>
            <a:ext cx="1465653" cy="969264"/>
          </a:xfrm>
          <a:prstGeom prst="roundRect">
            <a:avLst>
              <a:gd name="adj" fmla="val 8491"/>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21" name="Text 19"/>
          <p:cNvSpPr txBox="1"/>
          <p:nvPr/>
        </p:nvSpPr>
        <p:spPr>
          <a:xfrm>
            <a:off x="7051330" y="1792224"/>
            <a:ext cx="1246197" cy="274320"/>
          </a:xfrm>
          <a:prstGeom prst="rect">
            <a:avLst/>
          </a:prstGeom>
          <a:noFill/>
          <a:ln/>
        </p:spPr>
        <p:txBody>
          <a:bodyPr wrap="square" lIns="0" tIns="0" rIns="0" bIns="0" rtlCol="0" anchor="ctr"/>
          <a:lstStyle/>
          <a:p>
            <a:pPr marL="0" indent="0" algn="ctr">
              <a:buNone/>
            </a:pPr>
            <a:r>
              <a:rPr lang="en-US" sz="1350" b="1" dirty="0">
                <a:solidFill>
                  <a:srgbClr val="0D1523"/>
                </a:solidFill>
                <a:latin typeface="Calibri" pitchFamily="34" charset="0"/>
                <a:ea typeface="Calibri" pitchFamily="34" charset="-122"/>
                <a:cs typeface="Calibri" pitchFamily="34" charset="-120"/>
              </a:rPr>
              <a:t>Review</a:t>
            </a:r>
            <a:endParaRPr lang="en-US" sz="1350" dirty="0"/>
          </a:p>
        </p:txBody>
      </p:sp>
      <p:sp>
        <p:nvSpPr>
          <p:cNvPr id="22" name="Text 20"/>
          <p:cNvSpPr txBox="1"/>
          <p:nvPr/>
        </p:nvSpPr>
        <p:spPr>
          <a:xfrm>
            <a:off x="7051330"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findings cleared</a:t>
            </a:r>
            <a:endParaRPr lang="en-US" sz="1050" dirty="0"/>
          </a:p>
        </p:txBody>
      </p:sp>
      <p:sp>
        <p:nvSpPr>
          <p:cNvPr id="23" name="Shape 21"/>
          <p:cNvSpPr/>
          <p:nvPr/>
        </p:nvSpPr>
        <p:spPr>
          <a:xfrm>
            <a:off x="8411827" y="2066544"/>
            <a:ext cx="109728" cy="137160"/>
          </a:xfrm>
          <a:prstGeom prst="rightArrow">
            <a:avLst/>
          </a:prstGeom>
          <a:solidFill>
            <a:srgbClr val="A5B0BE"/>
          </a:solidFill>
          <a:ln w="12700">
            <a:solidFill>
              <a:srgbClr val="A5B0BE"/>
            </a:solidFill>
            <a:prstDash val="solid"/>
          </a:ln>
        </p:spPr>
        <p:txBody>
          <a:bodyPr/>
          <a:lstStyle/>
          <a:p>
            <a:endParaRPr lang="en-IN"/>
          </a:p>
        </p:txBody>
      </p:sp>
      <p:sp>
        <p:nvSpPr>
          <p:cNvPr id="24" name="Shape 22"/>
          <p:cNvSpPr/>
          <p:nvPr/>
        </p:nvSpPr>
        <p:spPr>
          <a:xfrm>
            <a:off x="8535271" y="1645920"/>
            <a:ext cx="1465653" cy="969264"/>
          </a:xfrm>
          <a:prstGeom prst="roundRect">
            <a:avLst>
              <a:gd name="adj" fmla="val 8491"/>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25" name="Text 23"/>
          <p:cNvSpPr txBox="1"/>
          <p:nvPr/>
        </p:nvSpPr>
        <p:spPr>
          <a:xfrm>
            <a:off x="8644999" y="1792224"/>
            <a:ext cx="1246197" cy="274320"/>
          </a:xfrm>
          <a:prstGeom prst="rect">
            <a:avLst/>
          </a:prstGeom>
          <a:noFill/>
          <a:ln/>
        </p:spPr>
        <p:txBody>
          <a:bodyPr wrap="square" lIns="0" tIns="0" rIns="0" bIns="0" rtlCol="0" anchor="ctr"/>
          <a:lstStyle/>
          <a:p>
            <a:pPr marL="0" indent="0" algn="ctr">
              <a:buNone/>
            </a:pPr>
            <a:r>
              <a:rPr lang="en-US" sz="1350" b="1" dirty="0">
                <a:solidFill>
                  <a:srgbClr val="0D1523"/>
                </a:solidFill>
                <a:latin typeface="Calibri" pitchFamily="34" charset="0"/>
                <a:ea typeface="Calibri" pitchFamily="34" charset="-122"/>
                <a:cs typeface="Calibri" pitchFamily="34" charset="-120"/>
              </a:rPr>
              <a:t>Docs</a:t>
            </a:r>
            <a:endParaRPr lang="en-US" sz="1350" dirty="0"/>
          </a:p>
        </p:txBody>
      </p:sp>
      <p:sp>
        <p:nvSpPr>
          <p:cNvPr id="26" name="Text 24"/>
          <p:cNvSpPr txBox="1"/>
          <p:nvPr/>
        </p:nvSpPr>
        <p:spPr>
          <a:xfrm>
            <a:off x="8644999"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drift closed</a:t>
            </a:r>
            <a:endParaRPr lang="en-US" sz="1050" dirty="0"/>
          </a:p>
        </p:txBody>
      </p:sp>
      <p:sp>
        <p:nvSpPr>
          <p:cNvPr id="27" name="Shape 25"/>
          <p:cNvSpPr/>
          <p:nvPr/>
        </p:nvSpPr>
        <p:spPr>
          <a:xfrm>
            <a:off x="10005495" y="2066544"/>
            <a:ext cx="109728" cy="137160"/>
          </a:xfrm>
          <a:prstGeom prst="rightArrow">
            <a:avLst/>
          </a:prstGeom>
          <a:solidFill>
            <a:srgbClr val="A5B0BE"/>
          </a:solidFill>
          <a:ln w="12700">
            <a:solidFill>
              <a:srgbClr val="A5B0BE"/>
            </a:solidFill>
            <a:prstDash val="solid"/>
          </a:ln>
        </p:spPr>
        <p:txBody>
          <a:bodyPr/>
          <a:lstStyle/>
          <a:p>
            <a:endParaRPr lang="en-IN"/>
          </a:p>
        </p:txBody>
      </p:sp>
      <p:sp>
        <p:nvSpPr>
          <p:cNvPr id="28" name="Shape 26"/>
          <p:cNvSpPr/>
          <p:nvPr/>
        </p:nvSpPr>
        <p:spPr>
          <a:xfrm>
            <a:off x="10128939" y="1645920"/>
            <a:ext cx="1465653" cy="969264"/>
          </a:xfrm>
          <a:prstGeom prst="roundRect">
            <a:avLst>
              <a:gd name="adj" fmla="val 8491"/>
            </a:avLst>
          </a:prstGeom>
          <a:solidFill>
            <a:srgbClr val="E7F8F1"/>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29" name="Text 27"/>
          <p:cNvSpPr txBox="1"/>
          <p:nvPr/>
        </p:nvSpPr>
        <p:spPr>
          <a:xfrm>
            <a:off x="10238667" y="1792224"/>
            <a:ext cx="1246197" cy="274320"/>
          </a:xfrm>
          <a:prstGeom prst="rect">
            <a:avLst/>
          </a:prstGeom>
          <a:noFill/>
          <a:ln/>
        </p:spPr>
        <p:txBody>
          <a:bodyPr wrap="square" lIns="0" tIns="0" rIns="0" bIns="0" rtlCol="0" anchor="ctr"/>
          <a:lstStyle/>
          <a:p>
            <a:pPr marL="0" indent="0" algn="ctr">
              <a:buNone/>
            </a:pPr>
            <a:r>
              <a:rPr lang="en-US" sz="1350" b="1" dirty="0">
                <a:solidFill>
                  <a:srgbClr val="047857"/>
                </a:solidFill>
                <a:latin typeface="Calibri" pitchFamily="34" charset="0"/>
                <a:ea typeface="Calibri" pitchFamily="34" charset="-122"/>
                <a:cs typeface="Calibri" pitchFamily="34" charset="-120"/>
              </a:rPr>
              <a:t>Merge-ready</a:t>
            </a:r>
            <a:endParaRPr lang="en-US" sz="1350" dirty="0"/>
          </a:p>
        </p:txBody>
      </p:sp>
      <p:sp>
        <p:nvSpPr>
          <p:cNvPr id="30" name="Text 28"/>
          <p:cNvSpPr txBox="1"/>
          <p:nvPr/>
        </p:nvSpPr>
        <p:spPr>
          <a:xfrm>
            <a:off x="10238667" y="2084832"/>
            <a:ext cx="1246197" cy="274320"/>
          </a:xfrm>
          <a:prstGeom prst="rect">
            <a:avLst/>
          </a:prstGeom>
          <a:noFill/>
          <a:ln/>
        </p:spPr>
        <p:txBody>
          <a:bodyPr wrap="square" lIns="0" tIns="0" rIns="0" bIns="0" rtlCol="0" anchor="ctr"/>
          <a:lstStyle/>
          <a:p>
            <a:pPr marL="0" indent="0" algn="ctr">
              <a:buNone/>
            </a:pPr>
            <a:r>
              <a:rPr lang="en-US" sz="1050" dirty="0">
                <a:solidFill>
                  <a:srgbClr val="68788A"/>
                </a:solidFill>
                <a:latin typeface="Calibri" pitchFamily="34" charset="0"/>
                <a:ea typeface="Calibri" pitchFamily="34" charset="-122"/>
                <a:cs typeface="Calibri" pitchFamily="34" charset="-120"/>
              </a:rPr>
              <a:t>pre-merge gate</a:t>
            </a:r>
            <a:endParaRPr lang="en-US" sz="1050" dirty="0"/>
          </a:p>
        </p:txBody>
      </p:sp>
      <p:sp>
        <p:nvSpPr>
          <p:cNvPr id="31" name="Shape 29"/>
          <p:cNvSpPr/>
          <p:nvPr/>
        </p:nvSpPr>
        <p:spPr>
          <a:xfrm>
            <a:off x="566928" y="2999232"/>
            <a:ext cx="2619756" cy="2615184"/>
          </a:xfrm>
          <a:prstGeom prst="roundRect">
            <a:avLst>
              <a:gd name="adj" fmla="val 3147"/>
            </a:avLst>
          </a:prstGeom>
          <a:solidFill>
            <a:srgbClr val="FFFFFF"/>
          </a:solidFill>
          <a:ln w="12700">
            <a:solidFill>
              <a:srgbClr val="4338CA"/>
            </a:solidFill>
            <a:prstDash val="solid"/>
          </a:ln>
          <a:effectLst>
            <a:outerShdw blurRad="76200" dist="12700" dir="5400000" algn="bl" rotWithShape="0">
              <a:srgbClr val="8894A5">
                <a:alpha val="7000"/>
              </a:srgbClr>
            </a:outerShdw>
          </a:effectLst>
        </p:spPr>
        <p:txBody>
          <a:bodyPr/>
          <a:lstStyle/>
          <a:p>
            <a:endParaRPr lang="en-IN"/>
          </a:p>
        </p:txBody>
      </p:sp>
      <p:sp>
        <p:nvSpPr>
          <p:cNvPr id="32" name="Shape 30"/>
          <p:cNvSpPr/>
          <p:nvPr/>
        </p:nvSpPr>
        <p:spPr>
          <a:xfrm>
            <a:off x="786384" y="3255264"/>
            <a:ext cx="310896" cy="45720"/>
          </a:xfrm>
          <a:prstGeom prst="rect">
            <a:avLst/>
          </a:prstGeom>
          <a:solidFill>
            <a:srgbClr val="4338CA"/>
          </a:solidFill>
          <a:ln/>
        </p:spPr>
        <p:txBody>
          <a:bodyPr/>
          <a:lstStyle/>
          <a:p>
            <a:endParaRPr lang="en-IN"/>
          </a:p>
        </p:txBody>
      </p:sp>
      <p:sp>
        <p:nvSpPr>
          <p:cNvPr id="33" name="Text 31"/>
          <p:cNvSpPr txBox="1"/>
          <p:nvPr/>
        </p:nvSpPr>
        <p:spPr>
          <a:xfrm>
            <a:off x="786384" y="3419856"/>
            <a:ext cx="2180844" cy="603504"/>
          </a:xfrm>
          <a:prstGeom prst="rect">
            <a:avLst/>
          </a:prstGeom>
          <a:noFill/>
          <a:ln/>
        </p:spPr>
        <p:txBody>
          <a:bodyPr wrap="square" lIns="0" tIns="0" rIns="0" bIns="0" rtlCol="0" anchor="t"/>
          <a:lstStyle/>
          <a:p>
            <a:pPr marL="0" indent="0">
              <a:lnSpc>
                <a:spcPct val="115000"/>
              </a:lnSpc>
              <a:buNone/>
            </a:pPr>
            <a:r>
              <a:rPr lang="en-US" sz="1500" b="1" dirty="0">
                <a:solidFill>
                  <a:srgbClr val="4338CA"/>
                </a:solidFill>
                <a:latin typeface="Calibri" pitchFamily="34" charset="0"/>
                <a:ea typeface="Calibri" pitchFamily="34" charset="-122"/>
                <a:cs typeface="Calibri" pitchFamily="34" charset="-120"/>
              </a:rPr>
              <a:t>Stateless by design</a:t>
            </a:r>
            <a:endParaRPr lang="en-US" sz="1500" dirty="0"/>
          </a:p>
        </p:txBody>
      </p:sp>
      <p:sp>
        <p:nvSpPr>
          <p:cNvPr id="34" name="Text 32"/>
          <p:cNvSpPr txBox="1"/>
          <p:nvPr/>
        </p:nvSpPr>
        <p:spPr>
          <a:xfrm>
            <a:off x="786384" y="4078224"/>
            <a:ext cx="2180844" cy="137160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Agents hold no memory between turns. All state lives in version-controlled artefacts, so a run resumes from a checkout rather than a restart.</a:t>
            </a:r>
            <a:endParaRPr lang="en-US" sz="1200" dirty="0"/>
          </a:p>
        </p:txBody>
      </p:sp>
      <p:sp>
        <p:nvSpPr>
          <p:cNvPr id="35" name="Shape 33"/>
          <p:cNvSpPr/>
          <p:nvPr/>
        </p:nvSpPr>
        <p:spPr>
          <a:xfrm>
            <a:off x="3369564" y="2999232"/>
            <a:ext cx="2619756" cy="2615184"/>
          </a:xfrm>
          <a:prstGeom prst="roundRect">
            <a:avLst>
              <a:gd name="adj" fmla="val 3147"/>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36" name="Shape 34"/>
          <p:cNvSpPr/>
          <p:nvPr/>
        </p:nvSpPr>
        <p:spPr>
          <a:xfrm>
            <a:off x="3589020" y="3255264"/>
            <a:ext cx="310896" cy="45720"/>
          </a:xfrm>
          <a:prstGeom prst="rect">
            <a:avLst/>
          </a:prstGeom>
          <a:solidFill>
            <a:srgbClr val="0086E6"/>
          </a:solidFill>
          <a:ln/>
        </p:spPr>
        <p:txBody>
          <a:bodyPr/>
          <a:lstStyle/>
          <a:p>
            <a:endParaRPr lang="en-IN"/>
          </a:p>
        </p:txBody>
      </p:sp>
      <p:sp>
        <p:nvSpPr>
          <p:cNvPr id="37" name="Text 35"/>
          <p:cNvSpPr txBox="1"/>
          <p:nvPr/>
        </p:nvSpPr>
        <p:spPr>
          <a:xfrm>
            <a:off x="3589020" y="3419856"/>
            <a:ext cx="2180844" cy="603504"/>
          </a:xfrm>
          <a:prstGeom prst="rect">
            <a:avLst/>
          </a:prstGeom>
          <a:noFill/>
          <a:ln/>
        </p:spPr>
        <p:txBody>
          <a:bodyPr wrap="square" lIns="0" tIns="0" rIns="0" bIns="0" rtlCol="0" anchor="t"/>
          <a:lstStyle/>
          <a:p>
            <a:pPr marL="0" indent="0">
              <a:lnSpc>
                <a:spcPct val="115000"/>
              </a:lnSpc>
              <a:buNone/>
            </a:pPr>
            <a:r>
              <a:rPr lang="en-US" sz="1500" b="1" dirty="0">
                <a:solidFill>
                  <a:srgbClr val="0086E6"/>
                </a:solidFill>
                <a:latin typeface="Calibri" pitchFamily="34" charset="0"/>
                <a:ea typeface="Calibri" pitchFamily="34" charset="-122"/>
                <a:cs typeface="Calibri" pitchFamily="34" charset="-120"/>
              </a:rPr>
              <a:t>Schema-validated handoffs</a:t>
            </a:r>
            <a:endParaRPr lang="en-US" sz="1500" dirty="0"/>
          </a:p>
        </p:txBody>
      </p:sp>
      <p:sp>
        <p:nvSpPr>
          <p:cNvPr id="38" name="Text 36"/>
          <p:cNvSpPr txBox="1"/>
          <p:nvPr/>
        </p:nvSpPr>
        <p:spPr>
          <a:xfrm>
            <a:off x="3589020" y="4078224"/>
            <a:ext cx="2180844" cy="137160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The next agent refuses to start if the contract does not validate. A malformed handoff stops the chain instead of propagating quietly.</a:t>
            </a:r>
            <a:endParaRPr lang="en-US" sz="1200" dirty="0"/>
          </a:p>
        </p:txBody>
      </p:sp>
      <p:sp>
        <p:nvSpPr>
          <p:cNvPr id="39" name="Shape 37"/>
          <p:cNvSpPr/>
          <p:nvPr/>
        </p:nvSpPr>
        <p:spPr>
          <a:xfrm>
            <a:off x="6172200" y="2999232"/>
            <a:ext cx="2619756" cy="2615184"/>
          </a:xfrm>
          <a:prstGeom prst="roundRect">
            <a:avLst>
              <a:gd name="adj" fmla="val 3147"/>
            </a:avLst>
          </a:prstGeom>
          <a:solidFill>
            <a:srgbClr val="FFFFFF"/>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40" name="Shape 38"/>
          <p:cNvSpPr/>
          <p:nvPr/>
        </p:nvSpPr>
        <p:spPr>
          <a:xfrm>
            <a:off x="6391656" y="3255264"/>
            <a:ext cx="310896" cy="45720"/>
          </a:xfrm>
          <a:prstGeom prst="rect">
            <a:avLst/>
          </a:prstGeom>
          <a:solidFill>
            <a:srgbClr val="DC6803"/>
          </a:solidFill>
          <a:ln/>
        </p:spPr>
        <p:txBody>
          <a:bodyPr/>
          <a:lstStyle/>
          <a:p>
            <a:endParaRPr lang="en-IN"/>
          </a:p>
        </p:txBody>
      </p:sp>
      <p:sp>
        <p:nvSpPr>
          <p:cNvPr id="41" name="Text 39"/>
          <p:cNvSpPr txBox="1"/>
          <p:nvPr/>
        </p:nvSpPr>
        <p:spPr>
          <a:xfrm>
            <a:off x="6391656" y="3419856"/>
            <a:ext cx="2180844" cy="603504"/>
          </a:xfrm>
          <a:prstGeom prst="rect">
            <a:avLst/>
          </a:prstGeom>
          <a:noFill/>
          <a:ln/>
        </p:spPr>
        <p:txBody>
          <a:bodyPr wrap="square" lIns="0" tIns="0" rIns="0" bIns="0" rtlCol="0" anchor="t"/>
          <a:lstStyle/>
          <a:p>
            <a:pPr marL="0" indent="0">
              <a:lnSpc>
                <a:spcPct val="115000"/>
              </a:lnSpc>
              <a:buNone/>
            </a:pPr>
            <a:r>
              <a:rPr lang="en-US" sz="1500" b="1" dirty="0">
                <a:solidFill>
                  <a:srgbClr val="DC6803"/>
                </a:solidFill>
                <a:latin typeface="Calibri" pitchFamily="34" charset="0"/>
                <a:ea typeface="Calibri" pitchFamily="34" charset="-122"/>
                <a:cs typeface="Calibri" pitchFamily="34" charset="-120"/>
              </a:rPr>
              <a:t>Advancement needs a token</a:t>
            </a:r>
            <a:endParaRPr lang="en-US" sz="1500" dirty="0"/>
          </a:p>
        </p:txBody>
      </p:sp>
      <p:sp>
        <p:nvSpPr>
          <p:cNvPr id="42" name="Text 40"/>
          <p:cNvSpPr txBox="1"/>
          <p:nvPr/>
        </p:nvSpPr>
        <p:spPr>
          <a:xfrm>
            <a:off x="6391656" y="4078224"/>
            <a:ext cx="2180844" cy="137160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Work moves only when a human answers a gate with an explicit literal token. Agreement expressed any other way does not advance the chain.</a:t>
            </a:r>
            <a:endParaRPr lang="en-US" sz="1200" dirty="0"/>
          </a:p>
        </p:txBody>
      </p:sp>
      <p:sp>
        <p:nvSpPr>
          <p:cNvPr id="43" name="Shape 41"/>
          <p:cNvSpPr/>
          <p:nvPr/>
        </p:nvSpPr>
        <p:spPr>
          <a:xfrm>
            <a:off x="8974836" y="2999232"/>
            <a:ext cx="2619756" cy="2615184"/>
          </a:xfrm>
          <a:prstGeom prst="roundRect">
            <a:avLst>
              <a:gd name="adj" fmla="val 3147"/>
            </a:avLst>
          </a:prstGeom>
          <a:solidFill>
            <a:srgbClr val="FFFFFF"/>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44" name="Shape 42"/>
          <p:cNvSpPr/>
          <p:nvPr/>
        </p:nvSpPr>
        <p:spPr>
          <a:xfrm>
            <a:off x="9194292" y="3255264"/>
            <a:ext cx="310896" cy="45720"/>
          </a:xfrm>
          <a:prstGeom prst="rect">
            <a:avLst/>
          </a:prstGeom>
          <a:solidFill>
            <a:srgbClr val="047857"/>
          </a:solidFill>
          <a:ln/>
        </p:spPr>
        <p:txBody>
          <a:bodyPr/>
          <a:lstStyle/>
          <a:p>
            <a:endParaRPr lang="en-IN"/>
          </a:p>
        </p:txBody>
      </p:sp>
      <p:sp>
        <p:nvSpPr>
          <p:cNvPr id="45" name="Text 43"/>
          <p:cNvSpPr txBox="1"/>
          <p:nvPr/>
        </p:nvSpPr>
        <p:spPr>
          <a:xfrm>
            <a:off x="9194292" y="3419856"/>
            <a:ext cx="2180844" cy="603504"/>
          </a:xfrm>
          <a:prstGeom prst="rect">
            <a:avLst/>
          </a:prstGeom>
          <a:noFill/>
          <a:ln/>
        </p:spPr>
        <p:txBody>
          <a:bodyPr wrap="square" lIns="0" tIns="0" rIns="0" bIns="0" rtlCol="0" anchor="t"/>
          <a:lstStyle/>
          <a:p>
            <a:pPr marL="0" indent="0">
              <a:lnSpc>
                <a:spcPct val="115000"/>
              </a:lnSpc>
              <a:buNone/>
            </a:pPr>
            <a:r>
              <a:rPr lang="en-US" sz="1500" b="1" dirty="0">
                <a:solidFill>
                  <a:srgbClr val="047857"/>
                </a:solidFill>
                <a:latin typeface="Calibri" pitchFamily="34" charset="0"/>
                <a:ea typeface="Calibri" pitchFamily="34" charset="-122"/>
                <a:cs typeface="Calibri" pitchFamily="34" charset="-120"/>
              </a:rPr>
              <a:t>The repository is the audit trail</a:t>
            </a:r>
            <a:endParaRPr lang="en-US" sz="1500" dirty="0"/>
          </a:p>
        </p:txBody>
      </p:sp>
      <p:sp>
        <p:nvSpPr>
          <p:cNvPr id="46" name="Text 44"/>
          <p:cNvSpPr txBox="1"/>
          <p:nvPr/>
        </p:nvSpPr>
        <p:spPr>
          <a:xfrm>
            <a:off x="9194292" y="4078224"/>
            <a:ext cx="2180844" cy="137160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There is no separate governance system to trust or keep running. The evidence is the commit history.</a:t>
            </a:r>
            <a:endParaRPr lang="en-US" sz="1200" dirty="0"/>
          </a:p>
        </p:txBody>
      </p:sp>
      <p:pic>
        <p:nvPicPr>
          <p:cNvPr id="47"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48" name="Text 45"/>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49" name="Text 46"/>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740118" y="662162"/>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Reference architecture</a:t>
            </a:r>
            <a:endParaRPr lang="en-US" sz="3200" dirty="0"/>
          </a:p>
        </p:txBody>
      </p:sp>
      <p:sp>
        <p:nvSpPr>
          <p:cNvPr id="3" name="Text 1"/>
          <p:cNvSpPr txBox="1"/>
          <p:nvPr/>
        </p:nvSpPr>
        <p:spPr>
          <a:xfrm>
            <a:off x="1757374" y="1230129"/>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Human surface, agent chain, standards and contracts, observability — on a guardrailed runtime</a:t>
            </a:r>
            <a:endParaRPr lang="en-US" sz="1450" dirty="0"/>
          </a:p>
        </p:txBody>
      </p:sp>
      <p:pic>
        <p:nvPicPr>
          <p:cNvPr id="4" name="Image 0" descr="/mnt/user-data/outputs/governed-agentic-sdlc-architecture.jpg"/>
          <p:cNvPicPr>
            <a:picLocks noChangeAspect="1"/>
          </p:cNvPicPr>
          <p:nvPr/>
        </p:nvPicPr>
        <p:blipFill>
          <a:blip r:embed="rId3"/>
          <a:stretch>
            <a:fillRect/>
          </a:stretch>
        </p:blipFill>
        <p:spPr>
          <a:xfrm>
            <a:off x="1624351" y="2090"/>
            <a:ext cx="8503055" cy="6865098"/>
          </a:xfrm>
          <a:prstGeom prst="rect">
            <a:avLst/>
          </a:prstGeom>
        </p:spPr>
      </p:pic>
      <p:pic>
        <p:nvPicPr>
          <p:cNvPr id="5" name="Image 1" descr="preencoded.png"/>
          <p:cNvPicPr>
            <a:picLocks noChangeAspect="1"/>
          </p:cNvPicPr>
          <p:nvPr/>
        </p:nvPicPr>
        <p:blipFill>
          <a:blip r:embed="rId4"/>
          <a:stretch>
            <a:fillRect/>
          </a:stretch>
        </p:blipFill>
        <p:spPr>
          <a:xfrm>
            <a:off x="566928" y="6419088"/>
            <a:ext cx="173736" cy="173736"/>
          </a:xfrm>
          <a:prstGeom prst="rect">
            <a:avLst/>
          </a:prstGeom>
        </p:spPr>
      </p:pic>
      <p:sp>
        <p:nvSpPr>
          <p:cNvPr id="7" name="Text 3"/>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Nine mandatory gates</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Each declares in machine-readable form what evidence must be in front of the approver</a:t>
            </a:r>
            <a:endParaRPr lang="en-US" sz="1450" dirty="0"/>
          </a:p>
        </p:txBody>
      </p:sp>
      <p:sp>
        <p:nvSpPr>
          <p:cNvPr id="4" name="Shape 2"/>
          <p:cNvSpPr/>
          <p:nvPr/>
        </p:nvSpPr>
        <p:spPr>
          <a:xfrm>
            <a:off x="566928" y="1627632"/>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5" name="Shape 3"/>
          <p:cNvSpPr/>
          <p:nvPr/>
        </p:nvSpPr>
        <p:spPr>
          <a:xfrm>
            <a:off x="713232" y="1719072"/>
            <a:ext cx="384048" cy="384048"/>
          </a:xfrm>
          <a:prstGeom prst="ellipse">
            <a:avLst/>
          </a:prstGeom>
          <a:solidFill>
            <a:srgbClr val="FEF4E2"/>
          </a:solidFill>
          <a:ln w="13970">
            <a:solidFill>
              <a:srgbClr val="DC6803"/>
            </a:solidFill>
            <a:prstDash val="solid"/>
          </a:ln>
        </p:spPr>
        <p:txBody>
          <a:bodyPr/>
          <a:lstStyle/>
          <a:p>
            <a:endParaRPr lang="en-IN"/>
          </a:p>
        </p:txBody>
      </p:sp>
      <p:sp>
        <p:nvSpPr>
          <p:cNvPr id="6" name="Text 4"/>
          <p:cNvSpPr txBox="1"/>
          <p:nvPr/>
        </p:nvSpPr>
        <p:spPr>
          <a:xfrm>
            <a:off x="713232" y="1719072"/>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25296" y="1627632"/>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Scope</a:t>
            </a:r>
            <a:endParaRPr lang="en-US" sz="1400" dirty="0"/>
          </a:p>
        </p:txBody>
      </p:sp>
      <p:sp>
        <p:nvSpPr>
          <p:cNvPr id="8" name="Shape 6"/>
          <p:cNvSpPr/>
          <p:nvPr/>
        </p:nvSpPr>
        <p:spPr>
          <a:xfrm>
            <a:off x="4303776" y="1627632"/>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9" name="Shape 7"/>
          <p:cNvSpPr/>
          <p:nvPr/>
        </p:nvSpPr>
        <p:spPr>
          <a:xfrm>
            <a:off x="4450080" y="1719072"/>
            <a:ext cx="384048" cy="384048"/>
          </a:xfrm>
          <a:prstGeom prst="ellipse">
            <a:avLst/>
          </a:prstGeom>
          <a:solidFill>
            <a:srgbClr val="FEF4E2"/>
          </a:solidFill>
          <a:ln w="13970">
            <a:solidFill>
              <a:srgbClr val="DC6803"/>
            </a:solidFill>
            <a:prstDash val="solid"/>
          </a:ln>
        </p:spPr>
        <p:txBody>
          <a:bodyPr/>
          <a:lstStyle/>
          <a:p>
            <a:endParaRPr lang="en-IN"/>
          </a:p>
        </p:txBody>
      </p:sp>
      <p:sp>
        <p:nvSpPr>
          <p:cNvPr id="10" name="Text 8"/>
          <p:cNvSpPr txBox="1"/>
          <p:nvPr/>
        </p:nvSpPr>
        <p:spPr>
          <a:xfrm>
            <a:off x="4450080" y="1719072"/>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4962144" y="1627632"/>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Implementation plan</a:t>
            </a:r>
            <a:endParaRPr lang="en-US" sz="1400" dirty="0"/>
          </a:p>
        </p:txBody>
      </p:sp>
      <p:sp>
        <p:nvSpPr>
          <p:cNvPr id="12" name="Shape 10"/>
          <p:cNvSpPr/>
          <p:nvPr/>
        </p:nvSpPr>
        <p:spPr>
          <a:xfrm>
            <a:off x="8040624" y="1627632"/>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13" name="Shape 11"/>
          <p:cNvSpPr/>
          <p:nvPr/>
        </p:nvSpPr>
        <p:spPr>
          <a:xfrm>
            <a:off x="8186928" y="1719072"/>
            <a:ext cx="384048" cy="384048"/>
          </a:xfrm>
          <a:prstGeom prst="ellipse">
            <a:avLst/>
          </a:prstGeom>
          <a:solidFill>
            <a:srgbClr val="FEF4E2"/>
          </a:solidFill>
          <a:ln w="13970">
            <a:solidFill>
              <a:srgbClr val="DC6803"/>
            </a:solidFill>
            <a:prstDash val="solid"/>
          </a:ln>
        </p:spPr>
        <p:txBody>
          <a:bodyPr/>
          <a:lstStyle/>
          <a:p>
            <a:endParaRPr lang="en-IN"/>
          </a:p>
        </p:txBody>
      </p:sp>
      <p:sp>
        <p:nvSpPr>
          <p:cNvPr id="14" name="Text 12"/>
          <p:cNvSpPr txBox="1"/>
          <p:nvPr/>
        </p:nvSpPr>
        <p:spPr>
          <a:xfrm>
            <a:off x="8186928" y="1719072"/>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8698992" y="1627632"/>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Schema change</a:t>
            </a:r>
            <a:endParaRPr lang="en-US" sz="1400" dirty="0"/>
          </a:p>
        </p:txBody>
      </p:sp>
      <p:sp>
        <p:nvSpPr>
          <p:cNvPr id="16" name="Shape 14"/>
          <p:cNvSpPr/>
          <p:nvPr/>
        </p:nvSpPr>
        <p:spPr>
          <a:xfrm>
            <a:off x="566928" y="2340864"/>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17" name="Shape 15"/>
          <p:cNvSpPr/>
          <p:nvPr/>
        </p:nvSpPr>
        <p:spPr>
          <a:xfrm>
            <a:off x="713232" y="2432304"/>
            <a:ext cx="384048" cy="384048"/>
          </a:xfrm>
          <a:prstGeom prst="ellipse">
            <a:avLst/>
          </a:prstGeom>
          <a:solidFill>
            <a:srgbClr val="FEF4E2"/>
          </a:solidFill>
          <a:ln w="13970">
            <a:solidFill>
              <a:srgbClr val="DC6803"/>
            </a:solidFill>
            <a:prstDash val="solid"/>
          </a:ln>
        </p:spPr>
        <p:txBody>
          <a:bodyPr/>
          <a:lstStyle/>
          <a:p>
            <a:endParaRPr lang="en-IN"/>
          </a:p>
        </p:txBody>
      </p:sp>
      <p:sp>
        <p:nvSpPr>
          <p:cNvPr id="18" name="Text 16"/>
          <p:cNvSpPr txBox="1"/>
          <p:nvPr/>
        </p:nvSpPr>
        <p:spPr>
          <a:xfrm>
            <a:off x="713232" y="2432304"/>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25296" y="2340864"/>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Infrastructure change</a:t>
            </a:r>
            <a:endParaRPr lang="en-US" sz="1400" dirty="0"/>
          </a:p>
        </p:txBody>
      </p:sp>
      <p:sp>
        <p:nvSpPr>
          <p:cNvPr id="20" name="Shape 18"/>
          <p:cNvSpPr/>
          <p:nvPr/>
        </p:nvSpPr>
        <p:spPr>
          <a:xfrm>
            <a:off x="4303776" y="2340864"/>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21" name="Shape 19"/>
          <p:cNvSpPr/>
          <p:nvPr/>
        </p:nvSpPr>
        <p:spPr>
          <a:xfrm>
            <a:off x="4450080" y="2432304"/>
            <a:ext cx="384048" cy="384048"/>
          </a:xfrm>
          <a:prstGeom prst="ellipse">
            <a:avLst/>
          </a:prstGeom>
          <a:solidFill>
            <a:srgbClr val="FEF4E2"/>
          </a:solidFill>
          <a:ln w="13970">
            <a:solidFill>
              <a:srgbClr val="DC6803"/>
            </a:solidFill>
            <a:prstDash val="solid"/>
          </a:ln>
        </p:spPr>
        <p:txBody>
          <a:bodyPr/>
          <a:lstStyle/>
          <a:p>
            <a:endParaRPr lang="en-IN"/>
          </a:p>
        </p:txBody>
      </p:sp>
      <p:sp>
        <p:nvSpPr>
          <p:cNvPr id="22" name="Text 20"/>
          <p:cNvSpPr txBox="1"/>
          <p:nvPr/>
        </p:nvSpPr>
        <p:spPr>
          <a:xfrm>
            <a:off x="4450080" y="2432304"/>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4962144" y="2340864"/>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Test strategy</a:t>
            </a:r>
            <a:endParaRPr lang="en-US" sz="1400" dirty="0"/>
          </a:p>
        </p:txBody>
      </p:sp>
      <p:sp>
        <p:nvSpPr>
          <p:cNvPr id="24" name="Shape 22"/>
          <p:cNvSpPr/>
          <p:nvPr/>
        </p:nvSpPr>
        <p:spPr>
          <a:xfrm>
            <a:off x="8040624" y="2340864"/>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25" name="Shape 23"/>
          <p:cNvSpPr/>
          <p:nvPr/>
        </p:nvSpPr>
        <p:spPr>
          <a:xfrm>
            <a:off x="8186928" y="2432304"/>
            <a:ext cx="384048" cy="384048"/>
          </a:xfrm>
          <a:prstGeom prst="ellipse">
            <a:avLst/>
          </a:prstGeom>
          <a:solidFill>
            <a:srgbClr val="FEF4E2"/>
          </a:solidFill>
          <a:ln w="13970">
            <a:solidFill>
              <a:srgbClr val="DC6803"/>
            </a:solidFill>
            <a:prstDash val="solid"/>
          </a:ln>
        </p:spPr>
        <p:txBody>
          <a:bodyPr/>
          <a:lstStyle/>
          <a:p>
            <a:endParaRPr lang="en-IN"/>
          </a:p>
        </p:txBody>
      </p:sp>
      <p:sp>
        <p:nvSpPr>
          <p:cNvPr id="26" name="Text 24"/>
          <p:cNvSpPr txBox="1"/>
          <p:nvPr/>
        </p:nvSpPr>
        <p:spPr>
          <a:xfrm>
            <a:off x="8186928" y="2432304"/>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8698992" y="2340864"/>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Blocker override</a:t>
            </a:r>
            <a:endParaRPr lang="en-US" sz="1400" dirty="0"/>
          </a:p>
        </p:txBody>
      </p:sp>
      <p:sp>
        <p:nvSpPr>
          <p:cNvPr id="28" name="Shape 26"/>
          <p:cNvSpPr/>
          <p:nvPr/>
        </p:nvSpPr>
        <p:spPr>
          <a:xfrm>
            <a:off x="566928" y="3054096"/>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29" name="Shape 27"/>
          <p:cNvSpPr/>
          <p:nvPr/>
        </p:nvSpPr>
        <p:spPr>
          <a:xfrm>
            <a:off x="713232" y="3145536"/>
            <a:ext cx="384048" cy="384048"/>
          </a:xfrm>
          <a:prstGeom prst="ellipse">
            <a:avLst/>
          </a:prstGeom>
          <a:solidFill>
            <a:srgbClr val="FEF4E2"/>
          </a:solidFill>
          <a:ln w="13970">
            <a:solidFill>
              <a:srgbClr val="DC6803"/>
            </a:solidFill>
            <a:prstDash val="solid"/>
          </a:ln>
        </p:spPr>
        <p:txBody>
          <a:bodyPr/>
          <a:lstStyle/>
          <a:p>
            <a:endParaRPr lang="en-IN"/>
          </a:p>
        </p:txBody>
      </p:sp>
      <p:sp>
        <p:nvSpPr>
          <p:cNvPr id="30" name="Text 28"/>
          <p:cNvSpPr txBox="1"/>
          <p:nvPr/>
        </p:nvSpPr>
        <p:spPr>
          <a:xfrm>
            <a:off x="713232" y="3145536"/>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1225296" y="3054096"/>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Self-correction</a:t>
            </a:r>
            <a:endParaRPr lang="en-US" sz="1400" dirty="0"/>
          </a:p>
        </p:txBody>
      </p:sp>
      <p:sp>
        <p:nvSpPr>
          <p:cNvPr id="32" name="Shape 30"/>
          <p:cNvSpPr/>
          <p:nvPr/>
        </p:nvSpPr>
        <p:spPr>
          <a:xfrm>
            <a:off x="4303776" y="3054096"/>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33" name="Shape 31"/>
          <p:cNvSpPr/>
          <p:nvPr/>
        </p:nvSpPr>
        <p:spPr>
          <a:xfrm>
            <a:off x="4450080" y="3145536"/>
            <a:ext cx="384048" cy="384048"/>
          </a:xfrm>
          <a:prstGeom prst="ellipse">
            <a:avLst/>
          </a:prstGeom>
          <a:solidFill>
            <a:srgbClr val="FEF4E2"/>
          </a:solidFill>
          <a:ln w="13970">
            <a:solidFill>
              <a:srgbClr val="DC6803"/>
            </a:solidFill>
            <a:prstDash val="solid"/>
          </a:ln>
        </p:spPr>
        <p:txBody>
          <a:bodyPr/>
          <a:lstStyle/>
          <a:p>
            <a:endParaRPr lang="en-IN"/>
          </a:p>
        </p:txBody>
      </p:sp>
      <p:sp>
        <p:nvSpPr>
          <p:cNvPr id="34" name="Text 32"/>
          <p:cNvSpPr txBox="1"/>
          <p:nvPr/>
        </p:nvSpPr>
        <p:spPr>
          <a:xfrm>
            <a:off x="4450080" y="3145536"/>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4962144" y="3054096"/>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Documentation drift</a:t>
            </a:r>
            <a:endParaRPr lang="en-US" sz="1400" dirty="0"/>
          </a:p>
        </p:txBody>
      </p:sp>
      <p:sp>
        <p:nvSpPr>
          <p:cNvPr id="36" name="Shape 34"/>
          <p:cNvSpPr/>
          <p:nvPr/>
        </p:nvSpPr>
        <p:spPr>
          <a:xfrm>
            <a:off x="8040624" y="3054096"/>
            <a:ext cx="3553968" cy="566928"/>
          </a:xfrm>
          <a:prstGeom prst="roundRect">
            <a:avLst>
              <a:gd name="adj" fmla="val 14516"/>
            </a:avLst>
          </a:prstGeom>
          <a:solidFill>
            <a:srgbClr val="FEF4E2"/>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37" name="Shape 35"/>
          <p:cNvSpPr/>
          <p:nvPr/>
        </p:nvSpPr>
        <p:spPr>
          <a:xfrm>
            <a:off x="8186928" y="3145536"/>
            <a:ext cx="384048" cy="384048"/>
          </a:xfrm>
          <a:prstGeom prst="ellipse">
            <a:avLst/>
          </a:prstGeom>
          <a:solidFill>
            <a:srgbClr val="FEF4E2"/>
          </a:solidFill>
          <a:ln w="13970">
            <a:solidFill>
              <a:srgbClr val="DC6803"/>
            </a:solidFill>
            <a:prstDash val="solid"/>
          </a:ln>
        </p:spPr>
        <p:txBody>
          <a:bodyPr/>
          <a:lstStyle/>
          <a:p>
            <a:endParaRPr lang="en-IN"/>
          </a:p>
        </p:txBody>
      </p:sp>
      <p:sp>
        <p:nvSpPr>
          <p:cNvPr id="38" name="Text 36"/>
          <p:cNvSpPr txBox="1"/>
          <p:nvPr/>
        </p:nvSpPr>
        <p:spPr>
          <a:xfrm>
            <a:off x="8186928" y="3145536"/>
            <a:ext cx="384048" cy="384048"/>
          </a:xfrm>
          <a:prstGeom prst="rect">
            <a:avLst/>
          </a:prstGeom>
          <a:noFill/>
          <a:ln/>
        </p:spPr>
        <p:txBody>
          <a:bodyPr wrap="square" lIns="0" tIns="0" rIns="0" bIns="0" rtlCol="0" anchor="ctr"/>
          <a:lstStyle/>
          <a:p>
            <a:pPr marL="0" indent="0" algn="ctr">
              <a:buNone/>
            </a:pPr>
            <a:r>
              <a:rPr lang="en-US" sz="1300" b="1" dirty="0">
                <a:solidFill>
                  <a:srgbClr val="DC6803"/>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8698992" y="3054096"/>
            <a:ext cx="2749296" cy="566928"/>
          </a:xfrm>
          <a:prstGeom prst="rect">
            <a:avLst/>
          </a:prstGeom>
          <a:noFill/>
          <a:ln/>
        </p:spPr>
        <p:txBody>
          <a:bodyPr wrap="square" lIns="0" tIns="0" rIns="0" bIns="0" rtlCol="0" anchor="ctr"/>
          <a:lstStyle/>
          <a:p>
            <a:pPr marL="0" indent="0">
              <a:buNone/>
            </a:pPr>
            <a:r>
              <a:rPr lang="en-US" sz="1400" b="1" dirty="0">
                <a:solidFill>
                  <a:srgbClr val="93370D"/>
                </a:solidFill>
                <a:latin typeface="Calibri" pitchFamily="34" charset="0"/>
                <a:ea typeface="Calibri" pitchFamily="34" charset="-122"/>
                <a:cs typeface="Calibri" pitchFamily="34" charset="-120"/>
              </a:rPr>
              <a:t>Pre-merge</a:t>
            </a:r>
            <a:endParaRPr lang="en-US" sz="1400" dirty="0"/>
          </a:p>
        </p:txBody>
      </p:sp>
      <p:sp>
        <p:nvSpPr>
          <p:cNvPr id="40" name="Text 38"/>
          <p:cNvSpPr txBox="1"/>
          <p:nvPr/>
        </p:nvSpPr>
        <p:spPr>
          <a:xfrm>
            <a:off x="566928" y="3968496"/>
            <a:ext cx="7315200" cy="274320"/>
          </a:xfrm>
          <a:prstGeom prst="rect">
            <a:avLst/>
          </a:prstGeom>
          <a:noFill/>
          <a:ln/>
        </p:spPr>
        <p:txBody>
          <a:bodyPr wrap="square" lIns="0" tIns="0" rIns="0" bIns="0" rtlCol="0" anchor="ctr"/>
          <a:lstStyle/>
          <a:p>
            <a:pPr marL="0" indent="0">
              <a:buNone/>
            </a:pPr>
            <a:r>
              <a:rPr lang="en-US" sz="1100" b="1" kern="0" spc="160" dirty="0">
                <a:solidFill>
                  <a:srgbClr val="68788A"/>
                </a:solidFill>
                <a:latin typeface="Calibri" pitchFamily="34" charset="0"/>
                <a:ea typeface="Calibri" pitchFamily="34" charset="-122"/>
                <a:cs typeface="Calibri" pitchFamily="34" charset="-120"/>
              </a:rPr>
              <a:t>THREE PROPERTIES THAT KEEP GOVERNANCE ALIVE</a:t>
            </a:r>
            <a:endParaRPr lang="en-US" sz="1100" dirty="0"/>
          </a:p>
        </p:txBody>
      </p:sp>
      <p:sp>
        <p:nvSpPr>
          <p:cNvPr id="41" name="Shape 39"/>
          <p:cNvSpPr/>
          <p:nvPr/>
        </p:nvSpPr>
        <p:spPr>
          <a:xfrm>
            <a:off x="566928" y="4297680"/>
            <a:ext cx="3553968" cy="1481328"/>
          </a:xfrm>
          <a:prstGeom prst="roundRect">
            <a:avLst>
              <a:gd name="adj" fmla="val 5556"/>
            </a:avLst>
          </a:prstGeom>
          <a:solidFill>
            <a:srgbClr val="FFFFFF"/>
          </a:solidFill>
          <a:ln w="12700">
            <a:solidFill>
              <a:srgbClr val="9333EA"/>
            </a:solidFill>
            <a:prstDash val="solid"/>
          </a:ln>
          <a:effectLst>
            <a:outerShdw blurRad="76200" dist="12700" dir="5400000" algn="bl" rotWithShape="0">
              <a:srgbClr val="8894A5">
                <a:alpha val="7000"/>
              </a:srgbClr>
            </a:outerShdw>
          </a:effectLst>
        </p:spPr>
        <p:txBody>
          <a:bodyPr/>
          <a:lstStyle/>
          <a:p>
            <a:endParaRPr lang="en-IN"/>
          </a:p>
        </p:txBody>
      </p:sp>
      <p:sp>
        <p:nvSpPr>
          <p:cNvPr id="42" name="Text 40"/>
          <p:cNvSpPr txBox="1"/>
          <p:nvPr/>
        </p:nvSpPr>
        <p:spPr>
          <a:xfrm>
            <a:off x="786384" y="4462272"/>
            <a:ext cx="3115056" cy="512064"/>
          </a:xfrm>
          <a:prstGeom prst="rect">
            <a:avLst/>
          </a:prstGeom>
          <a:noFill/>
          <a:ln/>
        </p:spPr>
        <p:txBody>
          <a:bodyPr wrap="square" lIns="0" tIns="0" rIns="0" bIns="0" rtlCol="0" anchor="t"/>
          <a:lstStyle/>
          <a:p>
            <a:pPr marL="0" indent="0">
              <a:lnSpc>
                <a:spcPct val="115000"/>
              </a:lnSpc>
              <a:buNone/>
            </a:pPr>
            <a:r>
              <a:rPr lang="en-US" sz="1400" b="1" dirty="0">
                <a:solidFill>
                  <a:srgbClr val="9333EA"/>
                </a:solidFill>
                <a:latin typeface="Calibri" pitchFamily="34" charset="0"/>
                <a:ea typeface="Calibri" pitchFamily="34" charset="-122"/>
                <a:cs typeface="Calibri" pitchFamily="34" charset="-120"/>
              </a:rPr>
              <a:t>Approval is a token, not an inference</a:t>
            </a:r>
            <a:endParaRPr lang="en-US" sz="1400" dirty="0"/>
          </a:p>
        </p:txBody>
      </p:sp>
      <p:sp>
        <p:nvSpPr>
          <p:cNvPr id="43" name="Text 41"/>
          <p:cNvSpPr txBox="1"/>
          <p:nvPr/>
        </p:nvSpPr>
        <p:spPr>
          <a:xfrm>
            <a:off x="786384" y="4992624"/>
            <a:ext cx="3115056" cy="731520"/>
          </a:xfrm>
          <a:prstGeom prst="rect">
            <a:avLst/>
          </a:prstGeom>
          <a:noFill/>
          <a:ln/>
        </p:spPr>
        <p:txBody>
          <a:bodyPr wrap="square" lIns="0" tIns="0" rIns="0" bIns="0" rtlCol="0" anchor="t"/>
          <a:lstStyle/>
          <a:p>
            <a:pPr marL="0" indent="0">
              <a:lnSpc>
                <a:spcPct val="128000"/>
              </a:lnSpc>
              <a:buNone/>
            </a:pPr>
            <a:r>
              <a:rPr lang="en-US" sz="1180" dirty="0">
                <a:solidFill>
                  <a:srgbClr val="16202C"/>
                </a:solidFill>
                <a:latin typeface="Calibri" pitchFamily="34" charset="0"/>
                <a:ea typeface="Calibri" pitchFamily="34" charset="-122"/>
                <a:cs typeface="Calibri" pitchFamily="34" charset="-120"/>
              </a:rPr>
              <a:t>Agreement expressed any other way does not advance the chain.</a:t>
            </a:r>
            <a:endParaRPr lang="en-US" sz="1180" dirty="0"/>
          </a:p>
        </p:txBody>
      </p:sp>
      <p:sp>
        <p:nvSpPr>
          <p:cNvPr id="44" name="Shape 42"/>
          <p:cNvSpPr/>
          <p:nvPr/>
        </p:nvSpPr>
        <p:spPr>
          <a:xfrm>
            <a:off x="4303776" y="4297680"/>
            <a:ext cx="3553968" cy="1481328"/>
          </a:xfrm>
          <a:prstGeom prst="roundRect">
            <a:avLst>
              <a:gd name="adj" fmla="val 5556"/>
            </a:avLst>
          </a:prstGeom>
          <a:solidFill>
            <a:srgbClr val="FFFFFF"/>
          </a:solidFill>
          <a:ln w="12700">
            <a:solidFill>
              <a:srgbClr val="9333EA"/>
            </a:solidFill>
            <a:prstDash val="solid"/>
          </a:ln>
          <a:effectLst>
            <a:outerShdw blurRad="76200" dist="12700" dir="5400000" algn="bl" rotWithShape="0">
              <a:srgbClr val="8894A5">
                <a:alpha val="7000"/>
              </a:srgbClr>
            </a:outerShdw>
          </a:effectLst>
        </p:spPr>
        <p:txBody>
          <a:bodyPr/>
          <a:lstStyle/>
          <a:p>
            <a:endParaRPr lang="en-IN"/>
          </a:p>
        </p:txBody>
      </p:sp>
      <p:sp>
        <p:nvSpPr>
          <p:cNvPr id="45" name="Text 43"/>
          <p:cNvSpPr txBox="1"/>
          <p:nvPr/>
        </p:nvSpPr>
        <p:spPr>
          <a:xfrm>
            <a:off x="4523232" y="4462272"/>
            <a:ext cx="3115056" cy="512064"/>
          </a:xfrm>
          <a:prstGeom prst="rect">
            <a:avLst/>
          </a:prstGeom>
          <a:noFill/>
          <a:ln/>
        </p:spPr>
        <p:txBody>
          <a:bodyPr wrap="square" lIns="0" tIns="0" rIns="0" bIns="0" rtlCol="0" anchor="t"/>
          <a:lstStyle/>
          <a:p>
            <a:pPr marL="0" indent="0">
              <a:lnSpc>
                <a:spcPct val="115000"/>
              </a:lnSpc>
              <a:buNone/>
            </a:pPr>
            <a:r>
              <a:rPr lang="en-US" sz="1400" b="1" dirty="0">
                <a:solidFill>
                  <a:srgbClr val="9333EA"/>
                </a:solidFill>
                <a:latin typeface="Calibri" pitchFamily="34" charset="0"/>
                <a:ea typeface="Calibri" pitchFamily="34" charset="-122"/>
                <a:cs typeface="Calibri" pitchFamily="34" charset="-120"/>
              </a:rPr>
              <a:t>Blocker overrides expire</a:t>
            </a:r>
            <a:endParaRPr lang="en-US" sz="1400" dirty="0"/>
          </a:p>
        </p:txBody>
      </p:sp>
      <p:sp>
        <p:nvSpPr>
          <p:cNvPr id="46" name="Text 44"/>
          <p:cNvSpPr txBox="1"/>
          <p:nvPr/>
        </p:nvSpPr>
        <p:spPr>
          <a:xfrm>
            <a:off x="4523232" y="4992624"/>
            <a:ext cx="3115056" cy="731520"/>
          </a:xfrm>
          <a:prstGeom prst="rect">
            <a:avLst/>
          </a:prstGeom>
          <a:noFill/>
          <a:ln/>
        </p:spPr>
        <p:txBody>
          <a:bodyPr wrap="square" lIns="0" tIns="0" rIns="0" bIns="0" rtlCol="0" anchor="t"/>
          <a:lstStyle/>
          <a:p>
            <a:pPr marL="0" indent="0">
              <a:lnSpc>
                <a:spcPct val="128000"/>
              </a:lnSpc>
              <a:buNone/>
            </a:pPr>
            <a:r>
              <a:rPr lang="en-US" sz="1180" dirty="0">
                <a:solidFill>
                  <a:srgbClr val="16202C"/>
                </a:solidFill>
                <a:latin typeface="Calibri" pitchFamily="34" charset="0"/>
                <a:ea typeface="Calibri" pitchFamily="34" charset="-122"/>
                <a:cs typeface="Calibri" pitchFamily="34" charset="-120"/>
              </a:rPr>
              <a:t>When one lapses the finding re-blocks — stopping governance from decaying into permanent silent exceptions, which is how most gate systems die.</a:t>
            </a:r>
            <a:endParaRPr lang="en-US" sz="1180" dirty="0"/>
          </a:p>
        </p:txBody>
      </p:sp>
      <p:sp>
        <p:nvSpPr>
          <p:cNvPr id="47" name="Shape 45"/>
          <p:cNvSpPr/>
          <p:nvPr/>
        </p:nvSpPr>
        <p:spPr>
          <a:xfrm>
            <a:off x="8040624" y="4297680"/>
            <a:ext cx="3553968" cy="1481328"/>
          </a:xfrm>
          <a:prstGeom prst="roundRect">
            <a:avLst>
              <a:gd name="adj" fmla="val 5556"/>
            </a:avLst>
          </a:prstGeom>
          <a:solidFill>
            <a:srgbClr val="FFFFFF"/>
          </a:solidFill>
          <a:ln w="12700">
            <a:solidFill>
              <a:srgbClr val="9333EA"/>
            </a:solidFill>
            <a:prstDash val="solid"/>
          </a:ln>
          <a:effectLst>
            <a:outerShdw blurRad="76200" dist="12700" dir="5400000" algn="bl" rotWithShape="0">
              <a:srgbClr val="8894A5">
                <a:alpha val="7000"/>
              </a:srgbClr>
            </a:outerShdw>
          </a:effectLst>
        </p:spPr>
        <p:txBody>
          <a:bodyPr/>
          <a:lstStyle/>
          <a:p>
            <a:endParaRPr lang="en-IN"/>
          </a:p>
        </p:txBody>
      </p:sp>
      <p:sp>
        <p:nvSpPr>
          <p:cNvPr id="48" name="Text 46"/>
          <p:cNvSpPr txBox="1"/>
          <p:nvPr/>
        </p:nvSpPr>
        <p:spPr>
          <a:xfrm>
            <a:off x="8260080" y="4462272"/>
            <a:ext cx="3115056" cy="512064"/>
          </a:xfrm>
          <a:prstGeom prst="rect">
            <a:avLst/>
          </a:prstGeom>
          <a:noFill/>
          <a:ln/>
        </p:spPr>
        <p:txBody>
          <a:bodyPr wrap="square" lIns="0" tIns="0" rIns="0" bIns="0" rtlCol="0" anchor="t"/>
          <a:lstStyle/>
          <a:p>
            <a:pPr marL="0" indent="0">
              <a:lnSpc>
                <a:spcPct val="115000"/>
              </a:lnSpc>
              <a:buNone/>
            </a:pPr>
            <a:r>
              <a:rPr lang="en-US" sz="1400" b="1" dirty="0">
                <a:solidFill>
                  <a:srgbClr val="9333EA"/>
                </a:solidFill>
                <a:latin typeface="Calibri" pitchFamily="34" charset="0"/>
                <a:ea typeface="Calibri" pitchFamily="34" charset="-122"/>
                <a:cs typeface="Calibri" pitchFamily="34" charset="-120"/>
              </a:rPr>
              <a:t>Governance is itself measured</a:t>
            </a:r>
            <a:endParaRPr lang="en-US" sz="1400" dirty="0"/>
          </a:p>
        </p:txBody>
      </p:sp>
      <p:sp>
        <p:nvSpPr>
          <p:cNvPr id="49" name="Text 47"/>
          <p:cNvSpPr txBox="1"/>
          <p:nvPr/>
        </p:nvSpPr>
        <p:spPr>
          <a:xfrm>
            <a:off x="8260080" y="4992624"/>
            <a:ext cx="3115056" cy="731520"/>
          </a:xfrm>
          <a:prstGeom prst="rect">
            <a:avLst/>
          </a:prstGeom>
          <a:noFill/>
          <a:ln/>
        </p:spPr>
        <p:txBody>
          <a:bodyPr wrap="square" lIns="0" tIns="0" rIns="0" bIns="0" rtlCol="0" anchor="t"/>
          <a:lstStyle/>
          <a:p>
            <a:pPr marL="0" indent="0">
              <a:lnSpc>
                <a:spcPct val="128000"/>
              </a:lnSpc>
              <a:buNone/>
            </a:pPr>
            <a:r>
              <a:rPr lang="en-US" sz="1180" dirty="0">
                <a:solidFill>
                  <a:srgbClr val="16202C"/>
                </a:solidFill>
                <a:latin typeface="Calibri" pitchFamily="34" charset="0"/>
                <a:ea typeface="Calibri" pitchFamily="34" charset="-122"/>
                <a:cs typeface="Calibri" pitchFamily="34" charset="-120"/>
              </a:rPr>
              <a:t>Gate compliance, override rate and expiry adherence are audited every cycle.</a:t>
            </a:r>
            <a:endParaRPr lang="en-US" sz="1180" dirty="0"/>
          </a:p>
        </p:txBody>
      </p:sp>
      <p:pic>
        <p:nvPicPr>
          <p:cNvPr id="50"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51" name="Text 48"/>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52" name="Text 49"/>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Guardrails in four independent layers</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Layered so that no single control is load-bearing</a:t>
            </a:r>
            <a:endParaRPr lang="en-US" sz="1450" dirty="0"/>
          </a:p>
        </p:txBody>
      </p:sp>
      <p:sp>
        <p:nvSpPr>
          <p:cNvPr id="4" name="Shape 2"/>
          <p:cNvSpPr/>
          <p:nvPr/>
        </p:nvSpPr>
        <p:spPr>
          <a:xfrm>
            <a:off x="566928" y="1627632"/>
            <a:ext cx="2619756" cy="2743200"/>
          </a:xfrm>
          <a:prstGeom prst="roundRect">
            <a:avLst>
              <a:gd name="adj" fmla="val 3141"/>
            </a:avLst>
          </a:prstGeom>
          <a:solidFill>
            <a:srgbClr val="FFFFFF"/>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5" name="Text 3"/>
          <p:cNvSpPr txBox="1"/>
          <p:nvPr/>
        </p:nvSpPr>
        <p:spPr>
          <a:xfrm>
            <a:off x="786384" y="1828800"/>
            <a:ext cx="2180844" cy="237744"/>
          </a:xfrm>
          <a:prstGeom prst="rect">
            <a:avLst/>
          </a:prstGeom>
          <a:noFill/>
          <a:ln/>
        </p:spPr>
        <p:txBody>
          <a:bodyPr wrap="square" lIns="0" tIns="0" rIns="0" bIns="0" rtlCol="0" anchor="ctr"/>
          <a:lstStyle/>
          <a:p>
            <a:pPr marL="0" indent="0">
              <a:buNone/>
            </a:pPr>
            <a:r>
              <a:rPr lang="en-US" sz="1050" b="1" kern="0" spc="140" dirty="0">
                <a:solidFill>
                  <a:srgbClr val="DC6803"/>
                </a:solidFill>
                <a:latin typeface="Calibri" pitchFamily="34" charset="0"/>
                <a:ea typeface="Calibri" pitchFamily="34" charset="-122"/>
                <a:cs typeface="Calibri" pitchFamily="34" charset="-120"/>
              </a:rPr>
              <a:t>LAYER 1</a:t>
            </a:r>
            <a:endParaRPr lang="en-US" sz="1050" dirty="0"/>
          </a:p>
        </p:txBody>
      </p:sp>
      <p:sp>
        <p:nvSpPr>
          <p:cNvPr id="6" name="Text 4"/>
          <p:cNvSpPr txBox="1"/>
          <p:nvPr/>
        </p:nvSpPr>
        <p:spPr>
          <a:xfrm>
            <a:off x="786384" y="2103120"/>
            <a:ext cx="2180844" cy="603504"/>
          </a:xfrm>
          <a:prstGeom prst="rect">
            <a:avLst/>
          </a:prstGeom>
          <a:noFill/>
          <a:ln/>
        </p:spPr>
        <p:txBody>
          <a:bodyPr wrap="square" lIns="0" tIns="0" rIns="0" bIns="0" rtlCol="0" anchor="t"/>
          <a:lstStyle/>
          <a:p>
            <a:pPr marL="0" indent="0">
              <a:lnSpc>
                <a:spcPct val="115000"/>
              </a:lnSpc>
              <a:buNone/>
            </a:pPr>
            <a:r>
              <a:rPr lang="en-US" sz="1550" b="1" dirty="0">
                <a:solidFill>
                  <a:srgbClr val="93370D"/>
                </a:solidFill>
                <a:latin typeface="Calibri" pitchFamily="34" charset="0"/>
                <a:ea typeface="Calibri" pitchFamily="34" charset="-122"/>
                <a:cs typeface="Calibri" pitchFamily="34" charset="-120"/>
              </a:rPr>
              <a:t>Policy and scope</a:t>
            </a:r>
            <a:endParaRPr lang="en-US" sz="1550" dirty="0"/>
          </a:p>
        </p:txBody>
      </p:sp>
      <p:sp>
        <p:nvSpPr>
          <p:cNvPr id="7" name="Text 5"/>
          <p:cNvSpPr txBox="1"/>
          <p:nvPr/>
        </p:nvSpPr>
        <p:spPr>
          <a:xfrm>
            <a:off x="786384" y="2761488"/>
            <a:ext cx="2180844" cy="118872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Write paths are allow-listed per agent. Work that drifts outside the agreed surface halts rather than proceeding on assumption.</a:t>
            </a:r>
            <a:endParaRPr lang="en-US" sz="1200" dirty="0"/>
          </a:p>
        </p:txBody>
      </p:sp>
      <p:sp>
        <p:nvSpPr>
          <p:cNvPr id="8" name="Text 6"/>
          <p:cNvSpPr txBox="1"/>
          <p:nvPr/>
        </p:nvSpPr>
        <p:spPr>
          <a:xfrm>
            <a:off x="786384" y="4005072"/>
            <a:ext cx="2180844" cy="256032"/>
          </a:xfrm>
          <a:prstGeom prst="rect">
            <a:avLst/>
          </a:prstGeom>
          <a:noFill/>
          <a:ln/>
        </p:spPr>
        <p:txBody>
          <a:bodyPr wrap="square" lIns="0" tIns="0" rIns="0" bIns="0" rtlCol="0" anchor="ctr"/>
          <a:lstStyle/>
          <a:p>
            <a:pPr marL="0" indent="0">
              <a:buNone/>
            </a:pPr>
            <a:r>
              <a:rPr lang="en-US" sz="1050" b="1" kern="0" spc="120" dirty="0">
                <a:solidFill>
                  <a:srgbClr val="68788A"/>
                </a:solidFill>
                <a:latin typeface="Calibri" pitchFamily="34" charset="0"/>
                <a:ea typeface="Calibri" pitchFamily="34" charset="-122"/>
                <a:cs typeface="Calibri" pitchFamily="34" charset="-120"/>
              </a:rPr>
              <a:t>Preventive</a:t>
            </a:r>
            <a:endParaRPr lang="en-US" sz="1050" dirty="0"/>
          </a:p>
        </p:txBody>
      </p:sp>
      <p:sp>
        <p:nvSpPr>
          <p:cNvPr id="9" name="Shape 7"/>
          <p:cNvSpPr/>
          <p:nvPr/>
        </p:nvSpPr>
        <p:spPr>
          <a:xfrm>
            <a:off x="3369564" y="1627632"/>
            <a:ext cx="2619756" cy="2743200"/>
          </a:xfrm>
          <a:prstGeom prst="roundRect">
            <a:avLst>
              <a:gd name="adj" fmla="val 3141"/>
            </a:avLst>
          </a:prstGeom>
          <a:solidFill>
            <a:srgbClr val="FFFFFF"/>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10" name="Text 8"/>
          <p:cNvSpPr txBox="1"/>
          <p:nvPr/>
        </p:nvSpPr>
        <p:spPr>
          <a:xfrm>
            <a:off x="3589020" y="1828800"/>
            <a:ext cx="2180844" cy="237744"/>
          </a:xfrm>
          <a:prstGeom prst="rect">
            <a:avLst/>
          </a:prstGeom>
          <a:noFill/>
          <a:ln/>
        </p:spPr>
        <p:txBody>
          <a:bodyPr wrap="square" lIns="0" tIns="0" rIns="0" bIns="0" rtlCol="0" anchor="ctr"/>
          <a:lstStyle/>
          <a:p>
            <a:pPr marL="0" indent="0">
              <a:buNone/>
            </a:pPr>
            <a:r>
              <a:rPr lang="en-US" sz="1050" b="1" kern="0" spc="140" dirty="0">
                <a:solidFill>
                  <a:srgbClr val="DC6803"/>
                </a:solidFill>
                <a:latin typeface="Calibri" pitchFamily="34" charset="0"/>
                <a:ea typeface="Calibri" pitchFamily="34" charset="-122"/>
                <a:cs typeface="Calibri" pitchFamily="34" charset="-120"/>
              </a:rPr>
              <a:t>LAYER 2</a:t>
            </a:r>
            <a:endParaRPr lang="en-US" sz="1050" dirty="0"/>
          </a:p>
        </p:txBody>
      </p:sp>
      <p:sp>
        <p:nvSpPr>
          <p:cNvPr id="11" name="Text 9"/>
          <p:cNvSpPr txBox="1"/>
          <p:nvPr/>
        </p:nvSpPr>
        <p:spPr>
          <a:xfrm>
            <a:off x="3589020" y="2103120"/>
            <a:ext cx="2180844" cy="603504"/>
          </a:xfrm>
          <a:prstGeom prst="rect">
            <a:avLst/>
          </a:prstGeom>
          <a:noFill/>
          <a:ln/>
        </p:spPr>
        <p:txBody>
          <a:bodyPr wrap="square" lIns="0" tIns="0" rIns="0" bIns="0" rtlCol="0" anchor="t"/>
          <a:lstStyle/>
          <a:p>
            <a:pPr marL="0" indent="0">
              <a:lnSpc>
                <a:spcPct val="115000"/>
              </a:lnSpc>
              <a:buNone/>
            </a:pPr>
            <a:r>
              <a:rPr lang="en-US" sz="1550" b="1" dirty="0">
                <a:solidFill>
                  <a:srgbClr val="93370D"/>
                </a:solidFill>
                <a:latin typeface="Calibri" pitchFamily="34" charset="0"/>
                <a:ea typeface="Calibri" pitchFamily="34" charset="-122"/>
                <a:cs typeface="Calibri" pitchFamily="34" charset="-120"/>
              </a:rPr>
              <a:t>Input and output checks</a:t>
            </a:r>
            <a:endParaRPr lang="en-US" sz="1550" dirty="0"/>
          </a:p>
        </p:txBody>
      </p:sp>
      <p:sp>
        <p:nvSpPr>
          <p:cNvPr id="12" name="Text 10"/>
          <p:cNvSpPr txBox="1"/>
          <p:nvPr/>
        </p:nvSpPr>
        <p:spPr>
          <a:xfrm>
            <a:off x="3589020" y="2761488"/>
            <a:ext cx="2180844" cy="118872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Sensitive-field redaction and secret scanning run on every write, blocking on match rather than warning.</a:t>
            </a:r>
            <a:endParaRPr lang="en-US" sz="1200" dirty="0"/>
          </a:p>
        </p:txBody>
      </p:sp>
      <p:sp>
        <p:nvSpPr>
          <p:cNvPr id="13" name="Text 11"/>
          <p:cNvSpPr txBox="1"/>
          <p:nvPr/>
        </p:nvSpPr>
        <p:spPr>
          <a:xfrm>
            <a:off x="3589020" y="4005072"/>
            <a:ext cx="2180844" cy="256032"/>
          </a:xfrm>
          <a:prstGeom prst="rect">
            <a:avLst/>
          </a:prstGeom>
          <a:noFill/>
          <a:ln/>
        </p:spPr>
        <p:txBody>
          <a:bodyPr wrap="square" lIns="0" tIns="0" rIns="0" bIns="0" rtlCol="0" anchor="ctr"/>
          <a:lstStyle/>
          <a:p>
            <a:pPr marL="0" indent="0">
              <a:buNone/>
            </a:pPr>
            <a:r>
              <a:rPr lang="en-US" sz="1050" b="1" kern="0" spc="120" dirty="0">
                <a:solidFill>
                  <a:srgbClr val="68788A"/>
                </a:solidFill>
                <a:latin typeface="Calibri" pitchFamily="34" charset="0"/>
                <a:ea typeface="Calibri" pitchFamily="34" charset="-122"/>
                <a:cs typeface="Calibri" pitchFamily="34" charset="-120"/>
              </a:rPr>
              <a:t>Detective</a:t>
            </a:r>
            <a:endParaRPr lang="en-US" sz="1050" dirty="0"/>
          </a:p>
        </p:txBody>
      </p:sp>
      <p:sp>
        <p:nvSpPr>
          <p:cNvPr id="14" name="Shape 12"/>
          <p:cNvSpPr/>
          <p:nvPr/>
        </p:nvSpPr>
        <p:spPr>
          <a:xfrm>
            <a:off x="6172200" y="1627632"/>
            <a:ext cx="2619756" cy="2743200"/>
          </a:xfrm>
          <a:prstGeom prst="roundRect">
            <a:avLst>
              <a:gd name="adj" fmla="val 3141"/>
            </a:avLst>
          </a:prstGeom>
          <a:solidFill>
            <a:srgbClr val="FFFFFF"/>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15" name="Text 13"/>
          <p:cNvSpPr txBox="1"/>
          <p:nvPr/>
        </p:nvSpPr>
        <p:spPr>
          <a:xfrm>
            <a:off x="6391656" y="1828800"/>
            <a:ext cx="2180844" cy="237744"/>
          </a:xfrm>
          <a:prstGeom prst="rect">
            <a:avLst/>
          </a:prstGeom>
          <a:noFill/>
          <a:ln/>
        </p:spPr>
        <p:txBody>
          <a:bodyPr wrap="square" lIns="0" tIns="0" rIns="0" bIns="0" rtlCol="0" anchor="ctr"/>
          <a:lstStyle/>
          <a:p>
            <a:pPr marL="0" indent="0">
              <a:buNone/>
            </a:pPr>
            <a:r>
              <a:rPr lang="en-US" sz="1050" b="1" kern="0" spc="140" dirty="0">
                <a:solidFill>
                  <a:srgbClr val="DC6803"/>
                </a:solidFill>
                <a:latin typeface="Calibri" pitchFamily="34" charset="0"/>
                <a:ea typeface="Calibri" pitchFamily="34" charset="-122"/>
                <a:cs typeface="Calibri" pitchFamily="34" charset="-120"/>
              </a:rPr>
              <a:t>LAYER 3</a:t>
            </a:r>
            <a:endParaRPr lang="en-US" sz="1050" dirty="0"/>
          </a:p>
        </p:txBody>
      </p:sp>
      <p:sp>
        <p:nvSpPr>
          <p:cNvPr id="16" name="Text 14"/>
          <p:cNvSpPr txBox="1"/>
          <p:nvPr/>
        </p:nvSpPr>
        <p:spPr>
          <a:xfrm>
            <a:off x="6391656" y="2103120"/>
            <a:ext cx="2180844" cy="603504"/>
          </a:xfrm>
          <a:prstGeom prst="rect">
            <a:avLst/>
          </a:prstGeom>
          <a:noFill/>
          <a:ln/>
        </p:spPr>
        <p:txBody>
          <a:bodyPr wrap="square" lIns="0" tIns="0" rIns="0" bIns="0" rtlCol="0" anchor="t"/>
          <a:lstStyle/>
          <a:p>
            <a:pPr marL="0" indent="0">
              <a:lnSpc>
                <a:spcPct val="115000"/>
              </a:lnSpc>
              <a:buNone/>
            </a:pPr>
            <a:r>
              <a:rPr lang="en-US" sz="1550" b="1" dirty="0">
                <a:solidFill>
                  <a:srgbClr val="93370D"/>
                </a:solidFill>
                <a:latin typeface="Calibri" pitchFamily="34" charset="0"/>
                <a:ea typeface="Calibri" pitchFamily="34" charset="-122"/>
                <a:cs typeface="Calibri" pitchFamily="34" charset="-120"/>
              </a:rPr>
              <a:t>Injection defence</a:t>
            </a:r>
            <a:endParaRPr lang="en-US" sz="1550" dirty="0"/>
          </a:p>
        </p:txBody>
      </p:sp>
      <p:sp>
        <p:nvSpPr>
          <p:cNvPr id="17" name="Text 15"/>
          <p:cNvSpPr txBox="1"/>
          <p:nvPr/>
        </p:nvSpPr>
        <p:spPr>
          <a:xfrm>
            <a:off x="6391656" y="2761488"/>
            <a:ext cx="2180844" cy="118872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Untrusted content in a repository or ticket cannot alter an agent’s instructions or widen its reach.</a:t>
            </a:r>
            <a:endParaRPr lang="en-US" sz="1200" dirty="0"/>
          </a:p>
        </p:txBody>
      </p:sp>
      <p:sp>
        <p:nvSpPr>
          <p:cNvPr id="18" name="Text 16"/>
          <p:cNvSpPr txBox="1"/>
          <p:nvPr/>
        </p:nvSpPr>
        <p:spPr>
          <a:xfrm>
            <a:off x="6391656" y="4005072"/>
            <a:ext cx="2180844" cy="256032"/>
          </a:xfrm>
          <a:prstGeom prst="rect">
            <a:avLst/>
          </a:prstGeom>
          <a:noFill/>
          <a:ln/>
        </p:spPr>
        <p:txBody>
          <a:bodyPr wrap="square" lIns="0" tIns="0" rIns="0" bIns="0" rtlCol="0" anchor="ctr"/>
          <a:lstStyle/>
          <a:p>
            <a:pPr marL="0" indent="0">
              <a:buNone/>
            </a:pPr>
            <a:r>
              <a:rPr lang="en-US" sz="1050" b="1" kern="0" spc="120" dirty="0">
                <a:solidFill>
                  <a:srgbClr val="68788A"/>
                </a:solidFill>
                <a:latin typeface="Calibri" pitchFamily="34" charset="0"/>
                <a:ea typeface="Calibri" pitchFamily="34" charset="-122"/>
                <a:cs typeface="Calibri" pitchFamily="34" charset="-120"/>
              </a:rPr>
              <a:t>Preventive</a:t>
            </a:r>
            <a:endParaRPr lang="en-US" sz="1050" dirty="0"/>
          </a:p>
        </p:txBody>
      </p:sp>
      <p:sp>
        <p:nvSpPr>
          <p:cNvPr id="19" name="Shape 17"/>
          <p:cNvSpPr/>
          <p:nvPr/>
        </p:nvSpPr>
        <p:spPr>
          <a:xfrm>
            <a:off x="8974836" y="1627632"/>
            <a:ext cx="2619756" cy="2743200"/>
          </a:xfrm>
          <a:prstGeom prst="roundRect">
            <a:avLst>
              <a:gd name="adj" fmla="val 3141"/>
            </a:avLst>
          </a:prstGeom>
          <a:solidFill>
            <a:srgbClr val="FFF1F3"/>
          </a:solidFill>
          <a:ln w="20320">
            <a:solidFill>
              <a:srgbClr val="C01530"/>
            </a:solidFill>
            <a:prstDash val="solid"/>
          </a:ln>
          <a:effectLst>
            <a:outerShdw blurRad="76200" dist="12700" dir="5400000" algn="bl" rotWithShape="0">
              <a:srgbClr val="8894A5">
                <a:alpha val="7000"/>
              </a:srgbClr>
            </a:outerShdw>
          </a:effectLst>
        </p:spPr>
        <p:txBody>
          <a:bodyPr/>
          <a:lstStyle/>
          <a:p>
            <a:endParaRPr lang="en-IN"/>
          </a:p>
        </p:txBody>
      </p:sp>
      <p:sp>
        <p:nvSpPr>
          <p:cNvPr id="20" name="Text 18"/>
          <p:cNvSpPr txBox="1"/>
          <p:nvPr/>
        </p:nvSpPr>
        <p:spPr>
          <a:xfrm>
            <a:off x="9194292" y="1828800"/>
            <a:ext cx="2180844" cy="237744"/>
          </a:xfrm>
          <a:prstGeom prst="rect">
            <a:avLst/>
          </a:prstGeom>
          <a:noFill/>
          <a:ln/>
        </p:spPr>
        <p:txBody>
          <a:bodyPr wrap="square" lIns="0" tIns="0" rIns="0" bIns="0" rtlCol="0" anchor="ctr"/>
          <a:lstStyle/>
          <a:p>
            <a:pPr marL="0" indent="0">
              <a:buNone/>
            </a:pPr>
            <a:r>
              <a:rPr lang="en-US" sz="1050" b="1" kern="0" spc="140" dirty="0">
                <a:solidFill>
                  <a:srgbClr val="C01530"/>
                </a:solidFill>
                <a:latin typeface="Calibri" pitchFamily="34" charset="0"/>
                <a:ea typeface="Calibri" pitchFamily="34" charset="-122"/>
                <a:cs typeface="Calibri" pitchFamily="34" charset="-120"/>
              </a:rPr>
              <a:t>LAYER 4</a:t>
            </a:r>
            <a:endParaRPr lang="en-US" sz="1050" dirty="0"/>
          </a:p>
        </p:txBody>
      </p:sp>
      <p:sp>
        <p:nvSpPr>
          <p:cNvPr id="21" name="Text 19"/>
          <p:cNvSpPr txBox="1"/>
          <p:nvPr/>
        </p:nvSpPr>
        <p:spPr>
          <a:xfrm>
            <a:off x="9194292" y="2103120"/>
            <a:ext cx="2180844" cy="603504"/>
          </a:xfrm>
          <a:prstGeom prst="rect">
            <a:avLst/>
          </a:prstGeom>
          <a:noFill/>
          <a:ln/>
        </p:spPr>
        <p:txBody>
          <a:bodyPr wrap="square" lIns="0" tIns="0" rIns="0" bIns="0" rtlCol="0" anchor="t"/>
          <a:lstStyle/>
          <a:p>
            <a:pPr marL="0" indent="0">
              <a:lnSpc>
                <a:spcPct val="115000"/>
              </a:lnSpc>
              <a:buNone/>
            </a:pPr>
            <a:r>
              <a:rPr lang="en-US" sz="1550" b="1" dirty="0">
                <a:solidFill>
                  <a:srgbClr val="C01530"/>
                </a:solidFill>
                <a:latin typeface="Calibri" pitchFamily="34" charset="0"/>
                <a:ea typeface="Calibri" pitchFamily="34" charset="-122"/>
                <a:cs typeface="Calibri" pitchFamily="34" charset="-120"/>
              </a:rPr>
              <a:t>Capability removal</a:t>
            </a:r>
            <a:endParaRPr lang="en-US" sz="1550" dirty="0"/>
          </a:p>
        </p:txBody>
      </p:sp>
      <p:sp>
        <p:nvSpPr>
          <p:cNvPr id="22" name="Text 20"/>
          <p:cNvSpPr txBox="1"/>
          <p:nvPr/>
        </p:nvSpPr>
        <p:spPr>
          <a:xfrm>
            <a:off x="9194292" y="2761488"/>
            <a:ext cx="2180844" cy="1188720"/>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No agent can apply infrastructure, push to a protected branch, delete a file, or reach outside an allow-listed scope.</a:t>
            </a:r>
            <a:endParaRPr lang="en-US" sz="1200" dirty="0"/>
          </a:p>
        </p:txBody>
      </p:sp>
      <p:sp>
        <p:nvSpPr>
          <p:cNvPr id="23" name="Text 21"/>
          <p:cNvSpPr txBox="1"/>
          <p:nvPr/>
        </p:nvSpPr>
        <p:spPr>
          <a:xfrm>
            <a:off x="9194292" y="4005072"/>
            <a:ext cx="2180844" cy="256032"/>
          </a:xfrm>
          <a:prstGeom prst="rect">
            <a:avLst/>
          </a:prstGeom>
          <a:noFill/>
          <a:ln/>
        </p:spPr>
        <p:txBody>
          <a:bodyPr wrap="square" lIns="0" tIns="0" rIns="0" bIns="0" rtlCol="0" anchor="ctr"/>
          <a:lstStyle/>
          <a:p>
            <a:pPr marL="0" indent="0">
              <a:buNone/>
            </a:pPr>
            <a:r>
              <a:rPr lang="en-US" sz="1050" b="1" kern="0" spc="120" dirty="0">
                <a:solidFill>
                  <a:srgbClr val="68788A"/>
                </a:solidFill>
                <a:latin typeface="Calibri" pitchFamily="34" charset="0"/>
                <a:ea typeface="Calibri" pitchFamily="34" charset="-122"/>
                <a:cs typeface="Calibri" pitchFamily="34" charset="-120"/>
              </a:rPr>
              <a:t>Structural</a:t>
            </a:r>
            <a:endParaRPr lang="en-US" sz="1050" dirty="0"/>
          </a:p>
        </p:txBody>
      </p:sp>
      <p:sp>
        <p:nvSpPr>
          <p:cNvPr id="24" name="Shape 22"/>
          <p:cNvSpPr/>
          <p:nvPr/>
        </p:nvSpPr>
        <p:spPr>
          <a:xfrm>
            <a:off x="566928" y="4645152"/>
            <a:ext cx="11027664" cy="1060704"/>
          </a:xfrm>
          <a:prstGeom prst="roundRect">
            <a:avLst>
              <a:gd name="adj" fmla="val 8621"/>
            </a:avLst>
          </a:prstGeom>
          <a:solidFill>
            <a:srgbClr val="FFF1F3"/>
          </a:solidFill>
          <a:ln w="17780">
            <a:solidFill>
              <a:srgbClr val="F53E5A"/>
            </a:solidFill>
            <a:prstDash val="solid"/>
          </a:ln>
        </p:spPr>
        <p:txBody>
          <a:bodyPr/>
          <a:lstStyle/>
          <a:p>
            <a:endParaRPr lang="en-IN"/>
          </a:p>
        </p:txBody>
      </p:sp>
      <p:sp>
        <p:nvSpPr>
          <p:cNvPr id="25" name="Text 23"/>
          <p:cNvSpPr txBox="1"/>
          <p:nvPr/>
        </p:nvSpPr>
        <p:spPr>
          <a:xfrm>
            <a:off x="877824" y="4882896"/>
            <a:ext cx="10405872" cy="640080"/>
          </a:xfrm>
          <a:prstGeom prst="rect">
            <a:avLst/>
          </a:prstGeom>
          <a:noFill/>
          <a:ln/>
        </p:spPr>
        <p:txBody>
          <a:bodyPr wrap="square" lIns="0" tIns="0" rIns="0" bIns="0" rtlCol="0" anchor="ctr"/>
          <a:lstStyle/>
          <a:p>
            <a:pPr marL="0" indent="0">
              <a:lnSpc>
                <a:spcPct val="130000"/>
              </a:lnSpc>
              <a:buNone/>
            </a:pPr>
            <a:r>
              <a:rPr lang="en-US" sz="1450" b="1" dirty="0">
                <a:solidFill>
                  <a:srgbClr val="8C1A2B"/>
                </a:solidFill>
                <a:latin typeface="Calibri" pitchFamily="34" charset="0"/>
                <a:ea typeface="Calibri" pitchFamily="34" charset="-122"/>
                <a:cs typeface="Calibri" pitchFamily="34" charset="-120"/>
              </a:rPr>
              <a:t>The strongest guardrails are the ones that remove capability.  </a:t>
            </a:r>
            <a:r>
              <a:rPr lang="en-US" sz="1450" dirty="0">
                <a:solidFill>
                  <a:srgbClr val="A24A58"/>
                </a:solidFill>
                <a:latin typeface="Calibri" pitchFamily="34" charset="0"/>
                <a:ea typeface="Calibri" pitchFamily="34" charset="-122"/>
                <a:cs typeface="Calibri" pitchFamily="34" charset="-120"/>
              </a:rPr>
              <a:t>These are not instructions an agent is asked to follow, and not policies it can be argued out of. The capability does not exist in the environment the agent runs in.</a:t>
            </a:r>
            <a:endParaRPr lang="en-US" sz="1450" dirty="0"/>
          </a:p>
        </p:txBody>
      </p:sp>
      <p:pic>
        <p:nvPicPr>
          <p:cNvPr id="26"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27" name="Text 24"/>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28" name="Text 25"/>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Standards stop being tribal knowledge</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Engineering conventions codified as versioned files the organisation owns and edits</a:t>
            </a:r>
            <a:endParaRPr lang="en-US" sz="1450" dirty="0"/>
          </a:p>
        </p:txBody>
      </p:sp>
      <p:sp>
        <p:nvSpPr>
          <p:cNvPr id="4" name="Shape 2"/>
          <p:cNvSpPr/>
          <p:nvPr/>
        </p:nvSpPr>
        <p:spPr>
          <a:xfrm>
            <a:off x="566928" y="1645920"/>
            <a:ext cx="5486400" cy="841248"/>
          </a:xfrm>
          <a:prstGeom prst="roundRect">
            <a:avLst>
              <a:gd name="adj" fmla="val 9783"/>
            </a:avLst>
          </a:prstGeom>
          <a:solidFill>
            <a:srgbClr val="FFFFFF"/>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5" name="Text 3"/>
          <p:cNvSpPr txBox="1"/>
          <p:nvPr/>
        </p:nvSpPr>
        <p:spPr>
          <a:xfrm>
            <a:off x="804672" y="1773936"/>
            <a:ext cx="5010912" cy="274320"/>
          </a:xfrm>
          <a:prstGeom prst="rect">
            <a:avLst/>
          </a:prstGeom>
          <a:noFill/>
          <a:ln/>
        </p:spPr>
        <p:txBody>
          <a:bodyPr wrap="square" lIns="0" tIns="0" rIns="0" bIns="0" rtlCol="0" anchor="ctr"/>
          <a:lstStyle/>
          <a:p>
            <a:pPr marL="0" indent="0">
              <a:buNone/>
            </a:pPr>
            <a:r>
              <a:rPr lang="en-US" sz="1500" b="1" dirty="0">
                <a:solidFill>
                  <a:srgbClr val="047857"/>
                </a:solidFill>
                <a:latin typeface="Calibri" pitchFamily="34" charset="0"/>
                <a:ea typeface="Calibri" pitchFamily="34" charset="-122"/>
                <a:cs typeface="Calibri" pitchFamily="34" charset="-120"/>
              </a:rPr>
              <a:t>Steering files</a:t>
            </a:r>
            <a:endParaRPr lang="en-US" sz="1500" dirty="0"/>
          </a:p>
        </p:txBody>
      </p:sp>
      <p:sp>
        <p:nvSpPr>
          <p:cNvPr id="6" name="Text 4"/>
          <p:cNvSpPr txBox="1"/>
          <p:nvPr/>
        </p:nvSpPr>
        <p:spPr>
          <a:xfrm>
            <a:off x="804672" y="2066544"/>
            <a:ext cx="5010912" cy="365760"/>
          </a:xfrm>
          <a:prstGeom prst="rect">
            <a:avLst/>
          </a:prstGeom>
          <a:noFill/>
          <a:ln/>
        </p:spPr>
        <p:txBody>
          <a:bodyPr wrap="square" lIns="0" tIns="0" rIns="0" bIns="0" rtlCol="0" anchor="ctr"/>
          <a:lstStyle/>
          <a:p>
            <a:pPr marL="0" indent="0">
              <a:lnSpc>
                <a:spcPct val="125000"/>
              </a:lnSpc>
              <a:buNone/>
            </a:pPr>
            <a:r>
              <a:rPr lang="en-US" sz="1200" dirty="0">
                <a:solidFill>
                  <a:srgbClr val="68788A"/>
                </a:solidFill>
                <a:latin typeface="Calibri" pitchFamily="34" charset="0"/>
                <a:ea typeface="Calibri" pitchFamily="34" charset="-122"/>
                <a:cs typeface="Calibri" pitchFamily="34" charset="-120"/>
              </a:rPr>
              <a:t>Architecture, security and coding conventions, versioned alongside the code they govern.</a:t>
            </a:r>
            <a:endParaRPr lang="en-US" sz="1200" dirty="0"/>
          </a:p>
        </p:txBody>
      </p:sp>
      <p:sp>
        <p:nvSpPr>
          <p:cNvPr id="7" name="Shape 5"/>
          <p:cNvSpPr/>
          <p:nvPr/>
        </p:nvSpPr>
        <p:spPr>
          <a:xfrm>
            <a:off x="566928" y="2615184"/>
            <a:ext cx="5486400" cy="841248"/>
          </a:xfrm>
          <a:prstGeom prst="roundRect">
            <a:avLst>
              <a:gd name="adj" fmla="val 9783"/>
            </a:avLst>
          </a:prstGeom>
          <a:solidFill>
            <a:srgbClr val="FFFFFF"/>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8" name="Text 6"/>
          <p:cNvSpPr txBox="1"/>
          <p:nvPr/>
        </p:nvSpPr>
        <p:spPr>
          <a:xfrm>
            <a:off x="804672" y="2743200"/>
            <a:ext cx="5010912" cy="274320"/>
          </a:xfrm>
          <a:prstGeom prst="rect">
            <a:avLst/>
          </a:prstGeom>
          <a:noFill/>
          <a:ln/>
        </p:spPr>
        <p:txBody>
          <a:bodyPr wrap="square" lIns="0" tIns="0" rIns="0" bIns="0" rtlCol="0" anchor="ctr"/>
          <a:lstStyle/>
          <a:p>
            <a:pPr marL="0" indent="0">
              <a:buNone/>
            </a:pPr>
            <a:r>
              <a:rPr lang="en-US" sz="1500" b="1" dirty="0">
                <a:solidFill>
                  <a:srgbClr val="047857"/>
                </a:solidFill>
                <a:latin typeface="Calibri" pitchFamily="34" charset="0"/>
                <a:ea typeface="Calibri" pitchFamily="34" charset="-122"/>
                <a:cs typeface="Calibri" pitchFamily="34" charset="-120"/>
              </a:rPr>
              <a:t>Activatable skills</a:t>
            </a:r>
            <a:endParaRPr lang="en-US" sz="1500" dirty="0"/>
          </a:p>
        </p:txBody>
      </p:sp>
      <p:sp>
        <p:nvSpPr>
          <p:cNvPr id="9" name="Text 7"/>
          <p:cNvSpPr txBox="1"/>
          <p:nvPr/>
        </p:nvSpPr>
        <p:spPr>
          <a:xfrm>
            <a:off x="804672" y="3035808"/>
            <a:ext cx="5010912" cy="365760"/>
          </a:xfrm>
          <a:prstGeom prst="rect">
            <a:avLst/>
          </a:prstGeom>
          <a:noFill/>
          <a:ln/>
        </p:spPr>
        <p:txBody>
          <a:bodyPr wrap="square" lIns="0" tIns="0" rIns="0" bIns="0" rtlCol="0" anchor="ctr"/>
          <a:lstStyle/>
          <a:p>
            <a:pPr marL="0" indent="0">
              <a:lnSpc>
                <a:spcPct val="125000"/>
              </a:lnSpc>
              <a:buNone/>
            </a:pPr>
            <a:r>
              <a:rPr lang="en-US" sz="1200" dirty="0">
                <a:solidFill>
                  <a:srgbClr val="68788A"/>
                </a:solidFill>
                <a:latin typeface="Calibri" pitchFamily="34" charset="0"/>
                <a:ea typeface="Calibri" pitchFamily="34" charset="-122"/>
                <a:cs typeface="Calibri" pitchFamily="34" charset="-120"/>
              </a:rPr>
              <a:t>Named procedures an agent loads on demand, rather than carrying everything in its prompt.</a:t>
            </a:r>
            <a:endParaRPr lang="en-US" sz="1200" dirty="0"/>
          </a:p>
        </p:txBody>
      </p:sp>
      <p:sp>
        <p:nvSpPr>
          <p:cNvPr id="10" name="Shape 8"/>
          <p:cNvSpPr/>
          <p:nvPr/>
        </p:nvSpPr>
        <p:spPr>
          <a:xfrm>
            <a:off x="566928" y="3584448"/>
            <a:ext cx="5486400" cy="841248"/>
          </a:xfrm>
          <a:prstGeom prst="roundRect">
            <a:avLst>
              <a:gd name="adj" fmla="val 9783"/>
            </a:avLst>
          </a:prstGeom>
          <a:solidFill>
            <a:srgbClr val="FFFFFF"/>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11" name="Text 9"/>
          <p:cNvSpPr txBox="1"/>
          <p:nvPr/>
        </p:nvSpPr>
        <p:spPr>
          <a:xfrm>
            <a:off x="804672" y="3712464"/>
            <a:ext cx="5010912" cy="274320"/>
          </a:xfrm>
          <a:prstGeom prst="rect">
            <a:avLst/>
          </a:prstGeom>
          <a:noFill/>
          <a:ln/>
        </p:spPr>
        <p:txBody>
          <a:bodyPr wrap="square" lIns="0" tIns="0" rIns="0" bIns="0" rtlCol="0" anchor="ctr"/>
          <a:lstStyle/>
          <a:p>
            <a:pPr marL="0" indent="0">
              <a:buNone/>
            </a:pPr>
            <a:r>
              <a:rPr lang="en-US" sz="1500" b="1" dirty="0">
                <a:solidFill>
                  <a:srgbClr val="047857"/>
                </a:solidFill>
                <a:latin typeface="Calibri" pitchFamily="34" charset="0"/>
                <a:ea typeface="Calibri" pitchFamily="34" charset="-122"/>
                <a:cs typeface="Calibri" pitchFamily="34" charset="-120"/>
              </a:rPr>
              <a:t>Reference corpus</a:t>
            </a:r>
            <a:endParaRPr lang="en-US" sz="1500" dirty="0"/>
          </a:p>
        </p:txBody>
      </p:sp>
      <p:sp>
        <p:nvSpPr>
          <p:cNvPr id="12" name="Text 10"/>
          <p:cNvSpPr txBox="1"/>
          <p:nvPr/>
        </p:nvSpPr>
        <p:spPr>
          <a:xfrm>
            <a:off x="804672" y="4005072"/>
            <a:ext cx="5010912" cy="365760"/>
          </a:xfrm>
          <a:prstGeom prst="rect">
            <a:avLst/>
          </a:prstGeom>
          <a:noFill/>
          <a:ln/>
        </p:spPr>
        <p:txBody>
          <a:bodyPr wrap="square" lIns="0" tIns="0" rIns="0" bIns="0" rtlCol="0" anchor="ctr"/>
          <a:lstStyle/>
          <a:p>
            <a:pPr marL="0" indent="0">
              <a:lnSpc>
                <a:spcPct val="125000"/>
              </a:lnSpc>
              <a:buNone/>
            </a:pPr>
            <a:r>
              <a:rPr lang="en-US" sz="1200" dirty="0">
                <a:solidFill>
                  <a:srgbClr val="68788A"/>
                </a:solidFill>
                <a:latin typeface="Calibri" pitchFamily="34" charset="0"/>
                <a:ea typeface="Calibri" pitchFamily="34" charset="-122"/>
                <a:cs typeface="Calibri" pitchFamily="34" charset="-120"/>
              </a:rPr>
              <a:t>Domain and platform documentation resolved per turn and cached per session.</a:t>
            </a:r>
            <a:endParaRPr lang="en-US" sz="1200" dirty="0"/>
          </a:p>
        </p:txBody>
      </p:sp>
      <p:sp>
        <p:nvSpPr>
          <p:cNvPr id="13" name="Shape 11"/>
          <p:cNvSpPr/>
          <p:nvPr/>
        </p:nvSpPr>
        <p:spPr>
          <a:xfrm>
            <a:off x="566928" y="4626864"/>
            <a:ext cx="5486400" cy="1078992"/>
          </a:xfrm>
          <a:prstGeom prst="roundRect">
            <a:avLst>
              <a:gd name="adj" fmla="val 8475"/>
            </a:avLst>
          </a:prstGeom>
          <a:solidFill>
            <a:srgbClr val="E7F8F1"/>
          </a:solidFill>
          <a:ln w="12700">
            <a:solidFill>
              <a:srgbClr val="047857"/>
            </a:solidFill>
            <a:prstDash val="solid"/>
          </a:ln>
        </p:spPr>
        <p:txBody>
          <a:bodyPr/>
          <a:lstStyle/>
          <a:p>
            <a:endParaRPr lang="en-IN"/>
          </a:p>
        </p:txBody>
      </p:sp>
      <p:sp>
        <p:nvSpPr>
          <p:cNvPr id="14" name="Text 12"/>
          <p:cNvSpPr txBox="1"/>
          <p:nvPr/>
        </p:nvSpPr>
        <p:spPr>
          <a:xfrm>
            <a:off x="841248" y="4846320"/>
            <a:ext cx="4937760" cy="694944"/>
          </a:xfrm>
          <a:prstGeom prst="rect">
            <a:avLst/>
          </a:prstGeom>
          <a:noFill/>
          <a:ln/>
        </p:spPr>
        <p:txBody>
          <a:bodyPr wrap="square" lIns="0" tIns="0" rIns="0" bIns="0" rtlCol="0" anchor="ctr"/>
          <a:lstStyle/>
          <a:p>
            <a:pPr marL="0" indent="0">
              <a:lnSpc>
                <a:spcPct val="128000"/>
              </a:lnSpc>
              <a:buNone/>
            </a:pPr>
            <a:r>
              <a:rPr lang="en-US" sz="1350" i="1" dirty="0">
                <a:solidFill>
                  <a:srgbClr val="065F46"/>
                </a:solidFill>
                <a:latin typeface="Calibri" pitchFamily="34" charset="0"/>
                <a:ea typeface="Calibri" pitchFamily="34" charset="-122"/>
                <a:cs typeface="Calibri" pitchFamily="34" charset="-120"/>
              </a:rPr>
              <a:t>Generated code conforms to the organisation’s architecture and security conventions by construction — not because a reviewer catches deviations afterwards.</a:t>
            </a:r>
            <a:endParaRPr lang="en-US" sz="1350" dirty="0"/>
          </a:p>
        </p:txBody>
      </p:sp>
      <p:sp>
        <p:nvSpPr>
          <p:cNvPr id="15" name="Text 13"/>
          <p:cNvSpPr txBox="1"/>
          <p:nvPr/>
        </p:nvSpPr>
        <p:spPr>
          <a:xfrm>
            <a:off x="6510528" y="1700784"/>
            <a:ext cx="5084064" cy="365760"/>
          </a:xfrm>
          <a:prstGeom prst="rect">
            <a:avLst/>
          </a:prstGeom>
          <a:noFill/>
          <a:ln/>
        </p:spPr>
        <p:txBody>
          <a:bodyPr wrap="square" lIns="0" tIns="0" rIns="0" bIns="0" rtlCol="0" anchor="ctr"/>
          <a:lstStyle/>
          <a:p>
            <a:pPr marL="0" indent="0">
              <a:buNone/>
            </a:pPr>
            <a:r>
              <a:rPr lang="en-US" sz="2200" b="1" dirty="0">
                <a:solidFill>
                  <a:srgbClr val="0D1523"/>
                </a:solidFill>
                <a:latin typeface="Cambria" pitchFamily="34" charset="0"/>
                <a:ea typeface="Cambria" pitchFamily="34" charset="-122"/>
                <a:cs typeface="Cambria" pitchFamily="34" charset="-120"/>
              </a:rPr>
              <a:t>Two consequences</a:t>
            </a:r>
            <a:endParaRPr lang="en-US" sz="2200" dirty="0"/>
          </a:p>
        </p:txBody>
      </p:sp>
      <p:sp>
        <p:nvSpPr>
          <p:cNvPr id="16" name="Shape 14"/>
          <p:cNvSpPr/>
          <p:nvPr/>
        </p:nvSpPr>
        <p:spPr>
          <a:xfrm>
            <a:off x="6510528" y="2231136"/>
            <a:ext cx="5084064" cy="1517904"/>
          </a:xfrm>
          <a:prstGeom prst="roundRect">
            <a:avLst>
              <a:gd name="adj" fmla="val 5422"/>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17" name="Text 15"/>
          <p:cNvSpPr txBox="1"/>
          <p:nvPr/>
        </p:nvSpPr>
        <p:spPr>
          <a:xfrm>
            <a:off x="6766560" y="2414016"/>
            <a:ext cx="4572000" cy="292608"/>
          </a:xfrm>
          <a:prstGeom prst="rect">
            <a:avLst/>
          </a:prstGeom>
          <a:noFill/>
          <a:ln/>
        </p:spPr>
        <p:txBody>
          <a:bodyPr wrap="square" lIns="0" tIns="0" rIns="0" bIns="0" rtlCol="0" anchor="ctr"/>
          <a:lstStyle/>
          <a:p>
            <a:pPr marL="0" indent="0">
              <a:buNone/>
            </a:pPr>
            <a:r>
              <a:rPr lang="en-US" sz="1600" b="1" dirty="0">
                <a:solidFill>
                  <a:srgbClr val="0086E6"/>
                </a:solidFill>
                <a:latin typeface="Calibri" pitchFamily="34" charset="0"/>
                <a:ea typeface="Calibri" pitchFamily="34" charset="-122"/>
                <a:cs typeface="Calibri" pitchFamily="34" charset="-120"/>
              </a:rPr>
              <a:t>Compliance moves left</a:t>
            </a:r>
            <a:endParaRPr lang="en-US" sz="1600" dirty="0"/>
          </a:p>
        </p:txBody>
      </p:sp>
      <p:sp>
        <p:nvSpPr>
          <p:cNvPr id="18" name="Text 16"/>
          <p:cNvSpPr txBox="1"/>
          <p:nvPr/>
        </p:nvSpPr>
        <p:spPr>
          <a:xfrm>
            <a:off x="6766560" y="2743200"/>
            <a:ext cx="4572000" cy="914400"/>
          </a:xfrm>
          <a:prstGeom prst="rect">
            <a:avLst/>
          </a:prstGeom>
          <a:noFill/>
          <a:ln/>
        </p:spPr>
        <p:txBody>
          <a:bodyPr wrap="square" lIns="0" tIns="0" rIns="0" bIns="0" rtlCol="0" anchor="t"/>
          <a:lstStyle/>
          <a:p>
            <a:pPr marL="0" indent="0">
              <a:lnSpc>
                <a:spcPct val="132000"/>
              </a:lnSpc>
              <a:buNone/>
            </a:pPr>
            <a:r>
              <a:rPr lang="en-US" sz="1250" dirty="0">
                <a:solidFill>
                  <a:srgbClr val="16202C"/>
                </a:solidFill>
                <a:latin typeface="Calibri" pitchFamily="34" charset="0"/>
                <a:ea typeface="Calibri" pitchFamily="34" charset="-122"/>
                <a:cs typeface="Calibri" pitchFamily="34" charset="-120"/>
              </a:rPr>
              <a:t>Conformance happens in the act of building rather than in review. Mechanical findings — naming, boundary violations, missing authorisation checks, over-privileged infrastructure — are resolved before a human opens the change.</a:t>
            </a:r>
            <a:endParaRPr lang="en-US" sz="1250" dirty="0"/>
          </a:p>
        </p:txBody>
      </p:sp>
      <p:sp>
        <p:nvSpPr>
          <p:cNvPr id="19" name="Shape 17"/>
          <p:cNvSpPr/>
          <p:nvPr/>
        </p:nvSpPr>
        <p:spPr>
          <a:xfrm>
            <a:off x="6510528" y="3931920"/>
            <a:ext cx="5084064" cy="1517904"/>
          </a:xfrm>
          <a:prstGeom prst="roundRect">
            <a:avLst>
              <a:gd name="adj" fmla="val 5422"/>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20" name="Text 18"/>
          <p:cNvSpPr txBox="1"/>
          <p:nvPr/>
        </p:nvSpPr>
        <p:spPr>
          <a:xfrm>
            <a:off x="6766560" y="4114800"/>
            <a:ext cx="4572000" cy="292608"/>
          </a:xfrm>
          <a:prstGeom prst="rect">
            <a:avLst/>
          </a:prstGeom>
          <a:noFill/>
          <a:ln/>
        </p:spPr>
        <p:txBody>
          <a:bodyPr wrap="square" lIns="0" tIns="0" rIns="0" bIns="0" rtlCol="0" anchor="ctr"/>
          <a:lstStyle/>
          <a:p>
            <a:pPr marL="0" indent="0">
              <a:buNone/>
            </a:pPr>
            <a:r>
              <a:rPr lang="en-US" sz="1600" b="1" dirty="0">
                <a:solidFill>
                  <a:srgbClr val="0086E6"/>
                </a:solidFill>
                <a:latin typeface="Calibri" pitchFamily="34" charset="0"/>
                <a:ea typeface="Calibri" pitchFamily="34" charset="-122"/>
                <a:cs typeface="Calibri" pitchFamily="34" charset="-120"/>
              </a:rPr>
              <a:t>The organisation owns the behaviour</a:t>
            </a:r>
            <a:endParaRPr lang="en-US" sz="1600" dirty="0"/>
          </a:p>
        </p:txBody>
      </p:sp>
      <p:sp>
        <p:nvSpPr>
          <p:cNvPr id="21" name="Text 19"/>
          <p:cNvSpPr txBox="1"/>
          <p:nvPr/>
        </p:nvSpPr>
        <p:spPr>
          <a:xfrm>
            <a:off x="6766560" y="4443984"/>
            <a:ext cx="4572000" cy="914400"/>
          </a:xfrm>
          <a:prstGeom prst="rect">
            <a:avLst/>
          </a:prstGeom>
          <a:noFill/>
          <a:ln/>
        </p:spPr>
        <p:txBody>
          <a:bodyPr wrap="square" lIns="0" tIns="0" rIns="0" bIns="0" rtlCol="0" anchor="t"/>
          <a:lstStyle/>
          <a:p>
            <a:pPr marL="0" indent="0">
              <a:lnSpc>
                <a:spcPct val="132000"/>
              </a:lnSpc>
              <a:buNone/>
            </a:pPr>
            <a:r>
              <a:rPr lang="en-US" sz="1250" dirty="0">
                <a:solidFill>
                  <a:srgbClr val="16202C"/>
                </a:solidFill>
                <a:latin typeface="Calibri" pitchFamily="34" charset="0"/>
                <a:ea typeface="Calibri" pitchFamily="34" charset="-122"/>
                <a:cs typeface="Calibri" pitchFamily="34" charset="-120"/>
              </a:rPr>
              <a:t>No behaviour is hardcoded. Engineers change what the agents do by editing a versioned file. No retraining, no redeployment, and no dependency on us to evolve it.</a:t>
            </a:r>
            <a:endParaRPr lang="en-US" sz="1250" dirty="0"/>
          </a:p>
        </p:txBody>
      </p:sp>
      <p:pic>
        <p:nvPicPr>
          <p:cNvPr id="22"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23" name="Text 20"/>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24" name="Text 21"/>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The differentiator: observability of the decision</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Most systems log what the agent did. Better ones log what a human approved. Very few capture why.</a:t>
            </a:r>
            <a:endParaRPr lang="en-US" sz="1450" dirty="0"/>
          </a:p>
        </p:txBody>
      </p:sp>
      <p:sp>
        <p:nvSpPr>
          <p:cNvPr id="4" name="Shape 2"/>
          <p:cNvSpPr/>
          <p:nvPr/>
        </p:nvSpPr>
        <p:spPr>
          <a:xfrm>
            <a:off x="566928" y="1591056"/>
            <a:ext cx="11027664" cy="841248"/>
          </a:xfrm>
          <a:prstGeom prst="roundRect">
            <a:avLst>
              <a:gd name="adj" fmla="val 10870"/>
            </a:avLst>
          </a:prstGeom>
          <a:solidFill>
            <a:srgbClr val="F8EDFE"/>
          </a:solidFill>
          <a:ln w="12700">
            <a:solidFill>
              <a:srgbClr val="9333EA"/>
            </a:solidFill>
            <a:prstDash val="solid"/>
          </a:ln>
        </p:spPr>
        <p:txBody>
          <a:bodyPr/>
          <a:lstStyle/>
          <a:p>
            <a:endParaRPr lang="en-IN"/>
          </a:p>
        </p:txBody>
      </p:sp>
      <p:sp>
        <p:nvSpPr>
          <p:cNvPr id="5" name="Text 3"/>
          <p:cNvSpPr txBox="1"/>
          <p:nvPr/>
        </p:nvSpPr>
        <p:spPr>
          <a:xfrm>
            <a:off x="877824" y="1773936"/>
            <a:ext cx="10405872" cy="512064"/>
          </a:xfrm>
          <a:prstGeom prst="rect">
            <a:avLst/>
          </a:prstGeom>
          <a:noFill/>
          <a:ln/>
        </p:spPr>
        <p:txBody>
          <a:bodyPr wrap="square" lIns="0" tIns="0" rIns="0" bIns="0" rtlCol="0" anchor="ctr"/>
          <a:lstStyle/>
          <a:p>
            <a:pPr marL="0" indent="0">
              <a:lnSpc>
                <a:spcPct val="128000"/>
              </a:lnSpc>
              <a:buNone/>
            </a:pPr>
            <a:r>
              <a:rPr lang="en-US" sz="1450" dirty="0">
                <a:solidFill>
                  <a:srgbClr val="6B21A8"/>
                </a:solidFill>
                <a:latin typeface="Calibri" pitchFamily="34" charset="0"/>
                <a:ea typeface="Calibri" pitchFamily="34" charset="-122"/>
                <a:cs typeface="Calibri" pitchFamily="34" charset="-120"/>
              </a:rPr>
              <a:t>When context is thin an agent halts and asks — recording the options it considered, which one the approver chose, their stated reason, and how long they took to decide.</a:t>
            </a:r>
            <a:endParaRPr lang="en-US" sz="1450" dirty="0"/>
          </a:p>
        </p:txBody>
      </p:sp>
      <p:sp>
        <p:nvSpPr>
          <p:cNvPr id="6" name="Text 4"/>
          <p:cNvSpPr txBox="1"/>
          <p:nvPr/>
        </p:nvSpPr>
        <p:spPr>
          <a:xfrm>
            <a:off x="566928" y="2596896"/>
            <a:ext cx="11027664" cy="365760"/>
          </a:xfrm>
          <a:prstGeom prst="rect">
            <a:avLst/>
          </a:prstGeom>
          <a:noFill/>
          <a:ln/>
        </p:spPr>
        <p:txBody>
          <a:bodyPr wrap="square" lIns="0" tIns="0" rIns="0" bIns="0" rtlCol="0" anchor="ctr"/>
          <a:lstStyle/>
          <a:p>
            <a:pPr marL="0" indent="0">
              <a:buNone/>
            </a:pPr>
            <a:r>
              <a:rPr lang="en-US" sz="1400" dirty="0">
                <a:solidFill>
                  <a:srgbClr val="16202C"/>
                </a:solidFill>
                <a:latin typeface="Calibri" pitchFamily="34" charset="0"/>
                <a:ea typeface="Calibri" pitchFamily="34" charset="-122"/>
                <a:cs typeface="Calibri" pitchFamily="34" charset="-120"/>
              </a:rPr>
              <a:t>Asking who approved a change identifies a person without identifying a cause. With decision context captured, four genuinely different failures separate — and each has a different remedy.</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3054096"/>
          <a:ext cx="11027664" cy="2251456"/>
        </p:xfrm>
        <a:graphic>
          <a:graphicData uri="http://schemas.openxmlformats.org/drawingml/2006/table">
            <a:tbl>
              <a:tblPr/>
              <a:tblGrid>
                <a:gridCol w="3200400">
                  <a:extLst>
                    <a:ext uri="{9D8B030D-6E8A-4147-A177-3AD203B41FA5}">
                      <a16:colId xmlns:a16="http://schemas.microsoft.com/office/drawing/2014/main" val="20000"/>
                    </a:ext>
                  </a:extLst>
                </a:gridCol>
                <a:gridCol w="7827264">
                  <a:extLst>
                    <a:ext uri="{9D8B030D-6E8A-4147-A177-3AD203B41FA5}">
                      <a16:colId xmlns:a16="http://schemas.microsoft.com/office/drawing/2014/main" val="20001"/>
                    </a:ext>
                  </a:extLst>
                </a:gridCol>
              </a:tblGrid>
              <a:tr h="42062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went wrong</a:t>
                      </a:r>
                      <a:endParaRPr lang="en-US" sz="125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D152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to actually fix</a:t>
                      </a:r>
                      <a:endParaRPr lang="en-US" sz="125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0D1523"/>
                    </a:solidFill>
                  </a:tcPr>
                </a:tc>
                <a:extLst>
                  <a:ext uri="{0D108BD9-81ED-4DB2-BD59-A6C34878D82A}">
                    <a16:rowId xmlns:a16="http://schemas.microsoft.com/office/drawing/2014/main" val="10000"/>
                  </a:ext>
                </a:extLst>
              </a:tr>
              <a:tr h="420624">
                <a:tc>
                  <a:txBody>
                    <a:bodyPr/>
                    <a:lstStyle/>
                    <a:p>
                      <a:pPr marL="0" indent="0">
                        <a:buNone/>
                      </a:pPr>
                      <a:r>
                        <a:rPr lang="en-US" sz="1200" b="1" dirty="0">
                          <a:solidFill>
                            <a:srgbClr val="0D1523"/>
                          </a:solidFill>
                          <a:latin typeface="Calibri" pitchFamily="34" charset="0"/>
                          <a:ea typeface="Calibri" pitchFamily="34" charset="-122"/>
                          <a:cs typeface="Calibri" pitchFamily="34" charset="-120"/>
                        </a:rPr>
                        <a:t>The evidence was wrong</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00" dirty="0">
                          <a:solidFill>
                            <a:srgbClr val="16202C"/>
                          </a:solidFill>
                          <a:latin typeface="Calibri" pitchFamily="34" charset="0"/>
                          <a:ea typeface="Calibri" pitchFamily="34" charset="-122"/>
                          <a:cs typeface="Calibri" pitchFamily="34" charset="-120"/>
                        </a:rPr>
                        <a:t>The knowledge source. The approver acted correctly on what they were shown.</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0D1523"/>
                          </a:solidFill>
                          <a:latin typeface="Calibri" pitchFamily="34" charset="0"/>
                          <a:ea typeface="Calibri" pitchFamily="34" charset="-122"/>
                          <a:cs typeface="Calibri" pitchFamily="34" charset="-120"/>
                        </a:rPr>
                        <a:t>The option was missing</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3F7FB"/>
                    </a:solidFill>
                  </a:tcPr>
                </a:tc>
                <a:tc>
                  <a:txBody>
                    <a:bodyPr/>
                    <a:lstStyle/>
                    <a:p>
                      <a:pPr marL="0" indent="0">
                        <a:buNone/>
                      </a:pPr>
                      <a:r>
                        <a:rPr lang="en-US" sz="1200" dirty="0">
                          <a:solidFill>
                            <a:srgbClr val="16202C"/>
                          </a:solidFill>
                          <a:latin typeface="Calibri" pitchFamily="34" charset="0"/>
                          <a:ea typeface="Calibri" pitchFamily="34" charset="-122"/>
                          <a:cs typeface="Calibri" pitchFamily="34" charset="-120"/>
                        </a:rPr>
                        <a:t>The agent’s option generation. No amount of human diligence recovers an option never offered.</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3F7FB"/>
                    </a:solidFill>
                  </a:tcPr>
                </a:tc>
                <a:extLst>
                  <a:ext uri="{0D108BD9-81ED-4DB2-BD59-A6C34878D82A}">
                    <a16:rowId xmlns:a16="http://schemas.microsoft.com/office/drawing/2014/main" val="10002"/>
                  </a:ext>
                </a:extLst>
              </a:tr>
              <a:tr h="420624">
                <a:tc>
                  <a:txBody>
                    <a:bodyPr/>
                    <a:lstStyle/>
                    <a:p>
                      <a:pPr marL="0" indent="0">
                        <a:buNone/>
                      </a:pPr>
                      <a:r>
                        <a:rPr lang="en-US" sz="1200" b="1" dirty="0">
                          <a:solidFill>
                            <a:srgbClr val="0D1523"/>
                          </a:solidFill>
                          <a:latin typeface="Calibri" pitchFamily="34" charset="0"/>
                          <a:ea typeface="Calibri" pitchFamily="34" charset="-122"/>
                          <a:cs typeface="Calibri" pitchFamily="34" charset="-120"/>
                        </a:rPr>
                        <a:t>The standard was wrong</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00" dirty="0">
                          <a:solidFill>
                            <a:srgbClr val="16202C"/>
                          </a:solidFill>
                          <a:latin typeface="Calibri" pitchFamily="34" charset="0"/>
                          <a:ea typeface="Calibri" pitchFamily="34" charset="-122"/>
                          <a:cs typeface="Calibri" pitchFamily="34" charset="-120"/>
                        </a:rPr>
                        <a:t>The steering file — and because standards are versioned, every decision made under the old rule can be found and re-examined as a set.</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00" b="1" dirty="0">
                          <a:solidFill>
                            <a:srgbClr val="0D1523"/>
                          </a:solidFill>
                          <a:latin typeface="Calibri" pitchFamily="34" charset="0"/>
                          <a:ea typeface="Calibri" pitchFamily="34" charset="-122"/>
                          <a:cs typeface="Calibri" pitchFamily="34" charset="-120"/>
                        </a:rPr>
                        <a:t>The judgement was wrong</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3F7FB"/>
                    </a:solidFill>
                  </a:tcPr>
                </a:tc>
                <a:tc>
                  <a:txBody>
                    <a:bodyPr/>
                    <a:lstStyle/>
                    <a:p>
                      <a:pPr marL="0" indent="0">
                        <a:buNone/>
                      </a:pPr>
                      <a:r>
                        <a:rPr lang="en-US" sz="1200" dirty="0">
                          <a:solidFill>
                            <a:srgbClr val="16202C"/>
                          </a:solidFill>
                          <a:latin typeface="Calibri" pitchFamily="34" charset="0"/>
                          <a:ea typeface="Calibri" pitchFamily="34" charset="-122"/>
                          <a:cs typeface="Calibri" pitchFamily="34" charset="-120"/>
                        </a:rPr>
                        <a:t>Coaching, or raise the threshold on that gate. The only one of the four actually about the person.</a:t>
                      </a:r>
                      <a:endParaRPr lang="en-US" sz="1200" dirty="0">
                        <a:latin typeface="Calibri" charset="0"/>
                        <a:ea typeface="Calibri" charset="0"/>
                        <a:cs typeface="Calibri" charset="0"/>
                      </a:endParaRPr>
                    </a:p>
                  </a:txBody>
                  <a:tcPr marL="101600" marR="101600" marT="101600" marB="101600" anchor="ctr">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3F7FB"/>
                    </a:solidFill>
                  </a:tcPr>
                </a:tc>
                <a:extLst>
                  <a:ext uri="{0D108BD9-81ED-4DB2-BD59-A6C34878D82A}">
                    <a16:rowId xmlns:a16="http://schemas.microsoft.com/office/drawing/2014/main" val="10004"/>
                  </a:ext>
                </a:extLst>
              </a:tr>
            </a:tbl>
          </a:graphicData>
        </a:graphic>
      </p:graphicFrame>
      <p:sp>
        <p:nvSpPr>
          <p:cNvPr id="8" name="Shape 5"/>
          <p:cNvSpPr/>
          <p:nvPr/>
        </p:nvSpPr>
        <p:spPr>
          <a:xfrm>
            <a:off x="566928" y="5504688"/>
            <a:ext cx="11027664" cy="603504"/>
          </a:xfrm>
          <a:prstGeom prst="roundRect">
            <a:avLst>
              <a:gd name="adj" fmla="val 13636"/>
            </a:avLst>
          </a:prstGeom>
          <a:solidFill>
            <a:srgbClr val="FFF1F3"/>
          </a:solidFill>
          <a:ln w="12700">
            <a:solidFill>
              <a:srgbClr val="F53E5A"/>
            </a:solidFill>
            <a:prstDash val="solid"/>
          </a:ln>
        </p:spPr>
        <p:txBody>
          <a:bodyPr/>
          <a:lstStyle/>
          <a:p>
            <a:endParaRPr lang="en-IN"/>
          </a:p>
        </p:txBody>
      </p:sp>
      <p:sp>
        <p:nvSpPr>
          <p:cNvPr id="9" name="Text 6"/>
          <p:cNvSpPr txBox="1"/>
          <p:nvPr/>
        </p:nvSpPr>
        <p:spPr>
          <a:xfrm>
            <a:off x="841248" y="5596128"/>
            <a:ext cx="10479024" cy="438912"/>
          </a:xfrm>
          <a:prstGeom prst="rect">
            <a:avLst/>
          </a:prstGeom>
          <a:noFill/>
          <a:ln/>
        </p:spPr>
        <p:txBody>
          <a:bodyPr wrap="square" lIns="0" tIns="0" rIns="0" bIns="0" rtlCol="0" anchor="ctr"/>
          <a:lstStyle/>
          <a:p>
            <a:pPr marL="0" indent="0">
              <a:lnSpc>
                <a:spcPct val="120000"/>
              </a:lnSpc>
              <a:buNone/>
            </a:pPr>
            <a:r>
              <a:rPr lang="en-US" sz="1250" i="1" dirty="0">
                <a:solidFill>
                  <a:srgbClr val="8C1A2B"/>
                </a:solidFill>
                <a:latin typeface="Calibri" pitchFamily="34" charset="0"/>
                <a:ea typeface="Calibri" pitchFamily="34" charset="-122"/>
                <a:cs typeface="Calibri" pitchFamily="34" charset="-120"/>
              </a:rPr>
              <a:t>Three of the four are system defects no individual could have prevented. Without decision context all four look identical in hindsight — and the reflexive response is more process for everybody, which makes delivery slower without making it safer.</a:t>
            </a:r>
            <a:endParaRPr lang="en-US" sz="1250" dirty="0"/>
          </a:p>
        </p:txBody>
      </p:sp>
      <p:pic>
        <p:nvPicPr>
          <p:cNvPr id="7"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11" name="Text 7"/>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12" name="Text 8"/>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What the organisation gets</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Outcomes the pattern is built to produce — stated without reference to commercial figures</a:t>
            </a:r>
            <a:endParaRPr lang="en-US" sz="1450" dirty="0"/>
          </a:p>
        </p:txBody>
      </p:sp>
      <p:sp>
        <p:nvSpPr>
          <p:cNvPr id="4" name="Shape 2"/>
          <p:cNvSpPr/>
          <p:nvPr/>
        </p:nvSpPr>
        <p:spPr>
          <a:xfrm>
            <a:off x="566928" y="1627632"/>
            <a:ext cx="3553968" cy="1865376"/>
          </a:xfrm>
          <a:prstGeom prst="roundRect">
            <a:avLst>
              <a:gd name="adj" fmla="val 4412"/>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5" name="Shape 3"/>
          <p:cNvSpPr/>
          <p:nvPr/>
        </p:nvSpPr>
        <p:spPr>
          <a:xfrm>
            <a:off x="804672" y="1883664"/>
            <a:ext cx="292608" cy="45720"/>
          </a:xfrm>
          <a:prstGeom prst="rect">
            <a:avLst/>
          </a:prstGeom>
          <a:solidFill>
            <a:srgbClr val="0086E6"/>
          </a:solidFill>
          <a:ln/>
        </p:spPr>
        <p:txBody>
          <a:bodyPr/>
          <a:lstStyle/>
          <a:p>
            <a:endParaRPr lang="en-IN"/>
          </a:p>
        </p:txBody>
      </p:sp>
      <p:sp>
        <p:nvSpPr>
          <p:cNvPr id="6" name="Text 4"/>
          <p:cNvSpPr txBox="1"/>
          <p:nvPr/>
        </p:nvSpPr>
        <p:spPr>
          <a:xfrm>
            <a:off x="804672" y="2048256"/>
            <a:ext cx="3078480" cy="566928"/>
          </a:xfrm>
          <a:prstGeom prst="rect">
            <a:avLst/>
          </a:prstGeom>
          <a:noFill/>
          <a:ln/>
        </p:spPr>
        <p:txBody>
          <a:bodyPr wrap="square" lIns="0" tIns="0" rIns="0" bIns="0" rtlCol="0" anchor="t"/>
          <a:lstStyle/>
          <a:p>
            <a:pPr marL="0" indent="0">
              <a:lnSpc>
                <a:spcPct val="115000"/>
              </a:lnSpc>
              <a:buNone/>
            </a:pPr>
            <a:r>
              <a:rPr lang="en-US" sz="1550" b="1" dirty="0">
                <a:solidFill>
                  <a:srgbClr val="0086E6"/>
                </a:solidFill>
                <a:latin typeface="Calibri" pitchFamily="34" charset="0"/>
                <a:ea typeface="Calibri" pitchFamily="34" charset="-122"/>
                <a:cs typeface="Calibri" pitchFamily="34" charset="-120"/>
              </a:rPr>
              <a:t>Conformance by construction</a:t>
            </a:r>
            <a:endParaRPr lang="en-US" sz="1550" dirty="0"/>
          </a:p>
        </p:txBody>
      </p:sp>
      <p:sp>
        <p:nvSpPr>
          <p:cNvPr id="7" name="Text 5"/>
          <p:cNvSpPr txBox="1"/>
          <p:nvPr/>
        </p:nvSpPr>
        <p:spPr>
          <a:xfrm>
            <a:off x="804672" y="2383306"/>
            <a:ext cx="3078480" cy="768096"/>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Compliance moves out of review and into the act of building, enforced against the organisation’s own codified standards.</a:t>
            </a:r>
            <a:endParaRPr lang="en-US" sz="1200" dirty="0"/>
          </a:p>
        </p:txBody>
      </p:sp>
      <p:sp>
        <p:nvSpPr>
          <p:cNvPr id="8" name="Shape 6"/>
          <p:cNvSpPr/>
          <p:nvPr/>
        </p:nvSpPr>
        <p:spPr>
          <a:xfrm>
            <a:off x="4303776" y="1627632"/>
            <a:ext cx="3553968" cy="1865376"/>
          </a:xfrm>
          <a:prstGeom prst="roundRect">
            <a:avLst>
              <a:gd name="adj" fmla="val 4412"/>
            </a:avLst>
          </a:prstGeom>
          <a:solidFill>
            <a:srgbClr val="FFFFFF"/>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9" name="Shape 7"/>
          <p:cNvSpPr/>
          <p:nvPr/>
        </p:nvSpPr>
        <p:spPr>
          <a:xfrm>
            <a:off x="4541520" y="1883664"/>
            <a:ext cx="292608" cy="45720"/>
          </a:xfrm>
          <a:prstGeom prst="rect">
            <a:avLst/>
          </a:prstGeom>
          <a:solidFill>
            <a:srgbClr val="047857"/>
          </a:solidFill>
          <a:ln/>
        </p:spPr>
        <p:txBody>
          <a:bodyPr/>
          <a:lstStyle/>
          <a:p>
            <a:endParaRPr lang="en-IN"/>
          </a:p>
        </p:txBody>
      </p:sp>
      <p:sp>
        <p:nvSpPr>
          <p:cNvPr id="10" name="Text 8"/>
          <p:cNvSpPr txBox="1"/>
          <p:nvPr/>
        </p:nvSpPr>
        <p:spPr>
          <a:xfrm>
            <a:off x="4541520" y="2048256"/>
            <a:ext cx="3078480" cy="566928"/>
          </a:xfrm>
          <a:prstGeom prst="rect">
            <a:avLst/>
          </a:prstGeom>
          <a:noFill/>
          <a:ln/>
        </p:spPr>
        <p:txBody>
          <a:bodyPr wrap="square" lIns="0" tIns="0" rIns="0" bIns="0" rtlCol="0" anchor="t"/>
          <a:lstStyle/>
          <a:p>
            <a:pPr marL="0" indent="0">
              <a:lnSpc>
                <a:spcPct val="115000"/>
              </a:lnSpc>
              <a:buNone/>
            </a:pPr>
            <a:r>
              <a:rPr lang="en-US" sz="1550" b="1" dirty="0">
                <a:solidFill>
                  <a:srgbClr val="047857"/>
                </a:solidFill>
                <a:latin typeface="Calibri" pitchFamily="34" charset="0"/>
                <a:ea typeface="Calibri" pitchFamily="34" charset="-122"/>
                <a:cs typeface="Calibri" pitchFamily="34" charset="-120"/>
              </a:rPr>
              <a:t>Standards become durable</a:t>
            </a:r>
            <a:endParaRPr lang="en-US" sz="1550" dirty="0"/>
          </a:p>
        </p:txBody>
      </p:sp>
      <p:sp>
        <p:nvSpPr>
          <p:cNvPr id="11" name="Text 9"/>
          <p:cNvSpPr txBox="1"/>
          <p:nvPr/>
        </p:nvSpPr>
        <p:spPr>
          <a:xfrm>
            <a:off x="4541520" y="2391937"/>
            <a:ext cx="3078480" cy="768096"/>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Written down, versioned and reviewable — readable by a new engineer as easily as by an agent, no longer held by a handful of senior reviewers.</a:t>
            </a:r>
            <a:endParaRPr lang="en-US" sz="1200" dirty="0"/>
          </a:p>
        </p:txBody>
      </p:sp>
      <p:sp>
        <p:nvSpPr>
          <p:cNvPr id="12" name="Shape 10"/>
          <p:cNvSpPr/>
          <p:nvPr/>
        </p:nvSpPr>
        <p:spPr>
          <a:xfrm>
            <a:off x="8040624" y="1627632"/>
            <a:ext cx="3553968" cy="1865376"/>
          </a:xfrm>
          <a:prstGeom prst="roundRect">
            <a:avLst>
              <a:gd name="adj" fmla="val 4412"/>
            </a:avLst>
          </a:prstGeom>
          <a:solidFill>
            <a:srgbClr val="FFFFFF"/>
          </a:solidFill>
          <a:ln w="12700">
            <a:solidFill>
              <a:srgbClr val="4338CA"/>
            </a:solidFill>
            <a:prstDash val="solid"/>
          </a:ln>
          <a:effectLst>
            <a:outerShdw blurRad="76200" dist="12700" dir="5400000" algn="bl" rotWithShape="0">
              <a:srgbClr val="8894A5">
                <a:alpha val="7000"/>
              </a:srgbClr>
            </a:outerShdw>
          </a:effectLst>
        </p:spPr>
        <p:txBody>
          <a:bodyPr/>
          <a:lstStyle/>
          <a:p>
            <a:endParaRPr lang="en-IN"/>
          </a:p>
        </p:txBody>
      </p:sp>
      <p:sp>
        <p:nvSpPr>
          <p:cNvPr id="13" name="Shape 11"/>
          <p:cNvSpPr/>
          <p:nvPr/>
        </p:nvSpPr>
        <p:spPr>
          <a:xfrm>
            <a:off x="8278368" y="1883664"/>
            <a:ext cx="292608" cy="45720"/>
          </a:xfrm>
          <a:prstGeom prst="rect">
            <a:avLst/>
          </a:prstGeom>
          <a:solidFill>
            <a:srgbClr val="4338CA"/>
          </a:solidFill>
          <a:ln/>
        </p:spPr>
        <p:txBody>
          <a:bodyPr/>
          <a:lstStyle/>
          <a:p>
            <a:endParaRPr lang="en-IN"/>
          </a:p>
        </p:txBody>
      </p:sp>
      <p:sp>
        <p:nvSpPr>
          <p:cNvPr id="14" name="Text 12"/>
          <p:cNvSpPr txBox="1"/>
          <p:nvPr/>
        </p:nvSpPr>
        <p:spPr>
          <a:xfrm>
            <a:off x="8278368" y="2048256"/>
            <a:ext cx="3078480" cy="566928"/>
          </a:xfrm>
          <a:prstGeom prst="rect">
            <a:avLst/>
          </a:prstGeom>
          <a:noFill/>
          <a:ln/>
        </p:spPr>
        <p:txBody>
          <a:bodyPr wrap="square" lIns="0" tIns="0" rIns="0" bIns="0" rtlCol="0" anchor="t"/>
          <a:lstStyle/>
          <a:p>
            <a:pPr marL="0" indent="0">
              <a:lnSpc>
                <a:spcPct val="115000"/>
              </a:lnSpc>
              <a:buNone/>
            </a:pPr>
            <a:r>
              <a:rPr lang="en-US" sz="1550" b="1" dirty="0">
                <a:solidFill>
                  <a:srgbClr val="4338CA"/>
                </a:solidFill>
                <a:latin typeface="Calibri" pitchFamily="34" charset="0"/>
                <a:ea typeface="Calibri" pitchFamily="34" charset="-122"/>
                <a:cs typeface="Calibri" pitchFamily="34" charset="-120"/>
              </a:rPr>
              <a:t>Senior review time is redirected</a:t>
            </a:r>
            <a:endParaRPr lang="en-US" sz="1550" dirty="0"/>
          </a:p>
        </p:txBody>
      </p:sp>
      <p:sp>
        <p:nvSpPr>
          <p:cNvPr id="15" name="Text 13"/>
          <p:cNvSpPr txBox="1"/>
          <p:nvPr/>
        </p:nvSpPr>
        <p:spPr>
          <a:xfrm>
            <a:off x="8278368" y="2383306"/>
            <a:ext cx="3078480" cy="768096"/>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Mechanical findings are resolved before a human opens the change. Expert attention moves to design and risk.</a:t>
            </a:r>
            <a:endParaRPr lang="en-US" sz="1200" dirty="0"/>
          </a:p>
        </p:txBody>
      </p:sp>
      <p:sp>
        <p:nvSpPr>
          <p:cNvPr id="16" name="Shape 14"/>
          <p:cNvSpPr/>
          <p:nvPr/>
        </p:nvSpPr>
        <p:spPr>
          <a:xfrm>
            <a:off x="566928" y="3712464"/>
            <a:ext cx="3553968" cy="1865376"/>
          </a:xfrm>
          <a:prstGeom prst="roundRect">
            <a:avLst>
              <a:gd name="adj" fmla="val 4412"/>
            </a:avLst>
          </a:prstGeom>
          <a:solidFill>
            <a:srgbClr val="FFFFFF"/>
          </a:solidFill>
          <a:ln w="12700">
            <a:solidFill>
              <a:srgbClr val="9333EA"/>
            </a:solidFill>
            <a:prstDash val="solid"/>
          </a:ln>
          <a:effectLst>
            <a:outerShdw blurRad="76200" dist="12700" dir="5400000" algn="bl" rotWithShape="0">
              <a:srgbClr val="8894A5">
                <a:alpha val="7000"/>
              </a:srgbClr>
            </a:outerShdw>
          </a:effectLst>
        </p:spPr>
        <p:txBody>
          <a:bodyPr/>
          <a:lstStyle/>
          <a:p>
            <a:endParaRPr lang="en-IN"/>
          </a:p>
        </p:txBody>
      </p:sp>
      <p:sp>
        <p:nvSpPr>
          <p:cNvPr id="17" name="Shape 15"/>
          <p:cNvSpPr/>
          <p:nvPr/>
        </p:nvSpPr>
        <p:spPr>
          <a:xfrm>
            <a:off x="804672" y="3968496"/>
            <a:ext cx="292608" cy="45720"/>
          </a:xfrm>
          <a:prstGeom prst="rect">
            <a:avLst/>
          </a:prstGeom>
          <a:solidFill>
            <a:srgbClr val="9333EA"/>
          </a:solidFill>
          <a:ln/>
        </p:spPr>
        <p:txBody>
          <a:bodyPr/>
          <a:lstStyle/>
          <a:p>
            <a:endParaRPr lang="en-IN"/>
          </a:p>
        </p:txBody>
      </p:sp>
      <p:sp>
        <p:nvSpPr>
          <p:cNvPr id="18" name="Text 16"/>
          <p:cNvSpPr txBox="1"/>
          <p:nvPr/>
        </p:nvSpPr>
        <p:spPr>
          <a:xfrm>
            <a:off x="804672" y="4133088"/>
            <a:ext cx="3078480" cy="566928"/>
          </a:xfrm>
          <a:prstGeom prst="rect">
            <a:avLst/>
          </a:prstGeom>
          <a:noFill/>
          <a:ln/>
        </p:spPr>
        <p:txBody>
          <a:bodyPr wrap="square" lIns="0" tIns="0" rIns="0" bIns="0" rtlCol="0" anchor="t"/>
          <a:lstStyle/>
          <a:p>
            <a:pPr marL="0" indent="0">
              <a:lnSpc>
                <a:spcPct val="115000"/>
              </a:lnSpc>
              <a:buNone/>
            </a:pPr>
            <a:r>
              <a:rPr lang="en-US" sz="1550" b="1" dirty="0">
                <a:solidFill>
                  <a:srgbClr val="9333EA"/>
                </a:solidFill>
                <a:latin typeface="Calibri" pitchFamily="34" charset="0"/>
                <a:ea typeface="Calibri" pitchFamily="34" charset="-122"/>
                <a:cs typeface="Calibri" pitchFamily="34" charset="-120"/>
              </a:rPr>
              <a:t>Audit evidence is a by-product</a:t>
            </a:r>
            <a:endParaRPr lang="en-US" sz="1550" dirty="0"/>
          </a:p>
        </p:txBody>
      </p:sp>
      <p:sp>
        <p:nvSpPr>
          <p:cNvPr id="19" name="Text 17"/>
          <p:cNvSpPr txBox="1"/>
          <p:nvPr/>
        </p:nvSpPr>
        <p:spPr>
          <a:xfrm>
            <a:off x="804672" y="4519900"/>
            <a:ext cx="3078480" cy="768096"/>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Answering why a change was made and who approved it drops from an evidence exercise to a query.</a:t>
            </a:r>
            <a:endParaRPr lang="en-US" sz="1200" dirty="0"/>
          </a:p>
        </p:txBody>
      </p:sp>
      <p:sp>
        <p:nvSpPr>
          <p:cNvPr id="20" name="Shape 18"/>
          <p:cNvSpPr/>
          <p:nvPr/>
        </p:nvSpPr>
        <p:spPr>
          <a:xfrm>
            <a:off x="4303776" y="3712464"/>
            <a:ext cx="3553968" cy="1865376"/>
          </a:xfrm>
          <a:prstGeom prst="roundRect">
            <a:avLst>
              <a:gd name="adj" fmla="val 4412"/>
            </a:avLst>
          </a:prstGeom>
          <a:solidFill>
            <a:srgbClr val="FFFFFF"/>
          </a:solidFill>
          <a:ln w="12700">
            <a:solidFill>
              <a:srgbClr val="DC6803"/>
            </a:solidFill>
            <a:prstDash val="solid"/>
          </a:ln>
          <a:effectLst>
            <a:outerShdw blurRad="76200" dist="12700" dir="5400000" algn="bl" rotWithShape="0">
              <a:srgbClr val="8894A5">
                <a:alpha val="7000"/>
              </a:srgbClr>
            </a:outerShdw>
          </a:effectLst>
        </p:spPr>
        <p:txBody>
          <a:bodyPr/>
          <a:lstStyle/>
          <a:p>
            <a:endParaRPr lang="en-IN"/>
          </a:p>
        </p:txBody>
      </p:sp>
      <p:sp>
        <p:nvSpPr>
          <p:cNvPr id="21" name="Shape 19"/>
          <p:cNvSpPr/>
          <p:nvPr/>
        </p:nvSpPr>
        <p:spPr>
          <a:xfrm>
            <a:off x="4541520" y="3968496"/>
            <a:ext cx="292608" cy="45720"/>
          </a:xfrm>
          <a:prstGeom prst="rect">
            <a:avLst/>
          </a:prstGeom>
          <a:solidFill>
            <a:srgbClr val="DC6803"/>
          </a:solidFill>
          <a:ln/>
        </p:spPr>
        <p:txBody>
          <a:bodyPr/>
          <a:lstStyle/>
          <a:p>
            <a:endParaRPr lang="en-IN"/>
          </a:p>
        </p:txBody>
      </p:sp>
      <p:sp>
        <p:nvSpPr>
          <p:cNvPr id="22" name="Text 20"/>
          <p:cNvSpPr txBox="1"/>
          <p:nvPr/>
        </p:nvSpPr>
        <p:spPr>
          <a:xfrm>
            <a:off x="4541520" y="4133088"/>
            <a:ext cx="3078480" cy="566928"/>
          </a:xfrm>
          <a:prstGeom prst="rect">
            <a:avLst/>
          </a:prstGeom>
          <a:noFill/>
          <a:ln/>
        </p:spPr>
        <p:txBody>
          <a:bodyPr wrap="square" lIns="0" tIns="0" rIns="0" bIns="0" rtlCol="0" anchor="t"/>
          <a:lstStyle/>
          <a:p>
            <a:pPr marL="0" indent="0">
              <a:lnSpc>
                <a:spcPct val="115000"/>
              </a:lnSpc>
              <a:buNone/>
            </a:pPr>
            <a:r>
              <a:rPr lang="en-US" sz="1550" b="1" dirty="0">
                <a:solidFill>
                  <a:srgbClr val="DC6803"/>
                </a:solidFill>
                <a:latin typeface="Calibri" pitchFamily="34" charset="0"/>
                <a:ea typeface="Calibri" pitchFamily="34" charset="-122"/>
                <a:cs typeface="Calibri" pitchFamily="34" charset="-120"/>
              </a:rPr>
              <a:t>Failure modes are distinguishable</a:t>
            </a:r>
            <a:endParaRPr lang="en-US" sz="1550" dirty="0"/>
          </a:p>
        </p:txBody>
      </p:sp>
      <p:sp>
        <p:nvSpPr>
          <p:cNvPr id="23" name="Text 21"/>
          <p:cNvSpPr txBox="1"/>
          <p:nvPr/>
        </p:nvSpPr>
        <p:spPr>
          <a:xfrm>
            <a:off x="4541520" y="4494020"/>
            <a:ext cx="3078480" cy="768096"/>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Corrective effort goes to the actual cause rather than to blanket process — the difference between governance that improves and governance that only accumulates.</a:t>
            </a:r>
            <a:endParaRPr lang="en-US" sz="1200" dirty="0"/>
          </a:p>
        </p:txBody>
      </p:sp>
      <p:sp>
        <p:nvSpPr>
          <p:cNvPr id="24" name="Shape 22"/>
          <p:cNvSpPr/>
          <p:nvPr/>
        </p:nvSpPr>
        <p:spPr>
          <a:xfrm>
            <a:off x="8040624" y="3712464"/>
            <a:ext cx="3553968" cy="1865376"/>
          </a:xfrm>
          <a:prstGeom prst="roundRect">
            <a:avLst>
              <a:gd name="adj" fmla="val 4412"/>
            </a:avLst>
          </a:prstGeom>
          <a:solidFill>
            <a:srgbClr val="FFFFFF"/>
          </a:solidFill>
          <a:ln w="12700">
            <a:solidFill>
              <a:srgbClr val="344054"/>
            </a:solidFill>
            <a:prstDash val="solid"/>
          </a:ln>
          <a:effectLst>
            <a:outerShdw blurRad="76200" dist="12700" dir="5400000" algn="bl" rotWithShape="0">
              <a:srgbClr val="8894A5">
                <a:alpha val="7000"/>
              </a:srgbClr>
            </a:outerShdw>
          </a:effectLst>
        </p:spPr>
        <p:txBody>
          <a:bodyPr/>
          <a:lstStyle/>
          <a:p>
            <a:endParaRPr lang="en-IN"/>
          </a:p>
        </p:txBody>
      </p:sp>
      <p:sp>
        <p:nvSpPr>
          <p:cNvPr id="25" name="Shape 23"/>
          <p:cNvSpPr/>
          <p:nvPr/>
        </p:nvSpPr>
        <p:spPr>
          <a:xfrm>
            <a:off x="8278368" y="3968496"/>
            <a:ext cx="292608" cy="45720"/>
          </a:xfrm>
          <a:prstGeom prst="rect">
            <a:avLst/>
          </a:prstGeom>
          <a:solidFill>
            <a:srgbClr val="344054"/>
          </a:solidFill>
          <a:ln/>
        </p:spPr>
        <p:txBody>
          <a:bodyPr/>
          <a:lstStyle/>
          <a:p>
            <a:endParaRPr lang="en-IN"/>
          </a:p>
        </p:txBody>
      </p:sp>
      <p:sp>
        <p:nvSpPr>
          <p:cNvPr id="26" name="Text 24"/>
          <p:cNvSpPr txBox="1"/>
          <p:nvPr/>
        </p:nvSpPr>
        <p:spPr>
          <a:xfrm>
            <a:off x="8278368" y="4133088"/>
            <a:ext cx="3078480" cy="566928"/>
          </a:xfrm>
          <a:prstGeom prst="rect">
            <a:avLst/>
          </a:prstGeom>
          <a:noFill/>
          <a:ln/>
        </p:spPr>
        <p:txBody>
          <a:bodyPr wrap="square" lIns="0" tIns="0" rIns="0" bIns="0" rtlCol="0" anchor="t"/>
          <a:lstStyle/>
          <a:p>
            <a:pPr marL="0" indent="0">
              <a:lnSpc>
                <a:spcPct val="115000"/>
              </a:lnSpc>
              <a:buNone/>
            </a:pPr>
            <a:r>
              <a:rPr lang="en-US" sz="1550" b="1" dirty="0">
                <a:solidFill>
                  <a:srgbClr val="344054"/>
                </a:solidFill>
                <a:latin typeface="Calibri" pitchFamily="34" charset="0"/>
                <a:ea typeface="Calibri" pitchFamily="34" charset="-122"/>
                <a:cs typeface="Calibri" pitchFamily="34" charset="-120"/>
              </a:rPr>
              <a:t>The organisation owns the system</a:t>
            </a:r>
            <a:endParaRPr lang="en-US" sz="1550" dirty="0"/>
          </a:p>
        </p:txBody>
      </p:sp>
      <p:sp>
        <p:nvSpPr>
          <p:cNvPr id="27" name="Text 25"/>
          <p:cNvSpPr txBox="1"/>
          <p:nvPr/>
        </p:nvSpPr>
        <p:spPr>
          <a:xfrm>
            <a:off x="8278368" y="4519898"/>
            <a:ext cx="3078480" cy="768096"/>
          </a:xfrm>
          <a:prstGeom prst="rect">
            <a:avLst/>
          </a:prstGeom>
          <a:noFill/>
          <a:ln/>
        </p:spPr>
        <p:txBody>
          <a:bodyPr wrap="square" lIns="0" tIns="0" rIns="0" bIns="0" rtlCol="0" anchor="t"/>
          <a:lstStyle/>
          <a:p>
            <a:pPr marL="0" indent="0">
              <a:lnSpc>
                <a:spcPct val="130000"/>
              </a:lnSpc>
              <a:buNone/>
            </a:pPr>
            <a:r>
              <a:rPr lang="en-US" sz="1200" dirty="0">
                <a:solidFill>
                  <a:srgbClr val="16202C"/>
                </a:solidFill>
                <a:latin typeface="Calibri" pitchFamily="34" charset="0"/>
                <a:ea typeface="Calibri" pitchFamily="34" charset="-122"/>
                <a:cs typeface="Calibri" pitchFamily="34" charset="-120"/>
              </a:rPr>
              <a:t>Behaviour changes by editing a versioned file. No retraining, no redeployment, no dependency on the people who built it.</a:t>
            </a:r>
            <a:endParaRPr lang="en-US" sz="1200" dirty="0"/>
          </a:p>
        </p:txBody>
      </p:sp>
      <p:pic>
        <p:nvPicPr>
          <p:cNvPr id="28"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29" name="Text 26"/>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30" name="Text 27"/>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How we introduce it</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A governed agentic system enters a live codebase at deliberately limited scope</a:t>
            </a:r>
            <a:endParaRPr lang="en-US" sz="1450" dirty="0"/>
          </a:p>
        </p:txBody>
      </p:sp>
      <p:sp>
        <p:nvSpPr>
          <p:cNvPr id="4" name="Shape 2"/>
          <p:cNvSpPr/>
          <p:nvPr/>
        </p:nvSpPr>
        <p:spPr>
          <a:xfrm>
            <a:off x="566928" y="1682496"/>
            <a:ext cx="2578608" cy="3986784"/>
          </a:xfrm>
          <a:prstGeom prst="roundRect">
            <a:avLst>
              <a:gd name="adj" fmla="val 3191"/>
            </a:avLst>
          </a:prstGeom>
          <a:solidFill>
            <a:srgbClr val="FFFFFF"/>
          </a:solidFill>
          <a:ln w="12700">
            <a:solidFill>
              <a:srgbClr val="4338CA"/>
            </a:solidFill>
            <a:prstDash val="solid"/>
          </a:ln>
          <a:effectLst>
            <a:outerShdw blurRad="76200" dist="12700" dir="5400000" algn="bl" rotWithShape="0">
              <a:srgbClr val="8894A5">
                <a:alpha val="7000"/>
              </a:srgbClr>
            </a:outerShdw>
          </a:effectLst>
        </p:spPr>
        <p:txBody>
          <a:bodyPr/>
          <a:lstStyle/>
          <a:p>
            <a:endParaRPr lang="en-IN"/>
          </a:p>
        </p:txBody>
      </p:sp>
      <p:sp>
        <p:nvSpPr>
          <p:cNvPr id="5" name="Shape 3"/>
          <p:cNvSpPr/>
          <p:nvPr/>
        </p:nvSpPr>
        <p:spPr>
          <a:xfrm>
            <a:off x="566928" y="1682496"/>
            <a:ext cx="2578608" cy="822960"/>
          </a:xfrm>
          <a:prstGeom prst="roundRect">
            <a:avLst>
              <a:gd name="adj" fmla="val 10000"/>
            </a:avLst>
          </a:prstGeom>
          <a:solidFill>
            <a:srgbClr val="4338CA"/>
          </a:solidFill>
          <a:ln w="12700">
            <a:solidFill>
              <a:srgbClr val="4338CA"/>
            </a:solidFill>
            <a:prstDash val="solid"/>
          </a:ln>
        </p:spPr>
        <p:txBody>
          <a:bodyPr/>
          <a:lstStyle/>
          <a:p>
            <a:endParaRPr lang="en-IN"/>
          </a:p>
        </p:txBody>
      </p:sp>
      <p:sp>
        <p:nvSpPr>
          <p:cNvPr id="6" name="Text 4"/>
          <p:cNvSpPr txBox="1"/>
          <p:nvPr/>
        </p:nvSpPr>
        <p:spPr>
          <a:xfrm>
            <a:off x="786384" y="1792224"/>
            <a:ext cx="2139696" cy="219456"/>
          </a:xfrm>
          <a:prstGeom prst="rect">
            <a:avLst/>
          </a:prstGeom>
          <a:noFill/>
          <a:ln/>
        </p:spPr>
        <p:txBody>
          <a:bodyPr wrap="square" lIns="0" tIns="0" rIns="0" bIns="0" rtlCol="0" anchor="ctr"/>
          <a:lstStyle/>
          <a:p>
            <a:pPr marL="0" indent="0">
              <a:buNone/>
            </a:pPr>
            <a:r>
              <a:rPr lang="en-US" sz="1050" b="1" kern="0" spc="140" dirty="0">
                <a:solidFill>
                  <a:srgbClr val="FFFFFF"/>
                </a:solidFill>
                <a:latin typeface="Calibri" pitchFamily="34" charset="0"/>
                <a:ea typeface="Calibri" pitchFamily="34" charset="-122"/>
                <a:cs typeface="Calibri" pitchFamily="34" charset="-120"/>
              </a:rPr>
              <a:t>PHASE 1</a:t>
            </a:r>
            <a:endParaRPr lang="en-US" sz="1050" dirty="0"/>
          </a:p>
        </p:txBody>
      </p:sp>
      <p:sp>
        <p:nvSpPr>
          <p:cNvPr id="7" name="Text 5"/>
          <p:cNvSpPr txBox="1"/>
          <p:nvPr/>
        </p:nvSpPr>
        <p:spPr>
          <a:xfrm>
            <a:off x="786384" y="2011680"/>
            <a:ext cx="1664208"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Codify</a:t>
            </a:r>
            <a:endParaRPr lang="en-US" sz="1900" dirty="0"/>
          </a:p>
        </p:txBody>
      </p:sp>
      <p:sp>
        <p:nvSpPr>
          <p:cNvPr id="8" name="Text 6"/>
          <p:cNvSpPr txBox="1"/>
          <p:nvPr/>
        </p:nvSpPr>
        <p:spPr>
          <a:xfrm>
            <a:off x="2093976" y="2066544"/>
            <a:ext cx="868680" cy="274320"/>
          </a:xfrm>
          <a:prstGeom prst="rect">
            <a:avLst/>
          </a:prstGeom>
          <a:noFill/>
          <a:ln/>
        </p:spPr>
        <p:txBody>
          <a:bodyPr wrap="square" lIns="0" tIns="0" rIns="0" bIns="0" rtlCol="0" anchor="ctr"/>
          <a:lstStyle/>
          <a:p>
            <a:pPr marL="0" indent="0" algn="r">
              <a:buNone/>
            </a:pPr>
            <a:r>
              <a:rPr lang="en-US" sz="1050" i="1" dirty="0">
                <a:solidFill>
                  <a:srgbClr val="FFFFFF"/>
                </a:solidFill>
                <a:latin typeface="Calibri" pitchFamily="34" charset="0"/>
                <a:ea typeface="Calibri" pitchFamily="34" charset="-122"/>
                <a:cs typeface="Calibri" pitchFamily="34" charset="-120"/>
              </a:rPr>
              <a:t>Weeks</a:t>
            </a:r>
            <a:endParaRPr lang="en-US" sz="1050" dirty="0"/>
          </a:p>
        </p:txBody>
      </p:sp>
      <p:sp>
        <p:nvSpPr>
          <p:cNvPr id="9" name="Text 7"/>
          <p:cNvSpPr txBox="1"/>
          <p:nvPr/>
        </p:nvSpPr>
        <p:spPr>
          <a:xfrm>
            <a:off x="786384" y="2688336"/>
            <a:ext cx="2139696" cy="182880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Extract the engineering standards that already exist — in reviewers’ heads, in wiki pages, in review comments — into versioned steering files. Agree scope boundaries and the gate set.</a:t>
            </a:r>
            <a:endParaRPr lang="en-US" sz="1180" dirty="0"/>
          </a:p>
        </p:txBody>
      </p:sp>
      <p:sp>
        <p:nvSpPr>
          <p:cNvPr id="10" name="Shape 8"/>
          <p:cNvSpPr/>
          <p:nvPr/>
        </p:nvSpPr>
        <p:spPr>
          <a:xfrm>
            <a:off x="786384" y="4572000"/>
            <a:ext cx="274320" cy="41148"/>
          </a:xfrm>
          <a:prstGeom prst="rect">
            <a:avLst/>
          </a:prstGeom>
          <a:solidFill>
            <a:srgbClr val="4338CA"/>
          </a:solidFill>
          <a:ln/>
        </p:spPr>
        <p:txBody>
          <a:bodyPr/>
          <a:lstStyle/>
          <a:p>
            <a:endParaRPr lang="en-IN"/>
          </a:p>
        </p:txBody>
      </p:sp>
      <p:sp>
        <p:nvSpPr>
          <p:cNvPr id="11" name="Text 9"/>
          <p:cNvSpPr txBox="1"/>
          <p:nvPr/>
        </p:nvSpPr>
        <p:spPr>
          <a:xfrm>
            <a:off x="786384" y="4718304"/>
            <a:ext cx="2139696" cy="859536"/>
          </a:xfrm>
          <a:prstGeom prst="rect">
            <a:avLst/>
          </a:prstGeom>
          <a:noFill/>
          <a:ln/>
        </p:spPr>
        <p:txBody>
          <a:bodyPr wrap="square" lIns="0" tIns="0" rIns="0" bIns="0" rtlCol="0" anchor="t"/>
          <a:lstStyle/>
          <a:p>
            <a:pPr marL="0" indent="0">
              <a:lnSpc>
                <a:spcPct val="125000"/>
              </a:lnSpc>
              <a:buNone/>
            </a:pPr>
            <a:r>
              <a:rPr lang="en-US" sz="1100" i="1" dirty="0">
                <a:solidFill>
                  <a:srgbClr val="68788A"/>
                </a:solidFill>
                <a:latin typeface="Calibri" pitchFamily="34" charset="0"/>
                <a:ea typeface="Calibri" pitchFamily="34" charset="-122"/>
                <a:cs typeface="Calibri" pitchFamily="34" charset="-120"/>
              </a:rPr>
              <a:t>Standards as reviewable files; agreed blast radius.</a:t>
            </a:r>
            <a:endParaRPr lang="en-US" sz="1100" dirty="0"/>
          </a:p>
        </p:txBody>
      </p:sp>
      <p:sp>
        <p:nvSpPr>
          <p:cNvPr id="12" name="Shape 10"/>
          <p:cNvSpPr/>
          <p:nvPr/>
        </p:nvSpPr>
        <p:spPr>
          <a:xfrm>
            <a:off x="3195828" y="3611880"/>
            <a:ext cx="137160" cy="173736"/>
          </a:xfrm>
          <a:prstGeom prst="rightArrow">
            <a:avLst/>
          </a:prstGeom>
          <a:solidFill>
            <a:srgbClr val="A5B0BE"/>
          </a:solidFill>
          <a:ln w="12700">
            <a:solidFill>
              <a:srgbClr val="A5B0BE"/>
            </a:solidFill>
            <a:prstDash val="solid"/>
          </a:ln>
        </p:spPr>
        <p:txBody>
          <a:bodyPr/>
          <a:lstStyle/>
          <a:p>
            <a:endParaRPr lang="en-IN"/>
          </a:p>
        </p:txBody>
      </p:sp>
      <p:sp>
        <p:nvSpPr>
          <p:cNvPr id="13" name="Shape 11"/>
          <p:cNvSpPr/>
          <p:nvPr/>
        </p:nvSpPr>
        <p:spPr>
          <a:xfrm>
            <a:off x="3383280" y="1682496"/>
            <a:ext cx="2578608" cy="3986784"/>
          </a:xfrm>
          <a:prstGeom prst="roundRect">
            <a:avLst>
              <a:gd name="adj" fmla="val 3191"/>
            </a:avLst>
          </a:prstGeom>
          <a:solidFill>
            <a:srgbClr val="FFFFFF"/>
          </a:solidFill>
          <a:ln w="12700">
            <a:solidFill>
              <a:srgbClr val="0086E6"/>
            </a:solidFill>
            <a:prstDash val="solid"/>
          </a:ln>
          <a:effectLst>
            <a:outerShdw blurRad="76200" dist="12700" dir="5400000" algn="bl" rotWithShape="0">
              <a:srgbClr val="8894A5">
                <a:alpha val="7000"/>
              </a:srgbClr>
            </a:outerShdw>
          </a:effectLst>
        </p:spPr>
        <p:txBody>
          <a:bodyPr/>
          <a:lstStyle/>
          <a:p>
            <a:endParaRPr lang="en-IN"/>
          </a:p>
        </p:txBody>
      </p:sp>
      <p:sp>
        <p:nvSpPr>
          <p:cNvPr id="14" name="Shape 12"/>
          <p:cNvSpPr/>
          <p:nvPr/>
        </p:nvSpPr>
        <p:spPr>
          <a:xfrm>
            <a:off x="3383280" y="1682496"/>
            <a:ext cx="2578608" cy="822960"/>
          </a:xfrm>
          <a:prstGeom prst="roundRect">
            <a:avLst>
              <a:gd name="adj" fmla="val 10000"/>
            </a:avLst>
          </a:prstGeom>
          <a:solidFill>
            <a:srgbClr val="0086E6"/>
          </a:solidFill>
          <a:ln w="12700">
            <a:solidFill>
              <a:srgbClr val="0086E6"/>
            </a:solidFill>
            <a:prstDash val="solid"/>
          </a:ln>
        </p:spPr>
        <p:txBody>
          <a:bodyPr/>
          <a:lstStyle/>
          <a:p>
            <a:endParaRPr lang="en-IN"/>
          </a:p>
        </p:txBody>
      </p:sp>
      <p:sp>
        <p:nvSpPr>
          <p:cNvPr id="15" name="Text 13"/>
          <p:cNvSpPr txBox="1"/>
          <p:nvPr/>
        </p:nvSpPr>
        <p:spPr>
          <a:xfrm>
            <a:off x="3602736" y="1792224"/>
            <a:ext cx="2139696" cy="219456"/>
          </a:xfrm>
          <a:prstGeom prst="rect">
            <a:avLst/>
          </a:prstGeom>
          <a:noFill/>
          <a:ln/>
        </p:spPr>
        <p:txBody>
          <a:bodyPr wrap="square" lIns="0" tIns="0" rIns="0" bIns="0" rtlCol="0" anchor="ctr"/>
          <a:lstStyle/>
          <a:p>
            <a:pPr marL="0" indent="0">
              <a:buNone/>
            </a:pPr>
            <a:r>
              <a:rPr lang="en-US" sz="1050" b="1" kern="0" spc="140" dirty="0">
                <a:solidFill>
                  <a:srgbClr val="FFFFFF"/>
                </a:solidFill>
                <a:latin typeface="Calibri" pitchFamily="34" charset="0"/>
                <a:ea typeface="Calibri" pitchFamily="34" charset="-122"/>
                <a:cs typeface="Calibri" pitchFamily="34" charset="-120"/>
              </a:rPr>
              <a:t>PHASE 2</a:t>
            </a:r>
            <a:endParaRPr lang="en-US" sz="1050" dirty="0"/>
          </a:p>
        </p:txBody>
      </p:sp>
      <p:sp>
        <p:nvSpPr>
          <p:cNvPr id="16" name="Text 14"/>
          <p:cNvSpPr txBox="1"/>
          <p:nvPr/>
        </p:nvSpPr>
        <p:spPr>
          <a:xfrm>
            <a:off x="3602736" y="2011680"/>
            <a:ext cx="1664208"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Pilot</a:t>
            </a:r>
            <a:endParaRPr lang="en-US" sz="1900" dirty="0"/>
          </a:p>
        </p:txBody>
      </p:sp>
      <p:sp>
        <p:nvSpPr>
          <p:cNvPr id="17" name="Text 15"/>
          <p:cNvSpPr txBox="1"/>
          <p:nvPr/>
        </p:nvSpPr>
        <p:spPr>
          <a:xfrm>
            <a:off x="4910328" y="2066544"/>
            <a:ext cx="868680" cy="274320"/>
          </a:xfrm>
          <a:prstGeom prst="rect">
            <a:avLst/>
          </a:prstGeom>
          <a:noFill/>
          <a:ln/>
        </p:spPr>
        <p:txBody>
          <a:bodyPr wrap="square" lIns="0" tIns="0" rIns="0" bIns="0" rtlCol="0" anchor="ctr"/>
          <a:lstStyle/>
          <a:p>
            <a:pPr marL="0" indent="0" algn="r">
              <a:buNone/>
            </a:pPr>
            <a:r>
              <a:rPr lang="en-US" sz="1050" i="1" dirty="0">
                <a:solidFill>
                  <a:srgbClr val="FFFFFF"/>
                </a:solidFill>
                <a:latin typeface="Calibri" pitchFamily="34" charset="0"/>
                <a:ea typeface="Calibri" pitchFamily="34" charset="-122"/>
                <a:cs typeface="Calibri" pitchFamily="34" charset="-120"/>
              </a:rPr>
              <a:t>Weeks</a:t>
            </a:r>
            <a:endParaRPr lang="en-US" sz="1050" dirty="0"/>
          </a:p>
        </p:txBody>
      </p:sp>
      <p:sp>
        <p:nvSpPr>
          <p:cNvPr id="18" name="Text 16"/>
          <p:cNvSpPr txBox="1"/>
          <p:nvPr/>
        </p:nvSpPr>
        <p:spPr>
          <a:xfrm>
            <a:off x="3602736" y="2688336"/>
            <a:ext cx="2139696" cy="182880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One feature surface, one team, gates enforced from the first run. Guardrails restrict capability before anything is generated, not after a finding.</a:t>
            </a:r>
            <a:endParaRPr lang="en-US" sz="1180" dirty="0"/>
          </a:p>
        </p:txBody>
      </p:sp>
      <p:sp>
        <p:nvSpPr>
          <p:cNvPr id="19" name="Shape 17"/>
          <p:cNvSpPr/>
          <p:nvPr/>
        </p:nvSpPr>
        <p:spPr>
          <a:xfrm>
            <a:off x="3602736" y="4572000"/>
            <a:ext cx="274320" cy="41148"/>
          </a:xfrm>
          <a:prstGeom prst="rect">
            <a:avLst/>
          </a:prstGeom>
          <a:solidFill>
            <a:srgbClr val="0086E6"/>
          </a:solidFill>
          <a:ln/>
        </p:spPr>
        <p:txBody>
          <a:bodyPr/>
          <a:lstStyle/>
          <a:p>
            <a:endParaRPr lang="en-IN"/>
          </a:p>
        </p:txBody>
      </p:sp>
      <p:sp>
        <p:nvSpPr>
          <p:cNvPr id="20" name="Text 18"/>
          <p:cNvSpPr txBox="1"/>
          <p:nvPr/>
        </p:nvSpPr>
        <p:spPr>
          <a:xfrm>
            <a:off x="3602736" y="4718304"/>
            <a:ext cx="2139696" cy="859536"/>
          </a:xfrm>
          <a:prstGeom prst="rect">
            <a:avLst/>
          </a:prstGeom>
          <a:noFill/>
          <a:ln/>
        </p:spPr>
        <p:txBody>
          <a:bodyPr wrap="square" lIns="0" tIns="0" rIns="0" bIns="0" rtlCol="0" anchor="t"/>
          <a:lstStyle/>
          <a:p>
            <a:pPr marL="0" indent="0">
              <a:lnSpc>
                <a:spcPct val="125000"/>
              </a:lnSpc>
              <a:buNone/>
            </a:pPr>
            <a:r>
              <a:rPr lang="en-US" sz="1100" i="1" dirty="0">
                <a:solidFill>
                  <a:srgbClr val="68788A"/>
                </a:solidFill>
                <a:latin typeface="Calibri" pitchFamily="34" charset="0"/>
                <a:ea typeface="Calibri" pitchFamily="34" charset="-122"/>
                <a:cs typeface="Calibri" pitchFamily="34" charset="-120"/>
              </a:rPr>
              <a:t>Working chain on real code; measured gate compliance.</a:t>
            </a:r>
            <a:endParaRPr lang="en-US" sz="1100" dirty="0"/>
          </a:p>
        </p:txBody>
      </p:sp>
      <p:sp>
        <p:nvSpPr>
          <p:cNvPr id="21" name="Shape 19"/>
          <p:cNvSpPr/>
          <p:nvPr/>
        </p:nvSpPr>
        <p:spPr>
          <a:xfrm>
            <a:off x="6012180" y="3611880"/>
            <a:ext cx="137160" cy="173736"/>
          </a:xfrm>
          <a:prstGeom prst="rightArrow">
            <a:avLst/>
          </a:prstGeom>
          <a:solidFill>
            <a:srgbClr val="A5B0BE"/>
          </a:solidFill>
          <a:ln w="12700">
            <a:solidFill>
              <a:srgbClr val="A5B0BE"/>
            </a:solidFill>
            <a:prstDash val="solid"/>
          </a:ln>
        </p:spPr>
        <p:txBody>
          <a:bodyPr/>
          <a:lstStyle/>
          <a:p>
            <a:endParaRPr lang="en-IN"/>
          </a:p>
        </p:txBody>
      </p:sp>
      <p:sp>
        <p:nvSpPr>
          <p:cNvPr id="22" name="Shape 20"/>
          <p:cNvSpPr/>
          <p:nvPr/>
        </p:nvSpPr>
        <p:spPr>
          <a:xfrm>
            <a:off x="6199632" y="1682496"/>
            <a:ext cx="2578608" cy="3986784"/>
          </a:xfrm>
          <a:prstGeom prst="roundRect">
            <a:avLst>
              <a:gd name="adj" fmla="val 3191"/>
            </a:avLst>
          </a:prstGeom>
          <a:solidFill>
            <a:srgbClr val="FFFFFF"/>
          </a:solidFill>
          <a:ln w="12700">
            <a:solidFill>
              <a:srgbClr val="047857"/>
            </a:solidFill>
            <a:prstDash val="solid"/>
          </a:ln>
          <a:effectLst>
            <a:outerShdw blurRad="76200" dist="12700" dir="5400000" algn="bl" rotWithShape="0">
              <a:srgbClr val="8894A5">
                <a:alpha val="7000"/>
              </a:srgbClr>
            </a:outerShdw>
          </a:effectLst>
        </p:spPr>
        <p:txBody>
          <a:bodyPr/>
          <a:lstStyle/>
          <a:p>
            <a:endParaRPr lang="en-IN"/>
          </a:p>
        </p:txBody>
      </p:sp>
      <p:sp>
        <p:nvSpPr>
          <p:cNvPr id="23" name="Shape 21"/>
          <p:cNvSpPr/>
          <p:nvPr/>
        </p:nvSpPr>
        <p:spPr>
          <a:xfrm>
            <a:off x="6199632" y="1682496"/>
            <a:ext cx="2578608" cy="822960"/>
          </a:xfrm>
          <a:prstGeom prst="roundRect">
            <a:avLst>
              <a:gd name="adj" fmla="val 10000"/>
            </a:avLst>
          </a:prstGeom>
          <a:solidFill>
            <a:srgbClr val="047857"/>
          </a:solidFill>
          <a:ln w="12700">
            <a:solidFill>
              <a:srgbClr val="047857"/>
            </a:solidFill>
            <a:prstDash val="solid"/>
          </a:ln>
        </p:spPr>
        <p:txBody>
          <a:bodyPr/>
          <a:lstStyle/>
          <a:p>
            <a:endParaRPr lang="en-IN"/>
          </a:p>
        </p:txBody>
      </p:sp>
      <p:sp>
        <p:nvSpPr>
          <p:cNvPr id="24" name="Text 22"/>
          <p:cNvSpPr txBox="1"/>
          <p:nvPr/>
        </p:nvSpPr>
        <p:spPr>
          <a:xfrm>
            <a:off x="6419088" y="1792224"/>
            <a:ext cx="2139696" cy="219456"/>
          </a:xfrm>
          <a:prstGeom prst="rect">
            <a:avLst/>
          </a:prstGeom>
          <a:noFill/>
          <a:ln/>
        </p:spPr>
        <p:txBody>
          <a:bodyPr wrap="square" lIns="0" tIns="0" rIns="0" bIns="0" rtlCol="0" anchor="ctr"/>
          <a:lstStyle/>
          <a:p>
            <a:pPr marL="0" indent="0">
              <a:buNone/>
            </a:pPr>
            <a:r>
              <a:rPr lang="en-US" sz="1050" b="1" kern="0" spc="140" dirty="0">
                <a:solidFill>
                  <a:srgbClr val="FFFFFF"/>
                </a:solidFill>
                <a:latin typeface="Calibri" pitchFamily="34" charset="0"/>
                <a:ea typeface="Calibri" pitchFamily="34" charset="-122"/>
                <a:cs typeface="Calibri" pitchFamily="34" charset="-120"/>
              </a:rPr>
              <a:t>PHASE 3</a:t>
            </a:r>
            <a:endParaRPr lang="en-US" sz="1050" dirty="0"/>
          </a:p>
        </p:txBody>
      </p:sp>
      <p:sp>
        <p:nvSpPr>
          <p:cNvPr id="25" name="Text 23"/>
          <p:cNvSpPr txBox="1"/>
          <p:nvPr/>
        </p:nvSpPr>
        <p:spPr>
          <a:xfrm>
            <a:off x="6419088" y="2011680"/>
            <a:ext cx="1664208"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Harden</a:t>
            </a:r>
            <a:endParaRPr lang="en-US" sz="1900" dirty="0"/>
          </a:p>
        </p:txBody>
      </p:sp>
      <p:sp>
        <p:nvSpPr>
          <p:cNvPr id="26" name="Text 24"/>
          <p:cNvSpPr txBox="1"/>
          <p:nvPr/>
        </p:nvSpPr>
        <p:spPr>
          <a:xfrm>
            <a:off x="7726680" y="2066544"/>
            <a:ext cx="868680" cy="274320"/>
          </a:xfrm>
          <a:prstGeom prst="rect">
            <a:avLst/>
          </a:prstGeom>
          <a:noFill/>
          <a:ln/>
        </p:spPr>
        <p:txBody>
          <a:bodyPr wrap="square" lIns="0" tIns="0" rIns="0" bIns="0" rtlCol="0" anchor="ctr"/>
          <a:lstStyle/>
          <a:p>
            <a:pPr marL="0" indent="0" algn="r">
              <a:buNone/>
            </a:pPr>
            <a:r>
              <a:rPr lang="en-US" sz="1050" i="1" dirty="0">
                <a:solidFill>
                  <a:srgbClr val="FFFFFF"/>
                </a:solidFill>
                <a:latin typeface="Calibri" pitchFamily="34" charset="0"/>
                <a:ea typeface="Calibri" pitchFamily="34" charset="-122"/>
                <a:cs typeface="Calibri" pitchFamily="34" charset="-120"/>
              </a:rPr>
              <a:t>Weeks</a:t>
            </a:r>
            <a:endParaRPr lang="en-US" sz="1050" dirty="0"/>
          </a:p>
        </p:txBody>
      </p:sp>
      <p:sp>
        <p:nvSpPr>
          <p:cNvPr id="27" name="Text 25"/>
          <p:cNvSpPr txBox="1"/>
          <p:nvPr/>
        </p:nvSpPr>
        <p:spPr>
          <a:xfrm>
            <a:off x="6419088" y="2688336"/>
            <a:ext cx="2139696" cy="182880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Telemetry, decision capture, override expiry, governance metrics and the durable orchestration around external actions.</a:t>
            </a:r>
            <a:endParaRPr lang="en-US" sz="1180" dirty="0"/>
          </a:p>
        </p:txBody>
      </p:sp>
      <p:sp>
        <p:nvSpPr>
          <p:cNvPr id="28" name="Shape 26"/>
          <p:cNvSpPr/>
          <p:nvPr/>
        </p:nvSpPr>
        <p:spPr>
          <a:xfrm>
            <a:off x="6419088" y="4572000"/>
            <a:ext cx="274320" cy="41148"/>
          </a:xfrm>
          <a:prstGeom prst="rect">
            <a:avLst/>
          </a:prstGeom>
          <a:solidFill>
            <a:srgbClr val="047857"/>
          </a:solidFill>
          <a:ln/>
        </p:spPr>
        <p:txBody>
          <a:bodyPr/>
          <a:lstStyle/>
          <a:p>
            <a:endParaRPr lang="en-IN"/>
          </a:p>
        </p:txBody>
      </p:sp>
      <p:sp>
        <p:nvSpPr>
          <p:cNvPr id="29" name="Text 27"/>
          <p:cNvSpPr txBox="1"/>
          <p:nvPr/>
        </p:nvSpPr>
        <p:spPr>
          <a:xfrm>
            <a:off x="6419088" y="4718304"/>
            <a:ext cx="2139696" cy="859536"/>
          </a:xfrm>
          <a:prstGeom prst="rect">
            <a:avLst/>
          </a:prstGeom>
          <a:noFill/>
          <a:ln/>
        </p:spPr>
        <p:txBody>
          <a:bodyPr wrap="square" lIns="0" tIns="0" rIns="0" bIns="0" rtlCol="0" anchor="t"/>
          <a:lstStyle/>
          <a:p>
            <a:pPr marL="0" indent="0">
              <a:lnSpc>
                <a:spcPct val="125000"/>
              </a:lnSpc>
              <a:buNone/>
            </a:pPr>
            <a:r>
              <a:rPr lang="en-US" sz="1100" i="1" dirty="0">
                <a:solidFill>
                  <a:srgbClr val="68788A"/>
                </a:solidFill>
                <a:latin typeface="Calibri" pitchFamily="34" charset="0"/>
                <a:ea typeface="Calibri" pitchFamily="34" charset="-122"/>
                <a:cs typeface="Calibri" pitchFamily="34" charset="-120"/>
              </a:rPr>
              <a:t>Production-ready envelope with audit evidence as a by-product.</a:t>
            </a:r>
            <a:endParaRPr lang="en-US" sz="1100" dirty="0"/>
          </a:p>
        </p:txBody>
      </p:sp>
      <p:sp>
        <p:nvSpPr>
          <p:cNvPr id="30" name="Shape 28"/>
          <p:cNvSpPr/>
          <p:nvPr/>
        </p:nvSpPr>
        <p:spPr>
          <a:xfrm>
            <a:off x="8828532" y="3611880"/>
            <a:ext cx="137160" cy="173736"/>
          </a:xfrm>
          <a:prstGeom prst="rightArrow">
            <a:avLst/>
          </a:prstGeom>
          <a:solidFill>
            <a:srgbClr val="A5B0BE"/>
          </a:solidFill>
          <a:ln w="12700">
            <a:solidFill>
              <a:srgbClr val="A5B0BE"/>
            </a:solidFill>
            <a:prstDash val="solid"/>
          </a:ln>
        </p:spPr>
        <p:txBody>
          <a:bodyPr/>
          <a:lstStyle/>
          <a:p>
            <a:endParaRPr lang="en-IN"/>
          </a:p>
        </p:txBody>
      </p:sp>
      <p:sp>
        <p:nvSpPr>
          <p:cNvPr id="31" name="Shape 29"/>
          <p:cNvSpPr/>
          <p:nvPr/>
        </p:nvSpPr>
        <p:spPr>
          <a:xfrm>
            <a:off x="9015984" y="1682496"/>
            <a:ext cx="2578608" cy="3986784"/>
          </a:xfrm>
          <a:prstGeom prst="roundRect">
            <a:avLst>
              <a:gd name="adj" fmla="val 3191"/>
            </a:avLst>
          </a:prstGeom>
          <a:solidFill>
            <a:srgbClr val="FFFFFF"/>
          </a:solidFill>
          <a:ln w="12700">
            <a:solidFill>
              <a:srgbClr val="9333EA"/>
            </a:solidFill>
            <a:prstDash val="solid"/>
          </a:ln>
          <a:effectLst>
            <a:outerShdw blurRad="76200" dist="12700" dir="5400000" algn="bl" rotWithShape="0">
              <a:srgbClr val="8894A5">
                <a:alpha val="7000"/>
              </a:srgbClr>
            </a:outerShdw>
          </a:effectLst>
        </p:spPr>
        <p:txBody>
          <a:bodyPr/>
          <a:lstStyle/>
          <a:p>
            <a:endParaRPr lang="en-IN"/>
          </a:p>
        </p:txBody>
      </p:sp>
      <p:sp>
        <p:nvSpPr>
          <p:cNvPr id="32" name="Shape 30"/>
          <p:cNvSpPr/>
          <p:nvPr/>
        </p:nvSpPr>
        <p:spPr>
          <a:xfrm>
            <a:off x="9015984" y="1682496"/>
            <a:ext cx="2578608" cy="822960"/>
          </a:xfrm>
          <a:prstGeom prst="roundRect">
            <a:avLst>
              <a:gd name="adj" fmla="val 10000"/>
            </a:avLst>
          </a:prstGeom>
          <a:solidFill>
            <a:srgbClr val="9333EA"/>
          </a:solidFill>
          <a:ln w="12700">
            <a:solidFill>
              <a:srgbClr val="9333EA"/>
            </a:solidFill>
            <a:prstDash val="solid"/>
          </a:ln>
        </p:spPr>
        <p:txBody>
          <a:bodyPr/>
          <a:lstStyle/>
          <a:p>
            <a:endParaRPr lang="en-IN"/>
          </a:p>
        </p:txBody>
      </p:sp>
      <p:sp>
        <p:nvSpPr>
          <p:cNvPr id="33" name="Text 31"/>
          <p:cNvSpPr txBox="1"/>
          <p:nvPr/>
        </p:nvSpPr>
        <p:spPr>
          <a:xfrm>
            <a:off x="9235440" y="1792224"/>
            <a:ext cx="2139696" cy="219456"/>
          </a:xfrm>
          <a:prstGeom prst="rect">
            <a:avLst/>
          </a:prstGeom>
          <a:noFill/>
          <a:ln/>
        </p:spPr>
        <p:txBody>
          <a:bodyPr wrap="square" lIns="0" tIns="0" rIns="0" bIns="0" rtlCol="0" anchor="ctr"/>
          <a:lstStyle/>
          <a:p>
            <a:pPr marL="0" indent="0">
              <a:buNone/>
            </a:pPr>
            <a:r>
              <a:rPr lang="en-US" sz="1050" b="1" kern="0" spc="140" dirty="0">
                <a:solidFill>
                  <a:srgbClr val="FFFFFF"/>
                </a:solidFill>
                <a:latin typeface="Calibri" pitchFamily="34" charset="0"/>
                <a:ea typeface="Calibri" pitchFamily="34" charset="-122"/>
                <a:cs typeface="Calibri" pitchFamily="34" charset="-120"/>
              </a:rPr>
              <a:t>PHASE 4</a:t>
            </a:r>
            <a:endParaRPr lang="en-US" sz="1050" dirty="0"/>
          </a:p>
        </p:txBody>
      </p:sp>
      <p:sp>
        <p:nvSpPr>
          <p:cNvPr id="34" name="Text 32"/>
          <p:cNvSpPr txBox="1"/>
          <p:nvPr/>
        </p:nvSpPr>
        <p:spPr>
          <a:xfrm>
            <a:off x="9235440" y="2011680"/>
            <a:ext cx="1664208"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Transfer</a:t>
            </a:r>
            <a:endParaRPr lang="en-US" sz="1900" dirty="0"/>
          </a:p>
        </p:txBody>
      </p:sp>
      <p:sp>
        <p:nvSpPr>
          <p:cNvPr id="35" name="Text 33"/>
          <p:cNvSpPr txBox="1"/>
          <p:nvPr/>
        </p:nvSpPr>
        <p:spPr>
          <a:xfrm>
            <a:off x="10543032" y="2066544"/>
            <a:ext cx="868680" cy="274320"/>
          </a:xfrm>
          <a:prstGeom prst="rect">
            <a:avLst/>
          </a:prstGeom>
          <a:noFill/>
          <a:ln/>
        </p:spPr>
        <p:txBody>
          <a:bodyPr wrap="square" lIns="0" tIns="0" rIns="0" bIns="0" rtlCol="0" anchor="ctr"/>
          <a:lstStyle/>
          <a:p>
            <a:pPr marL="0" indent="0" algn="r">
              <a:buNone/>
            </a:pPr>
            <a:r>
              <a:rPr lang="en-US" sz="1050" i="1" dirty="0">
                <a:solidFill>
                  <a:srgbClr val="FFFFFF"/>
                </a:solidFill>
                <a:latin typeface="Calibri" pitchFamily="34" charset="0"/>
                <a:ea typeface="Calibri" pitchFamily="34" charset="-122"/>
                <a:cs typeface="Calibri" pitchFamily="34" charset="-120"/>
              </a:rPr>
              <a:t>Ongoing</a:t>
            </a:r>
            <a:endParaRPr lang="en-US" sz="1050" dirty="0"/>
          </a:p>
        </p:txBody>
      </p:sp>
      <p:sp>
        <p:nvSpPr>
          <p:cNvPr id="36" name="Text 34"/>
          <p:cNvSpPr txBox="1"/>
          <p:nvPr/>
        </p:nvSpPr>
        <p:spPr>
          <a:xfrm>
            <a:off x="9235440" y="2688336"/>
            <a:ext cx="2139696" cy="1828800"/>
          </a:xfrm>
          <a:prstGeom prst="rect">
            <a:avLst/>
          </a:prstGeom>
          <a:noFill/>
          <a:ln/>
        </p:spPr>
        <p:txBody>
          <a:bodyPr wrap="square" lIns="0" tIns="0" rIns="0" bIns="0" rtlCol="0" anchor="t"/>
          <a:lstStyle/>
          <a:p>
            <a:pPr marL="0" indent="0">
              <a:lnSpc>
                <a:spcPct val="130000"/>
              </a:lnSpc>
              <a:buNone/>
            </a:pPr>
            <a:r>
              <a:rPr lang="en-US" sz="1180" dirty="0">
                <a:solidFill>
                  <a:srgbClr val="16202C"/>
                </a:solidFill>
                <a:latin typeface="Calibri" pitchFamily="34" charset="0"/>
                <a:ea typeface="Calibri" pitchFamily="34" charset="-122"/>
                <a:cs typeface="Calibri" pitchFamily="34" charset="-120"/>
              </a:rPr>
              <a:t>The organisation’s engineers own the steering files and skill definitions. Coverage widens by editing configuration, not by re-engagement.</a:t>
            </a:r>
            <a:endParaRPr lang="en-US" sz="1180" dirty="0"/>
          </a:p>
        </p:txBody>
      </p:sp>
      <p:sp>
        <p:nvSpPr>
          <p:cNvPr id="37" name="Shape 35"/>
          <p:cNvSpPr/>
          <p:nvPr/>
        </p:nvSpPr>
        <p:spPr>
          <a:xfrm>
            <a:off x="9235440" y="4572000"/>
            <a:ext cx="274320" cy="41148"/>
          </a:xfrm>
          <a:prstGeom prst="rect">
            <a:avLst/>
          </a:prstGeom>
          <a:solidFill>
            <a:srgbClr val="9333EA"/>
          </a:solidFill>
          <a:ln/>
        </p:spPr>
        <p:txBody>
          <a:bodyPr/>
          <a:lstStyle/>
          <a:p>
            <a:endParaRPr lang="en-IN"/>
          </a:p>
        </p:txBody>
      </p:sp>
      <p:sp>
        <p:nvSpPr>
          <p:cNvPr id="38" name="Text 36"/>
          <p:cNvSpPr txBox="1"/>
          <p:nvPr/>
        </p:nvSpPr>
        <p:spPr>
          <a:xfrm>
            <a:off x="9235440" y="4718304"/>
            <a:ext cx="2139696" cy="859536"/>
          </a:xfrm>
          <a:prstGeom prst="rect">
            <a:avLst/>
          </a:prstGeom>
          <a:noFill/>
          <a:ln/>
        </p:spPr>
        <p:txBody>
          <a:bodyPr wrap="square" lIns="0" tIns="0" rIns="0" bIns="0" rtlCol="0" anchor="t"/>
          <a:lstStyle/>
          <a:p>
            <a:pPr marL="0" indent="0">
              <a:lnSpc>
                <a:spcPct val="125000"/>
              </a:lnSpc>
              <a:buNone/>
            </a:pPr>
            <a:r>
              <a:rPr lang="en-US" sz="1100" i="1" dirty="0">
                <a:solidFill>
                  <a:srgbClr val="68788A"/>
                </a:solidFill>
                <a:latin typeface="Calibri" pitchFamily="34" charset="0"/>
                <a:ea typeface="Calibri" pitchFamily="34" charset="-122"/>
                <a:cs typeface="Calibri" pitchFamily="34" charset="-120"/>
              </a:rPr>
              <a:t>Self-owned system; widening scope on their schedule.</a:t>
            </a:r>
            <a:endParaRPr lang="en-US" sz="1100" dirty="0"/>
          </a:p>
        </p:txBody>
      </p:sp>
      <p:pic>
        <p:nvPicPr>
          <p:cNvPr id="39"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40" name="Text 37"/>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41" name="Text 38"/>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420624"/>
            <a:ext cx="11027664" cy="566928"/>
          </a:xfrm>
          <a:prstGeom prst="rect">
            <a:avLst/>
          </a:prstGeom>
          <a:noFill/>
          <a:ln/>
        </p:spPr>
        <p:txBody>
          <a:bodyPr wrap="square" lIns="0" tIns="0" rIns="0" bIns="0" rtlCol="0" anchor="ctr"/>
          <a:lstStyle/>
          <a:p>
            <a:pPr marL="0" indent="0">
              <a:buNone/>
            </a:pPr>
            <a:r>
              <a:rPr lang="en-US" sz="3200" b="1" dirty="0">
                <a:solidFill>
                  <a:srgbClr val="0D1523"/>
                </a:solidFill>
                <a:latin typeface="Cambria" pitchFamily="34" charset="0"/>
                <a:ea typeface="Cambria" pitchFamily="34" charset="-122"/>
                <a:cs typeface="Cambria" pitchFamily="34" charset="-120"/>
              </a:rPr>
              <a:t>Why this transfers</a:t>
            </a:r>
            <a:endParaRPr lang="en-US" sz="3200" dirty="0"/>
          </a:p>
        </p:txBody>
      </p:sp>
      <p:sp>
        <p:nvSpPr>
          <p:cNvPr id="3" name="Text 1"/>
          <p:cNvSpPr txBox="1"/>
          <p:nvPr/>
        </p:nvSpPr>
        <p:spPr>
          <a:xfrm>
            <a:off x="566928" y="1005840"/>
            <a:ext cx="11027664" cy="310896"/>
          </a:xfrm>
          <a:prstGeom prst="rect">
            <a:avLst/>
          </a:prstGeom>
          <a:noFill/>
          <a:ln/>
        </p:spPr>
        <p:txBody>
          <a:bodyPr wrap="square" lIns="0" tIns="0" rIns="0" bIns="0" rtlCol="0" anchor="ctr"/>
          <a:lstStyle/>
          <a:p>
            <a:pPr marL="0" indent="0">
              <a:buNone/>
            </a:pPr>
            <a:r>
              <a:rPr lang="en-US" sz="1450" dirty="0">
                <a:solidFill>
                  <a:srgbClr val="68788A"/>
                </a:solidFill>
                <a:latin typeface="Calibri" pitchFamily="34" charset="0"/>
                <a:ea typeface="Calibri" pitchFamily="34" charset="-122"/>
                <a:cs typeface="Calibri" pitchFamily="34" charset="-120"/>
              </a:rPr>
              <a:t>The reusable asset is the pattern, not the tooling</a:t>
            </a:r>
            <a:endParaRPr lang="en-US" sz="1450" dirty="0"/>
          </a:p>
        </p:txBody>
      </p:sp>
      <p:sp>
        <p:nvSpPr>
          <p:cNvPr id="4" name="Shape 2"/>
          <p:cNvSpPr/>
          <p:nvPr/>
        </p:nvSpPr>
        <p:spPr>
          <a:xfrm>
            <a:off x="566928" y="1591056"/>
            <a:ext cx="5422392" cy="914400"/>
          </a:xfrm>
          <a:prstGeom prst="roundRect">
            <a:avLst>
              <a:gd name="adj" fmla="val 9000"/>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5" name="Shape 3"/>
          <p:cNvSpPr/>
          <p:nvPr/>
        </p:nvSpPr>
        <p:spPr>
          <a:xfrm>
            <a:off x="786384" y="1856232"/>
            <a:ext cx="384048" cy="384048"/>
          </a:xfrm>
          <a:prstGeom prst="ellipse">
            <a:avLst/>
          </a:prstGeom>
          <a:solidFill>
            <a:srgbClr val="E8F5FF"/>
          </a:solidFill>
          <a:ln w="13970">
            <a:solidFill>
              <a:srgbClr val="0086E6"/>
            </a:solidFill>
            <a:prstDash val="solid"/>
          </a:ln>
        </p:spPr>
        <p:txBody>
          <a:bodyPr/>
          <a:lstStyle/>
          <a:p>
            <a:endParaRPr lang="en-IN"/>
          </a:p>
        </p:txBody>
      </p:sp>
      <p:sp>
        <p:nvSpPr>
          <p:cNvPr id="6" name="Text 4"/>
          <p:cNvSpPr txBox="1"/>
          <p:nvPr/>
        </p:nvSpPr>
        <p:spPr>
          <a:xfrm>
            <a:off x="786384" y="1856232"/>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35024" y="1719072"/>
            <a:ext cx="4453128" cy="292608"/>
          </a:xfrm>
          <a:prstGeom prst="rect">
            <a:avLst/>
          </a:prstGeom>
          <a:noFill/>
          <a:ln/>
        </p:spPr>
        <p:txBody>
          <a:bodyPr wrap="square" lIns="0" tIns="0" rIns="0" bIns="0" rtlCol="0" anchor="ctr"/>
          <a:lstStyle/>
          <a:p>
            <a:pPr marL="0" indent="0">
              <a:buNone/>
            </a:pPr>
            <a:r>
              <a:rPr lang="en-US" sz="1450" b="1" dirty="0">
                <a:solidFill>
                  <a:srgbClr val="0D1523"/>
                </a:solidFill>
                <a:latin typeface="Calibri" pitchFamily="34" charset="0"/>
                <a:ea typeface="Calibri" pitchFamily="34" charset="-122"/>
                <a:cs typeface="Calibri" pitchFamily="34" charset="-120"/>
              </a:rPr>
              <a:t>Stateless, role-specialised agents</a:t>
            </a:r>
            <a:endParaRPr lang="en-US" sz="1450" dirty="0"/>
          </a:p>
        </p:txBody>
      </p:sp>
      <p:sp>
        <p:nvSpPr>
          <p:cNvPr id="8" name="Text 6"/>
          <p:cNvSpPr txBox="1"/>
          <p:nvPr/>
        </p:nvSpPr>
        <p:spPr>
          <a:xfrm>
            <a:off x="1335024" y="2011680"/>
            <a:ext cx="4453128" cy="402336"/>
          </a:xfrm>
          <a:prstGeom prst="rect">
            <a:avLst/>
          </a:prstGeom>
          <a:noFill/>
          <a:ln/>
        </p:spPr>
        <p:txBody>
          <a:bodyPr wrap="square" lIns="0" tIns="0" rIns="0" bIns="0" rtlCol="0" anchor="t"/>
          <a:lstStyle/>
          <a:p>
            <a:pPr marL="0" indent="0">
              <a:lnSpc>
                <a:spcPct val="128000"/>
              </a:lnSpc>
              <a:buNone/>
            </a:pPr>
            <a:r>
              <a:rPr lang="en-US" sz="1200" dirty="0">
                <a:solidFill>
                  <a:srgbClr val="68788A"/>
                </a:solidFill>
                <a:latin typeface="Calibri" pitchFamily="34" charset="0"/>
                <a:ea typeface="Calibri" pitchFamily="34" charset="-122"/>
                <a:cs typeface="Calibri" pitchFamily="34" charset="-120"/>
              </a:rPr>
              <a:t>One responsibility each, no memory between turns, no ability to advance their own work.</a:t>
            </a:r>
            <a:endParaRPr lang="en-US" sz="1200" dirty="0"/>
          </a:p>
        </p:txBody>
      </p:sp>
      <p:sp>
        <p:nvSpPr>
          <p:cNvPr id="9" name="Shape 7"/>
          <p:cNvSpPr/>
          <p:nvPr/>
        </p:nvSpPr>
        <p:spPr>
          <a:xfrm>
            <a:off x="6172200" y="1591056"/>
            <a:ext cx="5422392" cy="914400"/>
          </a:xfrm>
          <a:prstGeom prst="roundRect">
            <a:avLst>
              <a:gd name="adj" fmla="val 9000"/>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10" name="Shape 8"/>
          <p:cNvSpPr/>
          <p:nvPr/>
        </p:nvSpPr>
        <p:spPr>
          <a:xfrm>
            <a:off x="6391656" y="1856232"/>
            <a:ext cx="384048" cy="384048"/>
          </a:xfrm>
          <a:prstGeom prst="ellipse">
            <a:avLst/>
          </a:prstGeom>
          <a:solidFill>
            <a:srgbClr val="E8F5FF"/>
          </a:solidFill>
          <a:ln w="13970">
            <a:solidFill>
              <a:srgbClr val="0086E6"/>
            </a:solidFill>
            <a:prstDash val="solid"/>
          </a:ln>
        </p:spPr>
        <p:txBody>
          <a:bodyPr/>
          <a:lstStyle/>
          <a:p>
            <a:endParaRPr lang="en-IN"/>
          </a:p>
        </p:txBody>
      </p:sp>
      <p:sp>
        <p:nvSpPr>
          <p:cNvPr id="11" name="Text 9"/>
          <p:cNvSpPr txBox="1"/>
          <p:nvPr/>
        </p:nvSpPr>
        <p:spPr>
          <a:xfrm>
            <a:off x="6391656" y="1856232"/>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940296" y="1719072"/>
            <a:ext cx="4453128" cy="292608"/>
          </a:xfrm>
          <a:prstGeom prst="rect">
            <a:avLst/>
          </a:prstGeom>
          <a:noFill/>
          <a:ln/>
        </p:spPr>
        <p:txBody>
          <a:bodyPr wrap="square" lIns="0" tIns="0" rIns="0" bIns="0" rtlCol="0" anchor="ctr"/>
          <a:lstStyle/>
          <a:p>
            <a:pPr marL="0" indent="0">
              <a:buNone/>
            </a:pPr>
            <a:r>
              <a:rPr lang="en-US" sz="1450" b="1" dirty="0">
                <a:solidFill>
                  <a:srgbClr val="0D1523"/>
                </a:solidFill>
                <a:latin typeface="Calibri" pitchFamily="34" charset="0"/>
                <a:ea typeface="Calibri" pitchFamily="34" charset="-122"/>
                <a:cs typeface="Calibri" pitchFamily="34" charset="-120"/>
              </a:rPr>
              <a:t>Contracts that can be refused</a:t>
            </a:r>
            <a:endParaRPr lang="en-US" sz="1450" dirty="0"/>
          </a:p>
        </p:txBody>
      </p:sp>
      <p:sp>
        <p:nvSpPr>
          <p:cNvPr id="13" name="Text 11"/>
          <p:cNvSpPr txBox="1"/>
          <p:nvPr/>
        </p:nvSpPr>
        <p:spPr>
          <a:xfrm>
            <a:off x="6940296" y="2011680"/>
            <a:ext cx="4453128" cy="402336"/>
          </a:xfrm>
          <a:prstGeom prst="rect">
            <a:avLst/>
          </a:prstGeom>
          <a:noFill/>
          <a:ln/>
        </p:spPr>
        <p:txBody>
          <a:bodyPr wrap="square" lIns="0" tIns="0" rIns="0" bIns="0" rtlCol="0" anchor="t"/>
          <a:lstStyle/>
          <a:p>
            <a:pPr marL="0" indent="0">
              <a:lnSpc>
                <a:spcPct val="128000"/>
              </a:lnSpc>
              <a:buNone/>
            </a:pPr>
            <a:r>
              <a:rPr lang="en-US" sz="1200" dirty="0">
                <a:solidFill>
                  <a:srgbClr val="68788A"/>
                </a:solidFill>
                <a:latin typeface="Calibri" pitchFamily="34" charset="0"/>
                <a:ea typeface="Calibri" pitchFamily="34" charset="-122"/>
                <a:cs typeface="Calibri" pitchFamily="34" charset="-120"/>
              </a:rPr>
              <a:t>A handoff that does not validate stops the chain instead of propagating quietly downstream.</a:t>
            </a:r>
            <a:endParaRPr lang="en-US" sz="1200" dirty="0"/>
          </a:p>
        </p:txBody>
      </p:sp>
      <p:sp>
        <p:nvSpPr>
          <p:cNvPr id="14" name="Shape 12"/>
          <p:cNvSpPr/>
          <p:nvPr/>
        </p:nvSpPr>
        <p:spPr>
          <a:xfrm>
            <a:off x="566928" y="2633472"/>
            <a:ext cx="5422392" cy="914400"/>
          </a:xfrm>
          <a:prstGeom prst="roundRect">
            <a:avLst>
              <a:gd name="adj" fmla="val 9000"/>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15" name="Shape 13"/>
          <p:cNvSpPr/>
          <p:nvPr/>
        </p:nvSpPr>
        <p:spPr>
          <a:xfrm>
            <a:off x="786384" y="2898648"/>
            <a:ext cx="384048" cy="384048"/>
          </a:xfrm>
          <a:prstGeom prst="ellipse">
            <a:avLst/>
          </a:prstGeom>
          <a:solidFill>
            <a:srgbClr val="E8F5FF"/>
          </a:solidFill>
          <a:ln w="13970">
            <a:solidFill>
              <a:srgbClr val="0086E6"/>
            </a:solidFill>
            <a:prstDash val="solid"/>
          </a:ln>
        </p:spPr>
        <p:txBody>
          <a:bodyPr/>
          <a:lstStyle/>
          <a:p>
            <a:endParaRPr lang="en-IN"/>
          </a:p>
        </p:txBody>
      </p:sp>
      <p:sp>
        <p:nvSpPr>
          <p:cNvPr id="16" name="Text 14"/>
          <p:cNvSpPr txBox="1"/>
          <p:nvPr/>
        </p:nvSpPr>
        <p:spPr>
          <a:xfrm>
            <a:off x="786384" y="2898648"/>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35024" y="2761488"/>
            <a:ext cx="4453128" cy="292608"/>
          </a:xfrm>
          <a:prstGeom prst="rect">
            <a:avLst/>
          </a:prstGeom>
          <a:noFill/>
          <a:ln/>
        </p:spPr>
        <p:txBody>
          <a:bodyPr wrap="square" lIns="0" tIns="0" rIns="0" bIns="0" rtlCol="0" anchor="ctr"/>
          <a:lstStyle/>
          <a:p>
            <a:pPr marL="0" indent="0">
              <a:buNone/>
            </a:pPr>
            <a:r>
              <a:rPr lang="en-US" sz="1450" b="1" dirty="0">
                <a:solidFill>
                  <a:srgbClr val="0D1523"/>
                </a:solidFill>
                <a:latin typeface="Calibri" pitchFamily="34" charset="0"/>
                <a:ea typeface="Calibri" pitchFamily="34" charset="-122"/>
                <a:cs typeface="Calibri" pitchFamily="34" charset="-120"/>
              </a:rPr>
              <a:t>Advancement gated on explicit approval</a:t>
            </a:r>
            <a:endParaRPr lang="en-US" sz="1450" dirty="0"/>
          </a:p>
        </p:txBody>
      </p:sp>
      <p:sp>
        <p:nvSpPr>
          <p:cNvPr id="18" name="Text 16"/>
          <p:cNvSpPr txBox="1"/>
          <p:nvPr/>
        </p:nvSpPr>
        <p:spPr>
          <a:xfrm>
            <a:off x="1335024" y="3054096"/>
            <a:ext cx="4453128" cy="402336"/>
          </a:xfrm>
          <a:prstGeom prst="rect">
            <a:avLst/>
          </a:prstGeom>
          <a:noFill/>
          <a:ln/>
        </p:spPr>
        <p:txBody>
          <a:bodyPr wrap="square" lIns="0" tIns="0" rIns="0" bIns="0" rtlCol="0" anchor="t"/>
          <a:lstStyle/>
          <a:p>
            <a:pPr marL="0" indent="0">
              <a:lnSpc>
                <a:spcPct val="128000"/>
              </a:lnSpc>
              <a:buNone/>
            </a:pPr>
            <a:r>
              <a:rPr lang="en-US" sz="1200" dirty="0">
                <a:solidFill>
                  <a:srgbClr val="68788A"/>
                </a:solidFill>
                <a:latin typeface="Calibri" pitchFamily="34" charset="0"/>
                <a:ea typeface="Calibri" pitchFamily="34" charset="-122"/>
                <a:cs typeface="Calibri" pitchFamily="34" charset="-120"/>
              </a:rPr>
              <a:t>A literal token, never an inference from agreement expressed some other way.</a:t>
            </a:r>
            <a:endParaRPr lang="en-US" sz="1200" dirty="0"/>
          </a:p>
        </p:txBody>
      </p:sp>
      <p:sp>
        <p:nvSpPr>
          <p:cNvPr id="19" name="Shape 17"/>
          <p:cNvSpPr/>
          <p:nvPr/>
        </p:nvSpPr>
        <p:spPr>
          <a:xfrm>
            <a:off x="6172200" y="2633472"/>
            <a:ext cx="5422392" cy="914400"/>
          </a:xfrm>
          <a:prstGeom prst="roundRect">
            <a:avLst>
              <a:gd name="adj" fmla="val 9000"/>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20" name="Shape 18"/>
          <p:cNvSpPr/>
          <p:nvPr/>
        </p:nvSpPr>
        <p:spPr>
          <a:xfrm>
            <a:off x="6391656" y="2898648"/>
            <a:ext cx="384048" cy="384048"/>
          </a:xfrm>
          <a:prstGeom prst="ellipse">
            <a:avLst/>
          </a:prstGeom>
          <a:solidFill>
            <a:srgbClr val="E8F5FF"/>
          </a:solidFill>
          <a:ln w="13970">
            <a:solidFill>
              <a:srgbClr val="0086E6"/>
            </a:solidFill>
            <a:prstDash val="solid"/>
          </a:ln>
        </p:spPr>
        <p:txBody>
          <a:bodyPr/>
          <a:lstStyle/>
          <a:p>
            <a:endParaRPr lang="en-IN"/>
          </a:p>
        </p:txBody>
      </p:sp>
      <p:sp>
        <p:nvSpPr>
          <p:cNvPr id="21" name="Text 19"/>
          <p:cNvSpPr txBox="1"/>
          <p:nvPr/>
        </p:nvSpPr>
        <p:spPr>
          <a:xfrm>
            <a:off x="6391656" y="2898648"/>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40296" y="2761488"/>
            <a:ext cx="4453128" cy="292608"/>
          </a:xfrm>
          <a:prstGeom prst="rect">
            <a:avLst/>
          </a:prstGeom>
          <a:noFill/>
          <a:ln/>
        </p:spPr>
        <p:txBody>
          <a:bodyPr wrap="square" lIns="0" tIns="0" rIns="0" bIns="0" rtlCol="0" anchor="ctr"/>
          <a:lstStyle/>
          <a:p>
            <a:pPr marL="0" indent="0">
              <a:buNone/>
            </a:pPr>
            <a:r>
              <a:rPr lang="en-US" sz="1450" b="1" dirty="0">
                <a:solidFill>
                  <a:srgbClr val="0D1523"/>
                </a:solidFill>
                <a:latin typeface="Calibri" pitchFamily="34" charset="0"/>
                <a:ea typeface="Calibri" pitchFamily="34" charset="-122"/>
                <a:cs typeface="Calibri" pitchFamily="34" charset="-120"/>
              </a:rPr>
              <a:t>Guardrails layered, not stacked</a:t>
            </a:r>
            <a:endParaRPr lang="en-US" sz="1450" dirty="0"/>
          </a:p>
        </p:txBody>
      </p:sp>
      <p:sp>
        <p:nvSpPr>
          <p:cNvPr id="23" name="Text 21"/>
          <p:cNvSpPr txBox="1"/>
          <p:nvPr/>
        </p:nvSpPr>
        <p:spPr>
          <a:xfrm>
            <a:off x="6940296" y="3054096"/>
            <a:ext cx="4453128" cy="402336"/>
          </a:xfrm>
          <a:prstGeom prst="rect">
            <a:avLst/>
          </a:prstGeom>
          <a:noFill/>
          <a:ln/>
        </p:spPr>
        <p:txBody>
          <a:bodyPr wrap="square" lIns="0" tIns="0" rIns="0" bIns="0" rtlCol="0" anchor="t"/>
          <a:lstStyle/>
          <a:p>
            <a:pPr marL="0" indent="0">
              <a:lnSpc>
                <a:spcPct val="128000"/>
              </a:lnSpc>
              <a:buNone/>
            </a:pPr>
            <a:r>
              <a:rPr lang="en-US" sz="1200" dirty="0">
                <a:solidFill>
                  <a:srgbClr val="68788A"/>
                </a:solidFill>
                <a:latin typeface="Calibri" pitchFamily="34" charset="0"/>
                <a:ea typeface="Calibri" pitchFamily="34" charset="-122"/>
                <a:cs typeface="Calibri" pitchFamily="34" charset="-120"/>
              </a:rPr>
              <a:t>Four independent controls so that no single one is load-bearing — the strongest remove capability outright.</a:t>
            </a:r>
            <a:endParaRPr lang="en-US" sz="1200" dirty="0"/>
          </a:p>
        </p:txBody>
      </p:sp>
      <p:sp>
        <p:nvSpPr>
          <p:cNvPr id="24" name="Shape 22"/>
          <p:cNvSpPr/>
          <p:nvPr/>
        </p:nvSpPr>
        <p:spPr>
          <a:xfrm>
            <a:off x="566928" y="3675888"/>
            <a:ext cx="5422392" cy="914400"/>
          </a:xfrm>
          <a:prstGeom prst="roundRect">
            <a:avLst>
              <a:gd name="adj" fmla="val 9000"/>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25" name="Shape 23"/>
          <p:cNvSpPr/>
          <p:nvPr/>
        </p:nvSpPr>
        <p:spPr>
          <a:xfrm>
            <a:off x="786384" y="3941064"/>
            <a:ext cx="384048" cy="384048"/>
          </a:xfrm>
          <a:prstGeom prst="ellipse">
            <a:avLst/>
          </a:prstGeom>
          <a:solidFill>
            <a:srgbClr val="E8F5FF"/>
          </a:solidFill>
          <a:ln w="13970">
            <a:solidFill>
              <a:srgbClr val="0086E6"/>
            </a:solidFill>
            <a:prstDash val="solid"/>
          </a:ln>
        </p:spPr>
        <p:txBody>
          <a:bodyPr/>
          <a:lstStyle/>
          <a:p>
            <a:endParaRPr lang="en-IN"/>
          </a:p>
        </p:txBody>
      </p:sp>
      <p:sp>
        <p:nvSpPr>
          <p:cNvPr id="26" name="Text 24"/>
          <p:cNvSpPr txBox="1"/>
          <p:nvPr/>
        </p:nvSpPr>
        <p:spPr>
          <a:xfrm>
            <a:off x="786384" y="3941064"/>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335024" y="3803904"/>
            <a:ext cx="4453128" cy="292608"/>
          </a:xfrm>
          <a:prstGeom prst="rect">
            <a:avLst/>
          </a:prstGeom>
          <a:noFill/>
          <a:ln/>
        </p:spPr>
        <p:txBody>
          <a:bodyPr wrap="square" lIns="0" tIns="0" rIns="0" bIns="0" rtlCol="0" anchor="ctr"/>
          <a:lstStyle/>
          <a:p>
            <a:pPr marL="0" indent="0">
              <a:buNone/>
            </a:pPr>
            <a:r>
              <a:rPr lang="en-US" sz="1450" b="1" dirty="0">
                <a:solidFill>
                  <a:srgbClr val="0D1523"/>
                </a:solidFill>
                <a:latin typeface="Calibri" pitchFamily="34" charset="0"/>
                <a:ea typeface="Calibri" pitchFamily="34" charset="-122"/>
                <a:cs typeface="Calibri" pitchFamily="34" charset="-120"/>
              </a:rPr>
              <a:t>Standards externalised into owned files</a:t>
            </a:r>
            <a:endParaRPr lang="en-US" sz="1450" dirty="0"/>
          </a:p>
        </p:txBody>
      </p:sp>
      <p:sp>
        <p:nvSpPr>
          <p:cNvPr id="28" name="Text 26"/>
          <p:cNvSpPr txBox="1"/>
          <p:nvPr/>
        </p:nvSpPr>
        <p:spPr>
          <a:xfrm>
            <a:off x="1335024" y="4096512"/>
            <a:ext cx="4453128" cy="402336"/>
          </a:xfrm>
          <a:prstGeom prst="rect">
            <a:avLst/>
          </a:prstGeom>
          <a:noFill/>
          <a:ln/>
        </p:spPr>
        <p:txBody>
          <a:bodyPr wrap="square" lIns="0" tIns="0" rIns="0" bIns="0" rtlCol="0" anchor="t"/>
          <a:lstStyle/>
          <a:p>
            <a:pPr marL="0" indent="0">
              <a:lnSpc>
                <a:spcPct val="128000"/>
              </a:lnSpc>
              <a:buNone/>
            </a:pPr>
            <a:r>
              <a:rPr lang="en-US" sz="1200" dirty="0">
                <a:solidFill>
                  <a:srgbClr val="68788A"/>
                </a:solidFill>
                <a:latin typeface="Calibri" pitchFamily="34" charset="0"/>
                <a:ea typeface="Calibri" pitchFamily="34" charset="-122"/>
                <a:cs typeface="Calibri" pitchFamily="34" charset="-120"/>
              </a:rPr>
              <a:t>Behaviour is configuration the organisation edits, not logic compiled into an agent.</a:t>
            </a:r>
            <a:endParaRPr lang="en-US" sz="1200" dirty="0"/>
          </a:p>
        </p:txBody>
      </p:sp>
      <p:sp>
        <p:nvSpPr>
          <p:cNvPr id="29" name="Shape 27"/>
          <p:cNvSpPr/>
          <p:nvPr/>
        </p:nvSpPr>
        <p:spPr>
          <a:xfrm>
            <a:off x="6172200" y="3675888"/>
            <a:ext cx="5422392" cy="914400"/>
          </a:xfrm>
          <a:prstGeom prst="roundRect">
            <a:avLst>
              <a:gd name="adj" fmla="val 9000"/>
            </a:avLst>
          </a:prstGeom>
          <a:solidFill>
            <a:srgbClr val="FFFFFF"/>
          </a:solidFill>
          <a:ln w="12700">
            <a:solidFill>
              <a:srgbClr val="D9E2EC"/>
            </a:solidFill>
            <a:prstDash val="solid"/>
          </a:ln>
          <a:effectLst>
            <a:outerShdw blurRad="76200" dist="12700" dir="5400000" algn="bl" rotWithShape="0">
              <a:srgbClr val="8894A5">
                <a:alpha val="7000"/>
              </a:srgbClr>
            </a:outerShdw>
          </a:effectLst>
        </p:spPr>
        <p:txBody>
          <a:bodyPr/>
          <a:lstStyle/>
          <a:p>
            <a:endParaRPr lang="en-IN"/>
          </a:p>
        </p:txBody>
      </p:sp>
      <p:sp>
        <p:nvSpPr>
          <p:cNvPr id="30" name="Shape 28"/>
          <p:cNvSpPr/>
          <p:nvPr/>
        </p:nvSpPr>
        <p:spPr>
          <a:xfrm>
            <a:off x="6391656" y="3941064"/>
            <a:ext cx="384048" cy="384048"/>
          </a:xfrm>
          <a:prstGeom prst="ellipse">
            <a:avLst/>
          </a:prstGeom>
          <a:solidFill>
            <a:srgbClr val="E8F5FF"/>
          </a:solidFill>
          <a:ln w="13970">
            <a:solidFill>
              <a:srgbClr val="0086E6"/>
            </a:solidFill>
            <a:prstDash val="solid"/>
          </a:ln>
        </p:spPr>
        <p:txBody>
          <a:bodyPr/>
          <a:lstStyle/>
          <a:p>
            <a:endParaRPr lang="en-IN"/>
          </a:p>
        </p:txBody>
      </p:sp>
      <p:sp>
        <p:nvSpPr>
          <p:cNvPr id="31" name="Text 29"/>
          <p:cNvSpPr txBox="1"/>
          <p:nvPr/>
        </p:nvSpPr>
        <p:spPr>
          <a:xfrm>
            <a:off x="6391656" y="3941064"/>
            <a:ext cx="384048" cy="384048"/>
          </a:xfrm>
          <a:prstGeom prst="rect">
            <a:avLst/>
          </a:prstGeom>
          <a:noFill/>
          <a:ln/>
        </p:spPr>
        <p:txBody>
          <a:bodyPr wrap="square" lIns="0" tIns="0" rIns="0" bIns="0" rtlCol="0" anchor="ctr"/>
          <a:lstStyle/>
          <a:p>
            <a:pPr marL="0" indent="0" algn="ctr">
              <a:buNone/>
            </a:pPr>
            <a:r>
              <a:rPr lang="en-US" sz="1300" b="1" dirty="0">
                <a:solidFill>
                  <a:srgbClr val="0086E6"/>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6940296" y="3803904"/>
            <a:ext cx="4453128" cy="292608"/>
          </a:xfrm>
          <a:prstGeom prst="rect">
            <a:avLst/>
          </a:prstGeom>
          <a:noFill/>
          <a:ln/>
        </p:spPr>
        <p:txBody>
          <a:bodyPr wrap="square" lIns="0" tIns="0" rIns="0" bIns="0" rtlCol="0" anchor="ctr"/>
          <a:lstStyle/>
          <a:p>
            <a:pPr marL="0" indent="0">
              <a:buNone/>
            </a:pPr>
            <a:r>
              <a:rPr lang="en-US" sz="1450" b="1" dirty="0">
                <a:solidFill>
                  <a:srgbClr val="0D1523"/>
                </a:solidFill>
                <a:latin typeface="Calibri" pitchFamily="34" charset="0"/>
                <a:ea typeface="Calibri" pitchFamily="34" charset="-122"/>
                <a:cs typeface="Calibri" pitchFamily="34" charset="-120"/>
              </a:rPr>
              <a:t>Observability that reaches the human decision</a:t>
            </a:r>
            <a:endParaRPr lang="en-US" sz="1450" dirty="0"/>
          </a:p>
        </p:txBody>
      </p:sp>
      <p:sp>
        <p:nvSpPr>
          <p:cNvPr id="33" name="Text 31"/>
          <p:cNvSpPr txBox="1"/>
          <p:nvPr/>
        </p:nvSpPr>
        <p:spPr>
          <a:xfrm>
            <a:off x="6940296" y="4096512"/>
            <a:ext cx="4453128" cy="402336"/>
          </a:xfrm>
          <a:prstGeom prst="rect">
            <a:avLst/>
          </a:prstGeom>
          <a:noFill/>
          <a:ln/>
        </p:spPr>
        <p:txBody>
          <a:bodyPr wrap="square" lIns="0" tIns="0" rIns="0" bIns="0" rtlCol="0" anchor="t"/>
          <a:lstStyle/>
          <a:p>
            <a:pPr marL="0" indent="0">
              <a:lnSpc>
                <a:spcPct val="128000"/>
              </a:lnSpc>
              <a:buNone/>
            </a:pPr>
            <a:r>
              <a:rPr lang="en-US" sz="1200" dirty="0">
                <a:solidFill>
                  <a:srgbClr val="68788A"/>
                </a:solidFill>
                <a:latin typeface="Calibri" pitchFamily="34" charset="0"/>
                <a:ea typeface="Calibri" pitchFamily="34" charset="-122"/>
                <a:cs typeface="Calibri" pitchFamily="34" charset="-120"/>
              </a:rPr>
              <a:t>Options, choice and stated reason captured — so failure modes can be told apart afterwards.</a:t>
            </a:r>
            <a:endParaRPr lang="en-US" sz="1200" dirty="0"/>
          </a:p>
        </p:txBody>
      </p:sp>
      <p:sp>
        <p:nvSpPr>
          <p:cNvPr id="34" name="Shape 32"/>
          <p:cNvSpPr/>
          <p:nvPr/>
        </p:nvSpPr>
        <p:spPr>
          <a:xfrm>
            <a:off x="566928" y="4846320"/>
            <a:ext cx="11027664" cy="859536"/>
          </a:xfrm>
          <a:prstGeom prst="roundRect">
            <a:avLst>
              <a:gd name="adj" fmla="val 10638"/>
            </a:avLst>
          </a:prstGeom>
          <a:solidFill>
            <a:srgbClr val="F3F7FB"/>
          </a:solidFill>
          <a:ln w="17780">
            <a:solidFill>
              <a:srgbClr val="0096FF"/>
            </a:solidFill>
            <a:prstDash val="solid"/>
          </a:ln>
        </p:spPr>
        <p:txBody>
          <a:bodyPr/>
          <a:lstStyle/>
          <a:p>
            <a:endParaRPr lang="en-IN"/>
          </a:p>
        </p:txBody>
      </p:sp>
      <p:sp>
        <p:nvSpPr>
          <p:cNvPr id="35" name="Text 33"/>
          <p:cNvSpPr txBox="1"/>
          <p:nvPr/>
        </p:nvSpPr>
        <p:spPr>
          <a:xfrm>
            <a:off x="877824" y="5065776"/>
            <a:ext cx="10405872" cy="457200"/>
          </a:xfrm>
          <a:prstGeom prst="rect">
            <a:avLst/>
          </a:prstGeom>
          <a:noFill/>
          <a:ln/>
        </p:spPr>
        <p:txBody>
          <a:bodyPr wrap="square" lIns="0" tIns="0" rIns="0" bIns="0" rtlCol="0" anchor="ctr"/>
          <a:lstStyle/>
          <a:p>
            <a:pPr marL="0" indent="0">
              <a:lnSpc>
                <a:spcPct val="125000"/>
              </a:lnSpc>
              <a:buNone/>
            </a:pPr>
            <a:r>
              <a:rPr lang="en-US" sz="1450" b="1" dirty="0">
                <a:solidFill>
                  <a:srgbClr val="0D1523"/>
                </a:solidFill>
                <a:latin typeface="Calibri" pitchFamily="34" charset="0"/>
                <a:ea typeface="Calibri" pitchFamily="34" charset="-122"/>
                <a:cs typeface="Calibri" pitchFamily="34" charset="-120"/>
              </a:rPr>
              <a:t>None of it is tied to a single development environment, model vendor or orchestration framework.  </a:t>
            </a:r>
            <a:r>
              <a:rPr lang="en-US" sz="1450" dirty="0">
                <a:solidFill>
                  <a:srgbClr val="68788A"/>
                </a:solidFill>
                <a:latin typeface="Calibri" pitchFamily="34" charset="0"/>
                <a:ea typeface="Calibri" pitchFamily="34" charset="-122"/>
                <a:cs typeface="Calibri" pitchFamily="34" charset="-120"/>
              </a:rPr>
              <a:t>That is deliberate. The operating envelope is what does not commoditise.</a:t>
            </a:r>
            <a:endParaRPr lang="en-US" sz="1450" dirty="0"/>
          </a:p>
        </p:txBody>
      </p:sp>
      <p:pic>
        <p:nvPicPr>
          <p:cNvPr id="36" name="Image 0" descr="preencoded.png"/>
          <p:cNvPicPr>
            <a:picLocks noChangeAspect="1"/>
          </p:cNvPicPr>
          <p:nvPr/>
        </p:nvPicPr>
        <p:blipFill>
          <a:blip r:embed="rId3"/>
          <a:stretch>
            <a:fillRect/>
          </a:stretch>
        </p:blipFill>
        <p:spPr>
          <a:xfrm>
            <a:off x="566928" y="6419088"/>
            <a:ext cx="173736" cy="173736"/>
          </a:xfrm>
          <a:prstGeom prst="rect">
            <a:avLst/>
          </a:prstGeom>
        </p:spPr>
      </p:pic>
      <p:sp>
        <p:nvSpPr>
          <p:cNvPr id="37" name="Text 34"/>
          <p:cNvSpPr txBox="1"/>
          <p:nvPr/>
        </p:nvSpPr>
        <p:spPr>
          <a:xfrm>
            <a:off x="813816" y="6428232"/>
            <a:ext cx="4572000" cy="256032"/>
          </a:xfrm>
          <a:prstGeom prst="rect">
            <a:avLst/>
          </a:prstGeom>
          <a:noFill/>
          <a:ln/>
        </p:spPr>
        <p:txBody>
          <a:bodyPr wrap="square" lIns="0" tIns="0" rIns="0" bIns="0" rtlCol="0" anchor="ctr"/>
          <a:lstStyle/>
          <a:p>
            <a:pPr marL="0" indent="0">
              <a:buNone/>
            </a:pPr>
            <a:r>
              <a:rPr lang="en-US" sz="1000" dirty="0">
                <a:solidFill>
                  <a:srgbClr val="68788A"/>
                </a:solidFill>
                <a:latin typeface="Calibri" pitchFamily="34" charset="0"/>
                <a:ea typeface="Calibri" pitchFamily="34" charset="-122"/>
                <a:cs typeface="Calibri" pitchFamily="34" charset="-120"/>
              </a:rPr>
              <a:t>QualiZeal · AI Center of Excellence</a:t>
            </a:r>
            <a:endParaRPr lang="en-US" sz="1000" dirty="0"/>
          </a:p>
        </p:txBody>
      </p:sp>
      <p:sp>
        <p:nvSpPr>
          <p:cNvPr id="38" name="Text 35"/>
          <p:cNvSpPr txBox="1"/>
          <p:nvPr/>
        </p:nvSpPr>
        <p:spPr>
          <a:xfrm>
            <a:off x="11045952" y="6437376"/>
            <a:ext cx="548640" cy="256032"/>
          </a:xfrm>
          <a:prstGeom prst="rect">
            <a:avLst/>
          </a:prstGeom>
          <a:noFill/>
          <a:ln/>
        </p:spPr>
        <p:txBody>
          <a:bodyPr wrap="square" lIns="0" tIns="0" rIns="0" bIns="0" rtlCol="0" anchor="ctr"/>
          <a:lstStyle/>
          <a:p>
            <a:pPr marL="0" indent="0" algn="r">
              <a:buNone/>
            </a:pPr>
            <a:r>
              <a:rPr lang="en-US" sz="1000" b="1" dirty="0">
                <a:solidFill>
                  <a:srgbClr val="0D152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7034</TotalTime>
  <Words>1961</Words>
  <Application>Microsoft Office PowerPoint</Application>
  <PresentationFormat>Widescreen</PresentationFormat>
  <Paragraphs>241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O365 Office Apps</cp:lastModifiedBy>
  <cp:revision>2</cp:revision>
  <dcterms:created xsi:type="dcterms:W3CDTF">2026-08-27T11:15:29Z</dcterms:created>
  <dcterms:modified xsi:type="dcterms:W3CDTF">2026-09-01T08:31:14Z</dcterms:modified>
</cp:coreProperties>
</file>