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5836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 CARGO TECHNOLOGY   ·   REVISED POC PLAN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AI-assisted delivery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Cargo, built on Kiro CLI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 for a fast outcome — a lean architecture, clear gates and loops, and a 5-week plan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834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 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that AI-assisted delivery can move faster while meeting Cargo’s engineering standards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3520440"/>
            <a:ext cx="2587752" cy="1572768"/>
          </a:xfrm>
          <a:prstGeom prst="roundRect">
            <a:avLst>
              <a:gd name="adj" fmla="val 4651"/>
            </a:avLst>
          </a:prstGeom>
          <a:solidFill>
            <a:srgbClr val="16305A"/>
          </a:solidFill>
          <a:ln w="9525">
            <a:solidFill>
              <a:srgbClr val="2A477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703320"/>
            <a:ext cx="420624" cy="420624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322" y="3812682"/>
            <a:ext cx="201900" cy="2019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53312" y="375818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251960"/>
            <a:ext cx="231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Calculator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599432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flow, built end to end and running on AWS dev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410712" y="3520440"/>
            <a:ext cx="2587752" cy="1572768"/>
          </a:xfrm>
          <a:prstGeom prst="roundRect">
            <a:avLst>
              <a:gd name="adj" fmla="val 4651"/>
            </a:avLst>
          </a:prstGeom>
          <a:solidFill>
            <a:srgbClr val="16305A"/>
          </a:solidFill>
          <a:ln w="9525">
            <a:solidFill>
              <a:srgbClr val="2A477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93592" y="3703320"/>
            <a:ext cx="420624" cy="420624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954" y="3812682"/>
            <a:ext cx="201900" cy="2019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123944" y="375818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2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3593592" y="4251960"/>
            <a:ext cx="231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automation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3593592" y="4599432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tests generated from approved stories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181344" y="3520440"/>
            <a:ext cx="2587752" cy="1572768"/>
          </a:xfrm>
          <a:prstGeom prst="roundRect">
            <a:avLst>
              <a:gd name="adj" fmla="val 4651"/>
            </a:avLst>
          </a:prstGeom>
          <a:solidFill>
            <a:srgbClr val="16305A"/>
          </a:solidFill>
          <a:ln w="9525">
            <a:solidFill>
              <a:srgbClr val="2A477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364224" y="3703320"/>
            <a:ext cx="420624" cy="420624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586" y="3812682"/>
            <a:ext cx="201900" cy="2019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894576" y="375818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6364224" y="4251960"/>
            <a:ext cx="231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+ AI engineer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6364224" y="4599432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time: repo walkthroughs and approvals only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8951976" y="3520440"/>
            <a:ext cx="2587752" cy="1572768"/>
          </a:xfrm>
          <a:prstGeom prst="roundRect">
            <a:avLst>
              <a:gd name="adj" fmla="val 4651"/>
            </a:avLst>
          </a:prstGeom>
          <a:solidFill>
            <a:srgbClr val="16305A"/>
          </a:solidFill>
          <a:ln w="9525">
            <a:solidFill>
              <a:srgbClr val="2A4775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134856" y="3703320"/>
            <a:ext cx="420624" cy="420624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4218" y="3812682"/>
            <a:ext cx="201900" cy="2019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665208" y="375818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9134856" y="4251960"/>
            <a:ext cx="2313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weeks</a:t>
            </a:r>
            <a:endParaRPr lang="en-US" sz="1700" dirty="0"/>
          </a:p>
        </p:txBody>
      </p:sp>
      <p:sp>
        <p:nvSpPr>
          <p:cNvPr id="29" name="Text 23"/>
          <p:cNvSpPr txBox="1"/>
          <p:nvPr/>
        </p:nvSpPr>
        <p:spPr>
          <a:xfrm>
            <a:off x="9134856" y="4599432"/>
            <a:ext cx="226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set once the team and access are confirmed</a:t>
            </a:r>
            <a:endParaRPr lang="en-US" sz="1150" dirty="0"/>
          </a:p>
        </p:txBody>
      </p:sp>
      <p:sp>
        <p:nvSpPr>
          <p:cNvPr id="30" name="Text 24"/>
          <p:cNvSpPr txBox="1"/>
          <p:nvPr/>
        </p:nvSpPr>
        <p:spPr>
          <a:xfrm>
            <a:off x="640080" y="5440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Prashobh</a:t>
            </a:r>
            <a:r>
              <a:rPr lang="en-US" sz="1250" dirty="0">
                <a:solidFill>
                  <a:srgbClr val="C9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AI Architect, QualiZeal AI Center of Excellence (CoE)</a:t>
            </a:r>
            <a:r>
              <a:rPr lang="en-US" sz="125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·      Draft v0.3 for discussion</a:t>
            </a:r>
            <a:endParaRPr lang="en-US" sz="1250" dirty="0"/>
          </a:p>
        </p:txBody>
      </p:sp>
      <p:sp>
        <p:nvSpPr>
          <p:cNvPr id="31" name="Text 25"/>
          <p:cNvSpPr txBox="1"/>
          <p:nvPr/>
        </p:nvSpPr>
        <p:spPr>
          <a:xfrm>
            <a:off x="640080" y="614476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AI-DLC: AI-Driven Development Life Cycle   ·   AWS: Amazon Web Services   ·   CLI: command-line interface   ·   POC: proof of concept   ·   UI: user interface   ·   VPN: virtual private network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3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agents, essential guardrails, nothing extra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1615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to what the two POCs need — everything else is deferred, not dropped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0078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2112264"/>
            <a:ext cx="365760" cy="365760"/>
          </a:xfrm>
          <a:prstGeom prst="ellipse">
            <a:avLst/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466" y="2207362"/>
            <a:ext cx="175565" cy="17556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15568" y="2011680"/>
            <a:ext cx="1499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stories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724912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" y="2825496"/>
            <a:ext cx="365760" cy="365760"/>
          </a:xfrm>
          <a:prstGeom prst="ellipse">
            <a:avLst/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466" y="2920594"/>
            <a:ext cx="175565" cy="17556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115568" y="2724912"/>
            <a:ext cx="1499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 specs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438144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8368" y="3538728"/>
            <a:ext cx="365760" cy="365760"/>
          </a:xfrm>
          <a:prstGeom prst="ellipse">
            <a:avLst/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466" y="3633826"/>
            <a:ext cx="175565" cy="17556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15568" y="3438144"/>
            <a:ext cx="1499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Calculator repo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48640" y="4151376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58368" y="4251960"/>
            <a:ext cx="365760" cy="365760"/>
          </a:xfrm>
          <a:prstGeom prst="ellipse">
            <a:avLst/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66" y="4347058"/>
            <a:ext cx="175565" cy="17556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115568" y="4151376"/>
            <a:ext cx="1499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repo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2724912" y="3236976"/>
            <a:ext cx="310896" cy="0"/>
          </a:xfrm>
          <a:prstGeom prst="line">
            <a:avLst/>
          </a:prstGeom>
          <a:noFill/>
          <a:ln w="25400">
            <a:solidFill>
              <a:srgbClr val="3A5A80"/>
            </a:solidFill>
            <a:prstDash val="solid"/>
            <a:tailEnd type="triangle"/>
          </a:ln>
        </p:spPr>
      </p:sp>
      <p:sp>
        <p:nvSpPr>
          <p:cNvPr id="23" name="Text 17"/>
          <p:cNvSpPr txBox="1"/>
          <p:nvPr/>
        </p:nvSpPr>
        <p:spPr>
          <a:xfrm>
            <a:off x="3127248" y="1700784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KIRO CLI WORKSPACE  ·  CARGO GROUP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127248" y="2011680"/>
            <a:ext cx="5907024" cy="731520"/>
          </a:xfrm>
          <a:prstGeom prst="roundRect">
            <a:avLst>
              <a:gd name="adj" fmla="val 10000"/>
            </a:avLst>
          </a:prstGeom>
          <a:solidFill>
            <a:srgbClr val="0E2240"/>
          </a:solidFill>
          <a:ln w="9525">
            <a:solidFill>
              <a:srgbClr val="0E2240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3291840" y="20116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4572000" y="2157984"/>
            <a:ext cx="1389888" cy="438912"/>
          </a:xfrm>
          <a:prstGeom prst="roundRect">
            <a:avLst>
              <a:gd name="adj" fmla="val 12500"/>
            </a:avLst>
          </a:prstGeom>
          <a:solidFill>
            <a:srgbClr val="23406E"/>
          </a:solidFill>
          <a:ln w="9525">
            <a:solidFill>
              <a:srgbClr val="23406E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4572000" y="2157984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Per-agent permissions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6035040" y="2157984"/>
            <a:ext cx="1389888" cy="438912"/>
          </a:xfrm>
          <a:prstGeom prst="roundRect">
            <a:avLst>
              <a:gd name="adj" fmla="val 12500"/>
            </a:avLst>
          </a:prstGeom>
          <a:solidFill>
            <a:srgbClr val="23406E"/>
          </a:solidFill>
          <a:ln w="9525">
            <a:solidFill>
              <a:srgbClr val="23406E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6035040" y="2157984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safety checks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7498080" y="2157984"/>
            <a:ext cx="1389888" cy="438912"/>
          </a:xfrm>
          <a:prstGeom prst="roundRect">
            <a:avLst>
              <a:gd name="adj" fmla="val 12500"/>
            </a:avLst>
          </a:prstGeom>
          <a:solidFill>
            <a:srgbClr val="23406E"/>
          </a:solidFill>
          <a:ln w="9525">
            <a:solidFill>
              <a:srgbClr val="23406E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7498080" y="2157984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hand-offs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3127248" y="2852928"/>
            <a:ext cx="5907024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3A5A8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Text 27"/>
          <p:cNvSpPr txBox="1"/>
          <p:nvPr/>
        </p:nvSpPr>
        <p:spPr>
          <a:xfrm>
            <a:off x="3291840" y="29077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specialist agents</a:t>
            </a:r>
            <a:endParaRPr lang="en-US" sz="1400" dirty="0"/>
          </a:p>
        </p:txBody>
      </p:sp>
      <p:sp>
        <p:nvSpPr>
          <p:cNvPr id="34" name="Shape 28"/>
          <p:cNvSpPr/>
          <p:nvPr/>
        </p:nvSpPr>
        <p:spPr>
          <a:xfrm>
            <a:off x="3310128" y="3255264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E8EEF6"/>
          </a:solidFill>
          <a:ln w="9525">
            <a:solidFill>
              <a:srgbClr val="8FA3C0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3310128" y="325526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4526280" y="3447288"/>
            <a:ext cx="237744" cy="0"/>
          </a:xfrm>
          <a:prstGeom prst="line">
            <a:avLst/>
          </a:prstGeom>
          <a:noFill/>
          <a:ln w="15875">
            <a:solidFill>
              <a:srgbClr val="3A5A80"/>
            </a:solidFill>
            <a:prstDash val="solid"/>
            <a:tailEnd type="triangle"/>
          </a:ln>
        </p:spPr>
      </p:sp>
      <p:sp>
        <p:nvSpPr>
          <p:cNvPr id="37" name="Shape 31"/>
          <p:cNvSpPr/>
          <p:nvPr/>
        </p:nvSpPr>
        <p:spPr>
          <a:xfrm>
            <a:off x="4791456" y="3255264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E8EEF6"/>
          </a:solidFill>
          <a:ln w="9525">
            <a:solidFill>
              <a:srgbClr val="8FA3C0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4791456" y="325526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00" dirty="0"/>
          </a:p>
        </p:txBody>
      </p:sp>
      <p:sp>
        <p:nvSpPr>
          <p:cNvPr id="39" name="Shape 33"/>
          <p:cNvSpPr/>
          <p:nvPr/>
        </p:nvSpPr>
        <p:spPr>
          <a:xfrm>
            <a:off x="6007608" y="3447288"/>
            <a:ext cx="237744" cy="0"/>
          </a:xfrm>
          <a:prstGeom prst="line">
            <a:avLst/>
          </a:prstGeom>
          <a:noFill/>
          <a:ln w="15875">
            <a:solidFill>
              <a:srgbClr val="3A5A80"/>
            </a:solidFill>
            <a:prstDash val="solid"/>
            <a:tailEnd type="triangle"/>
          </a:ln>
        </p:spPr>
      </p:sp>
      <p:sp>
        <p:nvSpPr>
          <p:cNvPr id="40" name="Shape 34"/>
          <p:cNvSpPr/>
          <p:nvPr/>
        </p:nvSpPr>
        <p:spPr>
          <a:xfrm>
            <a:off x="6272784" y="3255264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E8EEF6"/>
          </a:solidFill>
          <a:ln w="9525">
            <a:solidFill>
              <a:srgbClr val="8FA3C0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6272784" y="325526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7488936" y="3447288"/>
            <a:ext cx="237744" cy="0"/>
          </a:xfrm>
          <a:prstGeom prst="line">
            <a:avLst/>
          </a:prstGeom>
          <a:noFill/>
          <a:ln w="15875">
            <a:solidFill>
              <a:srgbClr val="3A5A80"/>
            </a:solidFill>
            <a:prstDash val="solid"/>
            <a:tailEnd type="triangle"/>
          </a:ln>
        </p:spPr>
      </p:sp>
      <p:sp>
        <p:nvSpPr>
          <p:cNvPr id="43" name="Shape 37"/>
          <p:cNvSpPr/>
          <p:nvPr/>
        </p:nvSpPr>
        <p:spPr>
          <a:xfrm>
            <a:off x="7754112" y="3255264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E8EEF6"/>
          </a:solidFill>
          <a:ln w="9525">
            <a:solidFill>
              <a:srgbClr val="8FA3C0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7754112" y="325526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00" dirty="0"/>
          </a:p>
        </p:txBody>
      </p:sp>
      <p:sp>
        <p:nvSpPr>
          <p:cNvPr id="45" name="Text 39"/>
          <p:cNvSpPr txBox="1"/>
          <p:nvPr/>
        </p:nvSpPr>
        <p:spPr>
          <a:xfrm>
            <a:off x="3291840" y="3675888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sits inside the Build agent’s plan; hand-offs are simple files — no coordinator needed</a:t>
            </a:r>
            <a:endParaRPr lang="en-US" sz="1050" dirty="0"/>
          </a:p>
        </p:txBody>
      </p:sp>
      <p:sp>
        <p:nvSpPr>
          <p:cNvPr id="46" name="Shape 40"/>
          <p:cNvSpPr/>
          <p:nvPr/>
        </p:nvSpPr>
        <p:spPr>
          <a:xfrm>
            <a:off x="3127248" y="4059936"/>
            <a:ext cx="5907024" cy="731520"/>
          </a:xfrm>
          <a:prstGeom prst="roundRect">
            <a:avLst>
              <a:gd name="adj" fmla="val 10000"/>
            </a:avLst>
          </a:prstGeom>
          <a:solidFill>
            <a:srgbClr val="E8EEF6"/>
          </a:solidFill>
          <a:ln w="9525">
            <a:solidFill>
              <a:srgbClr val="E8EEF6"/>
            </a:solidFill>
            <a:prstDash val="solid"/>
          </a:ln>
        </p:spPr>
      </p:sp>
      <p:sp>
        <p:nvSpPr>
          <p:cNvPr id="47" name="Text 41"/>
          <p:cNvSpPr txBox="1"/>
          <p:nvPr/>
        </p:nvSpPr>
        <p:spPr>
          <a:xfrm>
            <a:off x="3291840" y="4059936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400" dirty="0"/>
          </a:p>
        </p:txBody>
      </p:sp>
      <p:sp>
        <p:nvSpPr>
          <p:cNvPr id="48" name="Shape 42"/>
          <p:cNvSpPr/>
          <p:nvPr/>
        </p:nvSpPr>
        <p:spPr>
          <a:xfrm>
            <a:off x="4572000" y="4187952"/>
            <a:ext cx="1389888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8FA3C0"/>
            </a:solidFill>
            <a:prstDash val="solid"/>
          </a:ln>
        </p:spPr>
      </p:sp>
      <p:sp>
        <p:nvSpPr>
          <p:cNvPr id="49" name="Text 43"/>
          <p:cNvSpPr txBox="1"/>
          <p:nvPr/>
        </p:nvSpPr>
        <p:spPr>
          <a:xfrm>
            <a:off x="4572000" y="4187952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standards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two POCs</a:t>
            </a:r>
            <a:endParaRPr lang="en-US" sz="1050" dirty="0"/>
          </a:p>
        </p:txBody>
      </p:sp>
      <p:sp>
        <p:nvSpPr>
          <p:cNvPr id="50" name="Shape 44"/>
          <p:cNvSpPr/>
          <p:nvPr/>
        </p:nvSpPr>
        <p:spPr>
          <a:xfrm>
            <a:off x="6035040" y="4187952"/>
            <a:ext cx="1389888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8FA3C0"/>
            </a:solidFill>
            <a:prstDash val="solid"/>
          </a:ln>
        </p:spPr>
      </p:sp>
      <p:sp>
        <p:nvSpPr>
          <p:cNvPr id="51" name="Text 45"/>
          <p:cNvSpPr txBox="1"/>
          <p:nvPr/>
        </p:nvSpPr>
        <p:spPr>
          <a:xfrm>
            <a:off x="6035040" y="4187952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AI-DLC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practices</a:t>
            </a:r>
            <a:endParaRPr lang="en-US" sz="1050" dirty="0"/>
          </a:p>
        </p:txBody>
      </p:sp>
      <p:sp>
        <p:nvSpPr>
          <p:cNvPr id="52" name="Shape 46"/>
          <p:cNvSpPr/>
          <p:nvPr/>
        </p:nvSpPr>
        <p:spPr>
          <a:xfrm>
            <a:off x="7498080" y="4187952"/>
            <a:ext cx="1389888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8FA3C0"/>
            </a:solidFill>
            <a:prstDash val="solid"/>
          </a:ln>
        </p:spPr>
      </p:sp>
      <p:sp>
        <p:nvSpPr>
          <p:cNvPr id="53" name="Text 47"/>
          <p:cNvSpPr txBox="1"/>
          <p:nvPr/>
        </p:nvSpPr>
        <p:spPr>
          <a:xfrm>
            <a:off x="7498080" y="4187952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maps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both repos</a:t>
            </a:r>
            <a:endParaRPr lang="en-US" sz="1050" dirty="0"/>
          </a:p>
        </p:txBody>
      </p:sp>
      <p:sp>
        <p:nvSpPr>
          <p:cNvPr id="54" name="Shape 48"/>
          <p:cNvSpPr/>
          <p:nvPr/>
        </p:nvSpPr>
        <p:spPr>
          <a:xfrm>
            <a:off x="9107424" y="3236976"/>
            <a:ext cx="310896" cy="0"/>
          </a:xfrm>
          <a:prstGeom prst="line">
            <a:avLst/>
          </a:prstGeom>
          <a:noFill/>
          <a:ln w="25400">
            <a:solidFill>
              <a:srgbClr val="3A5A80"/>
            </a:solidFill>
            <a:prstDash val="solid"/>
            <a:tailEnd type="triangle"/>
          </a:ln>
        </p:spPr>
      </p:sp>
      <p:sp>
        <p:nvSpPr>
          <p:cNvPr id="55" name="Text 49"/>
          <p:cNvSpPr txBox="1"/>
          <p:nvPr/>
        </p:nvSpPr>
        <p:spPr>
          <a:xfrm>
            <a:off x="9509760" y="170078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100" dirty="0"/>
          </a:p>
        </p:txBody>
      </p:sp>
      <p:sp>
        <p:nvSpPr>
          <p:cNvPr id="56" name="Shape 50"/>
          <p:cNvSpPr/>
          <p:nvPr/>
        </p:nvSpPr>
        <p:spPr>
          <a:xfrm>
            <a:off x="9509760" y="2011680"/>
            <a:ext cx="213055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7" name="Shape 51"/>
          <p:cNvSpPr/>
          <p:nvPr/>
        </p:nvSpPr>
        <p:spPr>
          <a:xfrm>
            <a:off x="9619488" y="2112264"/>
            <a:ext cx="365760" cy="365760"/>
          </a:xfrm>
          <a:prstGeom prst="ellipse">
            <a:avLst/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pic>
        <p:nvPicPr>
          <p:cNvPr id="5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4586" y="2207362"/>
            <a:ext cx="175565" cy="175565"/>
          </a:xfrm>
          <a:prstGeom prst="rect">
            <a:avLst/>
          </a:prstGeom>
        </p:spPr>
      </p:pic>
      <p:sp>
        <p:nvSpPr>
          <p:cNvPr id="59" name="Text 52"/>
          <p:cNvSpPr txBox="1"/>
          <p:nvPr/>
        </p:nvSpPr>
        <p:spPr>
          <a:xfrm>
            <a:off x="10076688" y="2011680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merge request</a:t>
            </a:r>
            <a:endParaRPr lang="en-US" sz="1200" dirty="0"/>
          </a:p>
        </p:txBody>
      </p:sp>
      <p:sp>
        <p:nvSpPr>
          <p:cNvPr id="60" name="Shape 53"/>
          <p:cNvSpPr/>
          <p:nvPr/>
        </p:nvSpPr>
        <p:spPr>
          <a:xfrm>
            <a:off x="9509760" y="2724912"/>
            <a:ext cx="213055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1" name="Shape 54"/>
          <p:cNvSpPr/>
          <p:nvPr/>
        </p:nvSpPr>
        <p:spPr>
          <a:xfrm>
            <a:off x="9619488" y="2825496"/>
            <a:ext cx="365760" cy="365760"/>
          </a:xfrm>
          <a:prstGeom prst="ellipse">
            <a:avLst/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pic>
        <p:nvPicPr>
          <p:cNvPr id="6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4586" y="2920594"/>
            <a:ext cx="175565" cy="175565"/>
          </a:xfrm>
          <a:prstGeom prst="rect">
            <a:avLst/>
          </a:prstGeom>
        </p:spPr>
      </p:pic>
      <p:sp>
        <p:nvSpPr>
          <p:cNvPr id="63" name="Text 55"/>
          <p:cNvSpPr txBox="1"/>
          <p:nvPr/>
        </p:nvSpPr>
        <p:spPr>
          <a:xfrm>
            <a:off x="10076688" y="2724912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+ traceability</a:t>
            </a:r>
            <a:endParaRPr lang="en-US" sz="1200" dirty="0"/>
          </a:p>
        </p:txBody>
      </p:sp>
      <p:sp>
        <p:nvSpPr>
          <p:cNvPr id="64" name="Shape 56"/>
          <p:cNvSpPr/>
          <p:nvPr/>
        </p:nvSpPr>
        <p:spPr>
          <a:xfrm>
            <a:off x="9509760" y="3438144"/>
            <a:ext cx="213055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5" name="Shape 57"/>
          <p:cNvSpPr/>
          <p:nvPr/>
        </p:nvSpPr>
        <p:spPr>
          <a:xfrm>
            <a:off x="9619488" y="3538728"/>
            <a:ext cx="365760" cy="365760"/>
          </a:xfrm>
          <a:prstGeom prst="ellipse">
            <a:avLst/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pic>
        <p:nvPicPr>
          <p:cNvPr id="6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4586" y="3633826"/>
            <a:ext cx="175565" cy="175565"/>
          </a:xfrm>
          <a:prstGeom prst="rect">
            <a:avLst/>
          </a:prstGeom>
        </p:spPr>
      </p:pic>
      <p:sp>
        <p:nvSpPr>
          <p:cNvPr id="67" name="Text 58"/>
          <p:cNvSpPr txBox="1"/>
          <p:nvPr/>
        </p:nvSpPr>
        <p:spPr>
          <a:xfrm>
            <a:off x="10076688" y="3438144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on AWS dev</a:t>
            </a:r>
            <a:endParaRPr lang="en-US" sz="1200" dirty="0"/>
          </a:p>
        </p:txBody>
      </p:sp>
      <p:sp>
        <p:nvSpPr>
          <p:cNvPr id="68" name="Shape 59"/>
          <p:cNvSpPr/>
          <p:nvPr/>
        </p:nvSpPr>
        <p:spPr>
          <a:xfrm>
            <a:off x="9509760" y="4151376"/>
            <a:ext cx="213055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9" name="Shape 60"/>
          <p:cNvSpPr/>
          <p:nvPr/>
        </p:nvSpPr>
        <p:spPr>
          <a:xfrm>
            <a:off x="9619488" y="4251960"/>
            <a:ext cx="365760" cy="365760"/>
          </a:xfrm>
          <a:prstGeom prst="ellipse">
            <a:avLst/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pic>
        <p:nvPicPr>
          <p:cNvPr id="7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14586" y="4347058"/>
            <a:ext cx="175565" cy="175565"/>
          </a:xfrm>
          <a:prstGeom prst="rect">
            <a:avLst/>
          </a:prstGeom>
        </p:spPr>
      </p:pic>
      <p:sp>
        <p:nvSpPr>
          <p:cNvPr id="71" name="Text 61"/>
          <p:cNvSpPr txBox="1"/>
          <p:nvPr/>
        </p:nvSpPr>
        <p:spPr>
          <a:xfrm>
            <a:off x="10076688" y="4151376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AI vs manual</a:t>
            </a:r>
            <a:endParaRPr lang="en-US" sz="1200" dirty="0"/>
          </a:p>
        </p:txBody>
      </p:sp>
      <p:sp>
        <p:nvSpPr>
          <p:cNvPr id="72" name="Shape 62"/>
          <p:cNvSpPr/>
          <p:nvPr/>
        </p:nvSpPr>
        <p:spPr>
          <a:xfrm>
            <a:off x="548640" y="4956048"/>
            <a:ext cx="11091672" cy="420624"/>
          </a:xfrm>
          <a:prstGeom prst="roundRect">
            <a:avLst>
              <a:gd name="adj" fmla="val 13043"/>
            </a:avLst>
          </a:prstGeom>
          <a:solidFill>
            <a:srgbClr val="0E2240"/>
          </a:solidFill>
          <a:ln w="9525">
            <a:solidFill>
              <a:srgbClr val="0E2240"/>
            </a:solidFill>
            <a:prstDash val="solid"/>
          </a:ln>
        </p:spPr>
      </p:sp>
      <p:sp>
        <p:nvSpPr>
          <p:cNvPr id="73" name="Text 63"/>
          <p:cNvSpPr txBox="1"/>
          <p:nvPr/>
        </p:nvSpPr>
        <p:spPr>
          <a:xfrm>
            <a:off x="749808" y="4956048"/>
            <a:ext cx="10789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action logged   ·   every approval recorded with its reason   ·   weekly scorecard</a:t>
            </a:r>
            <a:endParaRPr lang="en-US" sz="1200" dirty="0"/>
          </a:p>
        </p:txBody>
      </p:sp>
      <p:sp>
        <p:nvSpPr>
          <p:cNvPr id="74" name="Shape 64"/>
          <p:cNvSpPr/>
          <p:nvPr/>
        </p:nvSpPr>
        <p:spPr>
          <a:xfrm>
            <a:off x="548640" y="5541264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4D6"/>
          </a:solidFill>
          <a:ln w="9525">
            <a:solidFill>
              <a:srgbClr val="EAD8A6"/>
            </a:solidFill>
            <a:prstDash val="solid"/>
          </a:ln>
        </p:spPr>
      </p:sp>
      <p:sp>
        <p:nvSpPr>
          <p:cNvPr id="75" name="Shape 65"/>
          <p:cNvSpPr/>
          <p:nvPr/>
        </p:nvSpPr>
        <p:spPr>
          <a:xfrm>
            <a:off x="713232" y="5669280"/>
            <a:ext cx="402336" cy="402336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pic>
        <p:nvPicPr>
          <p:cNvPr id="7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7839" y="5773887"/>
            <a:ext cx="193121" cy="193121"/>
          </a:xfrm>
          <a:prstGeom prst="rect">
            <a:avLst/>
          </a:prstGeom>
        </p:spPr>
      </p:pic>
      <p:sp>
        <p:nvSpPr>
          <p:cNvPr id="77" name="Text 66"/>
          <p:cNvSpPr txBox="1"/>
          <p:nvPr/>
        </p:nvSpPr>
        <p:spPr>
          <a:xfrm>
            <a:off x="1261872" y="5541264"/>
            <a:ext cx="10287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0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TO PHASE 2   </a:t>
            </a: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agent  ·  separate design and release agents  ·  pipeline-triggered agent runs  ·  dashboards  ·  more tech stacks</a:t>
            </a:r>
            <a:endParaRPr lang="en-US" sz="1200" dirty="0"/>
          </a:p>
        </p:txBody>
      </p:sp>
      <p:sp>
        <p:nvSpPr>
          <p:cNvPr id="78" name="Text 67"/>
          <p:cNvSpPr txBox="1"/>
          <p:nvPr/>
        </p:nvSpPr>
        <p:spPr>
          <a:xfrm>
            <a:off x="548640" y="6473952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QualiZeal AI CoE  ·  SWA Cargo  ·  Governed AI-assisted delivery on Kiro CLI  ·  Draft for discussion</a:t>
            </a:r>
            <a:endParaRPr lang="en-US" sz="900" dirty="0"/>
          </a:p>
        </p:txBody>
      </p:sp>
      <p:sp>
        <p:nvSpPr>
          <p:cNvPr id="79" name="Text 68"/>
          <p:cNvSpPr txBox="1"/>
          <p:nvPr/>
        </p:nvSpPr>
        <p:spPr>
          <a:xfrm>
            <a:off x="10725912" y="6473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3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 ·  GATES AND LOOPS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people decide, and where agents retry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1615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mode keeps three gates for the POC; any gate can be split back out if Cargo wants more control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121408" y="2624328"/>
            <a:ext cx="411480" cy="0"/>
          </a:xfrm>
          <a:prstGeom prst="line">
            <a:avLst/>
          </a:prstGeom>
          <a:noFill/>
          <a:ln w="19050">
            <a:solidFill>
              <a:srgbClr val="3A5A80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105656" y="2624328"/>
            <a:ext cx="411480" cy="0"/>
          </a:xfrm>
          <a:prstGeom prst="line">
            <a:avLst/>
          </a:prstGeom>
          <a:noFill/>
          <a:ln w="19050">
            <a:solidFill>
              <a:srgbClr val="3A5A8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089904" y="2624328"/>
            <a:ext cx="411480" cy="0"/>
          </a:xfrm>
          <a:prstGeom prst="line">
            <a:avLst/>
          </a:prstGeom>
          <a:noFill/>
          <a:ln w="19050">
            <a:solidFill>
              <a:srgbClr val="3A5A8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074152" y="2624328"/>
            <a:ext cx="411480" cy="0"/>
          </a:xfrm>
          <a:prstGeom prst="line">
            <a:avLst/>
          </a:prstGeom>
          <a:noFill/>
          <a:ln w="19050">
            <a:solidFill>
              <a:srgbClr val="3A5A8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0058400" y="2624328"/>
            <a:ext cx="411480" cy="0"/>
          </a:xfrm>
          <a:prstGeom prst="line">
            <a:avLst/>
          </a:prstGeom>
          <a:noFill/>
          <a:ln w="19050">
            <a:solidFill>
              <a:srgbClr val="3A5A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" y="2157984"/>
            <a:ext cx="1572768" cy="932688"/>
          </a:xfrm>
          <a:prstGeom prst="roundRect">
            <a:avLst>
              <a:gd name="adj" fmla="val 7843"/>
            </a:avLst>
          </a:prstGeom>
          <a:solidFill>
            <a:srgbClr val="E8EEF6"/>
          </a:solidFill>
          <a:ln w="9525">
            <a:solidFill>
              <a:srgbClr val="3A5A8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0080" y="2203704"/>
            <a:ext cx="13898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A0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r>
              <a:rPr lang="en-US" sz="130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agent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 + acceptance criteria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532888" y="2157984"/>
            <a:ext cx="1572768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3A5A8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624328" y="2203704"/>
            <a:ext cx="13898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A0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r>
              <a:rPr lang="en-US" sz="130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plan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agent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build plan, test plan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17136" y="2157984"/>
            <a:ext cx="1572768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3A5A8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608576" y="2203704"/>
            <a:ext cx="13898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A0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r>
              <a:rPr lang="en-US" sz="130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agent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build, lint, unit tests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01384" y="2157984"/>
            <a:ext cx="1572768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3A5A8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592824" y="2203704"/>
            <a:ext cx="13898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A0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r>
              <a:rPr lang="en-US" sz="130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agent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+ Playwright tests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485632" y="2157984"/>
            <a:ext cx="1572768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3A5A8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577072" y="2203704"/>
            <a:ext cx="13898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A0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r>
              <a:rPr lang="en-US" sz="130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3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agent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standards, security, quality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469880" y="2157984"/>
            <a:ext cx="1170432" cy="932688"/>
          </a:xfrm>
          <a:prstGeom prst="roundRect">
            <a:avLst>
              <a:gd name="adj" fmla="val 7843"/>
            </a:avLst>
          </a:prstGeom>
          <a:solidFill>
            <a:srgbClr val="F2A900"/>
          </a:solidFill>
          <a:ln w="9525">
            <a:solidFill>
              <a:srgbClr val="F2A9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524744" y="2157984"/>
            <a:ext cx="106070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and deploy to dev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merges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144268" y="2441448"/>
            <a:ext cx="365760" cy="365760"/>
          </a:xfrm>
          <a:prstGeom prst="diamond">
            <a:avLst/>
          </a:prstGeom>
          <a:solidFill>
            <a:srgbClr val="F2A900"/>
          </a:solidFill>
          <a:ln w="9525">
            <a:solidFill>
              <a:srgbClr val="B37D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144268" y="2441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28516" y="2441448"/>
            <a:ext cx="365760" cy="365760"/>
          </a:xfrm>
          <a:prstGeom prst="diamond">
            <a:avLst/>
          </a:prstGeom>
          <a:solidFill>
            <a:srgbClr val="F2A900"/>
          </a:solidFill>
          <a:ln w="9525">
            <a:solidFill>
              <a:srgbClr val="B37D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128516" y="2441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0081260" y="2441448"/>
            <a:ext cx="365760" cy="365760"/>
          </a:xfrm>
          <a:prstGeom prst="diamond">
            <a:avLst/>
          </a:prstGeom>
          <a:solidFill>
            <a:srgbClr val="F2A900"/>
          </a:solidFill>
          <a:ln w="9525">
            <a:solidFill>
              <a:srgbClr val="B37D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081260" y="2441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272016" y="1938528"/>
            <a:ext cx="0" cy="219456"/>
          </a:xfrm>
          <a:prstGeom prst="line">
            <a:avLst/>
          </a:prstGeom>
          <a:noFill/>
          <a:ln w="22225">
            <a:solidFill>
              <a:srgbClr val="F2A9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87768" y="1938528"/>
            <a:ext cx="0" cy="219456"/>
          </a:xfrm>
          <a:prstGeom prst="line">
            <a:avLst/>
          </a:prstGeom>
          <a:noFill/>
          <a:ln w="22225">
            <a:solidFill>
              <a:srgbClr val="F2A9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03520" y="1938528"/>
            <a:ext cx="3968496" cy="0"/>
          </a:xfrm>
          <a:prstGeom prst="line">
            <a:avLst/>
          </a:prstGeom>
          <a:noFill/>
          <a:ln w="22225">
            <a:solidFill>
              <a:srgbClr val="F2A9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03520" y="1938528"/>
            <a:ext cx="0" cy="219456"/>
          </a:xfrm>
          <a:prstGeom prst="line">
            <a:avLst/>
          </a:prstGeom>
          <a:noFill/>
          <a:ln w="22225">
            <a:solidFill>
              <a:srgbClr val="F2A900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4937760" y="1673352"/>
            <a:ext cx="4700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A0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failing tests or review findings go back to Build — max 3 rounds, then a person decides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3200400"/>
            <a:ext cx="2743200" cy="384048"/>
          </a:xfrm>
          <a:prstGeom prst="roundRect">
            <a:avLst>
              <a:gd name="adj" fmla="val 14286"/>
            </a:avLst>
          </a:prstGeom>
          <a:solidFill>
            <a:srgbClr val="FFF4D6"/>
          </a:solidFill>
          <a:ln w="9525">
            <a:solidFill>
              <a:srgbClr val="EAD8A6"/>
            </a:solidFill>
            <a:prstDash val="solid"/>
          </a:ln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300984"/>
            <a:ext cx="182880" cy="182880"/>
          </a:xfrm>
          <a:prstGeom prst="rect">
            <a:avLst/>
          </a:prstGeom>
        </p:spPr>
      </p:pic>
      <p:sp>
        <p:nvSpPr>
          <p:cNvPr id="35" name="Text 32"/>
          <p:cNvSpPr txBox="1"/>
          <p:nvPr/>
        </p:nvSpPr>
        <p:spPr>
          <a:xfrm>
            <a:off x="914400" y="3200400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questions until the story is clear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517136" y="3200400"/>
            <a:ext cx="2743200" cy="384048"/>
          </a:xfrm>
          <a:prstGeom prst="roundRect">
            <a:avLst>
              <a:gd name="adj" fmla="val 14286"/>
            </a:avLst>
          </a:prstGeom>
          <a:solidFill>
            <a:srgbClr val="FFF4D6"/>
          </a:solidFill>
          <a:ln w="9525">
            <a:solidFill>
              <a:srgbClr val="EAD8A6"/>
            </a:solidFill>
            <a:prstDash val="solid"/>
          </a:ln>
        </p:spPr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3300984"/>
            <a:ext cx="182880" cy="182880"/>
          </a:xfrm>
          <a:prstGeom prst="rect">
            <a:avLst/>
          </a:prstGeom>
        </p:spPr>
      </p:pic>
      <p:sp>
        <p:nvSpPr>
          <p:cNvPr id="38" name="Text 34"/>
          <p:cNvSpPr txBox="1"/>
          <p:nvPr/>
        </p:nvSpPr>
        <p:spPr>
          <a:xfrm>
            <a:off x="4882896" y="3200400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its own build and lint errors, max 3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8485632" y="3273552"/>
            <a:ext cx="219456" cy="219456"/>
          </a:xfrm>
          <a:prstGeom prst="diamond">
            <a:avLst/>
          </a:prstGeom>
          <a:solidFill>
            <a:srgbClr val="F2A900"/>
          </a:solidFill>
          <a:ln w="6350">
            <a:solidFill>
              <a:srgbClr val="B37D00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8759952" y="321868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 person approves</a:t>
            </a:r>
            <a:endParaRPr lang="en-US" sz="1050" dirty="0"/>
          </a:p>
        </p:txBody>
      </p:sp>
      <p:pic>
        <p:nvPicPr>
          <p:cNvPr id="4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8128" y="3291840"/>
            <a:ext cx="182880" cy="182880"/>
          </a:xfrm>
          <a:prstGeom prst="rect">
            <a:avLst/>
          </a:prstGeom>
        </p:spPr>
      </p:pic>
      <p:sp>
        <p:nvSpPr>
          <p:cNvPr id="42" name="Text 37"/>
          <p:cNvSpPr txBox="1"/>
          <p:nvPr/>
        </p:nvSpPr>
        <p:spPr>
          <a:xfrm>
            <a:off x="10405872" y="321868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agent retries</a:t>
            </a:r>
            <a:endParaRPr lang="en-US" sz="1050" dirty="0"/>
          </a:p>
        </p:txBody>
      </p:sp>
      <p:sp>
        <p:nvSpPr>
          <p:cNvPr id="43" name="Shape 38"/>
          <p:cNvSpPr/>
          <p:nvPr/>
        </p:nvSpPr>
        <p:spPr>
          <a:xfrm>
            <a:off x="548640" y="3822192"/>
            <a:ext cx="548640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4" name="Shape 39"/>
          <p:cNvSpPr/>
          <p:nvPr/>
        </p:nvSpPr>
        <p:spPr>
          <a:xfrm>
            <a:off x="548640" y="3822192"/>
            <a:ext cx="5486400" cy="457200"/>
          </a:xfrm>
          <a:prstGeom prst="roundRect">
            <a:avLst>
              <a:gd name="adj" fmla="val 16000"/>
            </a:avLst>
          </a:prstGeom>
          <a:solidFill>
            <a:srgbClr val="0E2240"/>
          </a:solidFill>
          <a:ln w="9525">
            <a:solidFill>
              <a:srgbClr val="0E2240"/>
            </a:solidFill>
            <a:prstDash val="solid"/>
          </a:ln>
        </p:spPr>
      </p:sp>
      <p:sp>
        <p:nvSpPr>
          <p:cNvPr id="45" name="Text 40"/>
          <p:cNvSpPr txBox="1"/>
          <p:nvPr/>
        </p:nvSpPr>
        <p:spPr>
          <a:xfrm>
            <a:off x="749808" y="382219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MODE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recommended for the 5-week POC</a:t>
            </a:r>
            <a:endParaRPr lang="en-US" sz="1300" dirty="0"/>
          </a:p>
        </p:txBody>
      </p:sp>
      <p:sp>
        <p:nvSpPr>
          <p:cNvPr id="46" name="Shape 41"/>
          <p:cNvSpPr/>
          <p:nvPr/>
        </p:nvSpPr>
        <p:spPr>
          <a:xfrm>
            <a:off x="786384" y="4443984"/>
            <a:ext cx="310896" cy="310896"/>
          </a:xfrm>
          <a:prstGeom prst="diamond">
            <a:avLst/>
          </a:prstGeom>
          <a:solidFill>
            <a:srgbClr val="F2A900"/>
          </a:solidFill>
          <a:ln w="9525">
            <a:solidFill>
              <a:srgbClr val="B37D00"/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786384" y="4443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48" name="Text 43"/>
          <p:cNvSpPr txBox="1"/>
          <p:nvPr/>
        </p:nvSpPr>
        <p:spPr>
          <a:xfrm>
            <a:off x="1161288" y="442569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50" dirty="0"/>
          </a:p>
        </p:txBody>
      </p:sp>
      <p:sp>
        <p:nvSpPr>
          <p:cNvPr id="49" name="Shape 44"/>
          <p:cNvSpPr/>
          <p:nvPr/>
        </p:nvSpPr>
        <p:spPr>
          <a:xfrm>
            <a:off x="2523744" y="4443984"/>
            <a:ext cx="310896" cy="310896"/>
          </a:xfrm>
          <a:prstGeom prst="diamond">
            <a:avLst/>
          </a:prstGeom>
          <a:solidFill>
            <a:srgbClr val="F2A900"/>
          </a:solidFill>
          <a:ln w="9525">
            <a:solidFill>
              <a:srgbClr val="B37D00"/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2523744" y="4443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00" dirty="0"/>
          </a:p>
        </p:txBody>
      </p:sp>
      <p:sp>
        <p:nvSpPr>
          <p:cNvPr id="51" name="Text 46"/>
          <p:cNvSpPr txBox="1"/>
          <p:nvPr/>
        </p:nvSpPr>
        <p:spPr>
          <a:xfrm>
            <a:off x="2898648" y="442569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+ plan</a:t>
            </a:r>
            <a:endParaRPr lang="en-US" sz="1250" dirty="0"/>
          </a:p>
        </p:txBody>
      </p:sp>
      <p:sp>
        <p:nvSpPr>
          <p:cNvPr id="52" name="Shape 47"/>
          <p:cNvSpPr/>
          <p:nvPr/>
        </p:nvSpPr>
        <p:spPr>
          <a:xfrm>
            <a:off x="4261104" y="4443984"/>
            <a:ext cx="310896" cy="310896"/>
          </a:xfrm>
          <a:prstGeom prst="diamond">
            <a:avLst/>
          </a:prstGeom>
          <a:solidFill>
            <a:srgbClr val="F2A900"/>
          </a:solidFill>
          <a:ln w="9525">
            <a:solidFill>
              <a:srgbClr val="B37D00"/>
            </a:solidFill>
            <a:prstDash val="solid"/>
          </a:ln>
        </p:spPr>
      </p:sp>
      <p:sp>
        <p:nvSpPr>
          <p:cNvPr id="53" name="Text 48"/>
          <p:cNvSpPr txBox="1"/>
          <p:nvPr/>
        </p:nvSpPr>
        <p:spPr>
          <a:xfrm>
            <a:off x="4261104" y="4443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54" name="Text 49"/>
          <p:cNvSpPr txBox="1"/>
          <p:nvPr/>
        </p:nvSpPr>
        <p:spPr>
          <a:xfrm>
            <a:off x="4636008" y="442569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+ merge</a:t>
            </a:r>
            <a:endParaRPr lang="en-US" sz="1250" dirty="0"/>
          </a:p>
        </p:txBody>
      </p:sp>
      <p:sp>
        <p:nvSpPr>
          <p:cNvPr id="55" name="Text 50"/>
          <p:cNvSpPr txBox="1"/>
          <p:nvPr/>
        </p:nvSpPr>
        <p:spPr>
          <a:xfrm>
            <a:off x="777240" y="4901184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stops instead of six — guardrails, logging and evidence stay the same</a:t>
            </a:r>
            <a:endParaRPr lang="en-US" sz="1150" dirty="0"/>
          </a:p>
        </p:txBody>
      </p:sp>
      <p:sp>
        <p:nvSpPr>
          <p:cNvPr id="56" name="Shape 51"/>
          <p:cNvSpPr/>
          <p:nvPr/>
        </p:nvSpPr>
        <p:spPr>
          <a:xfrm>
            <a:off x="6153912" y="3822192"/>
            <a:ext cx="548640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7" name="Shape 52"/>
          <p:cNvSpPr/>
          <p:nvPr/>
        </p:nvSpPr>
        <p:spPr>
          <a:xfrm>
            <a:off x="6153912" y="3822192"/>
            <a:ext cx="5486400" cy="457200"/>
          </a:xfrm>
          <a:prstGeom prst="roundRect">
            <a:avLst>
              <a:gd name="adj" fmla="val 16000"/>
            </a:avLst>
          </a:prstGeom>
          <a:solidFill>
            <a:srgbClr val="3A5A80"/>
          </a:solidFill>
          <a:ln w="9525">
            <a:solidFill>
              <a:srgbClr val="3A5A80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6355080" y="382219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MODE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when this scales beyond the POC</a:t>
            </a:r>
            <a:endParaRPr lang="en-US" sz="1300" dirty="0"/>
          </a:p>
        </p:txBody>
      </p:sp>
      <p:sp>
        <p:nvSpPr>
          <p:cNvPr id="59" name="Shape 54"/>
          <p:cNvSpPr/>
          <p:nvPr/>
        </p:nvSpPr>
        <p:spPr>
          <a:xfrm>
            <a:off x="6355080" y="4425696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E8EEF6"/>
          </a:solidFill>
          <a:ln w="9525">
            <a:solidFill>
              <a:srgbClr val="8FA3C0"/>
            </a:solidFill>
            <a:prstDash val="solid"/>
          </a:ln>
        </p:spPr>
      </p:sp>
      <p:sp>
        <p:nvSpPr>
          <p:cNvPr id="60" name="Text 55"/>
          <p:cNvSpPr txBox="1"/>
          <p:nvPr/>
        </p:nvSpPr>
        <p:spPr>
          <a:xfrm>
            <a:off x="6355080" y="4425696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950" dirty="0"/>
          </a:p>
        </p:txBody>
      </p:sp>
      <p:sp>
        <p:nvSpPr>
          <p:cNvPr id="61" name="Shape 56"/>
          <p:cNvSpPr/>
          <p:nvPr/>
        </p:nvSpPr>
        <p:spPr>
          <a:xfrm>
            <a:off x="7214616" y="4425696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E8EEF6"/>
          </a:solidFill>
          <a:ln w="9525">
            <a:solidFill>
              <a:srgbClr val="8FA3C0"/>
            </a:solidFill>
            <a:prstDash val="solid"/>
          </a:ln>
        </p:spPr>
      </p:sp>
      <p:sp>
        <p:nvSpPr>
          <p:cNvPr id="62" name="Text 57"/>
          <p:cNvSpPr txBox="1"/>
          <p:nvPr/>
        </p:nvSpPr>
        <p:spPr>
          <a:xfrm>
            <a:off x="7214616" y="4425696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950" dirty="0"/>
          </a:p>
        </p:txBody>
      </p:sp>
      <p:sp>
        <p:nvSpPr>
          <p:cNvPr id="63" name="Shape 58"/>
          <p:cNvSpPr/>
          <p:nvPr/>
        </p:nvSpPr>
        <p:spPr>
          <a:xfrm>
            <a:off x="8074152" y="4425696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E8EEF6"/>
          </a:solidFill>
          <a:ln w="9525">
            <a:solidFill>
              <a:srgbClr val="8FA3C0"/>
            </a:solidFill>
            <a:prstDash val="solid"/>
          </a:ln>
        </p:spPr>
      </p:sp>
      <p:sp>
        <p:nvSpPr>
          <p:cNvPr id="64" name="Text 59"/>
          <p:cNvSpPr txBox="1"/>
          <p:nvPr/>
        </p:nvSpPr>
        <p:spPr>
          <a:xfrm>
            <a:off x="8074152" y="4425696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plan</a:t>
            </a:r>
            <a:endParaRPr lang="en-US" sz="950" dirty="0"/>
          </a:p>
        </p:txBody>
      </p:sp>
      <p:sp>
        <p:nvSpPr>
          <p:cNvPr id="65" name="Shape 60"/>
          <p:cNvSpPr/>
          <p:nvPr/>
        </p:nvSpPr>
        <p:spPr>
          <a:xfrm>
            <a:off x="8933688" y="4425696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E8EEF6"/>
          </a:solidFill>
          <a:ln w="9525">
            <a:solidFill>
              <a:srgbClr val="8FA3C0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8933688" y="4425696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</a:t>
            </a:r>
            <a:endParaRPr lang="en-US" sz="950" dirty="0"/>
          </a:p>
        </p:txBody>
      </p:sp>
      <p:sp>
        <p:nvSpPr>
          <p:cNvPr id="67" name="Shape 62"/>
          <p:cNvSpPr/>
          <p:nvPr/>
        </p:nvSpPr>
        <p:spPr>
          <a:xfrm>
            <a:off x="9793224" y="4425696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E8EEF6"/>
          </a:solidFill>
          <a:ln w="9525">
            <a:solidFill>
              <a:srgbClr val="8FA3C0"/>
            </a:solidFill>
            <a:prstDash val="solid"/>
          </a:ln>
        </p:spPr>
      </p:sp>
      <p:sp>
        <p:nvSpPr>
          <p:cNvPr id="68" name="Text 63"/>
          <p:cNvSpPr txBox="1"/>
          <p:nvPr/>
        </p:nvSpPr>
        <p:spPr>
          <a:xfrm>
            <a:off x="9793224" y="4425696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50" dirty="0"/>
          </a:p>
        </p:txBody>
      </p:sp>
      <p:sp>
        <p:nvSpPr>
          <p:cNvPr id="69" name="Shape 64"/>
          <p:cNvSpPr/>
          <p:nvPr/>
        </p:nvSpPr>
        <p:spPr>
          <a:xfrm>
            <a:off x="10652760" y="4425696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E8EEF6"/>
          </a:solidFill>
          <a:ln w="9525">
            <a:solidFill>
              <a:srgbClr val="8FA3C0"/>
            </a:solidFill>
            <a:prstDash val="solid"/>
          </a:ln>
        </p:spPr>
      </p:sp>
      <p:sp>
        <p:nvSpPr>
          <p:cNvPr id="70" name="Text 65"/>
          <p:cNvSpPr txBox="1"/>
          <p:nvPr/>
        </p:nvSpPr>
        <p:spPr>
          <a:xfrm>
            <a:off x="10652760" y="4425696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950" dirty="0"/>
          </a:p>
        </p:txBody>
      </p:sp>
      <p:sp>
        <p:nvSpPr>
          <p:cNvPr id="71" name="Text 66"/>
          <p:cNvSpPr txBox="1"/>
          <p:nvPr/>
        </p:nvSpPr>
        <p:spPr>
          <a:xfrm>
            <a:off x="6355080" y="4901184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gates, one per decision — switched on without changing the agents</a:t>
            </a:r>
            <a:endParaRPr lang="en-US" sz="1150" dirty="0"/>
          </a:p>
        </p:txBody>
      </p:sp>
      <p:sp>
        <p:nvSpPr>
          <p:cNvPr id="72" name="Shape 67"/>
          <p:cNvSpPr/>
          <p:nvPr/>
        </p:nvSpPr>
        <p:spPr>
          <a:xfrm>
            <a:off x="548640" y="5632704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0E2240"/>
          </a:solidFill>
          <a:ln w="9525">
            <a:solidFill>
              <a:srgbClr val="0E2240"/>
            </a:solidFill>
            <a:prstDash val="solid"/>
          </a:ln>
        </p:spPr>
      </p:sp>
      <p:sp>
        <p:nvSpPr>
          <p:cNvPr id="73" name="Text 68"/>
          <p:cNvSpPr txBox="1"/>
          <p:nvPr/>
        </p:nvSpPr>
        <p:spPr>
          <a:xfrm>
            <a:off x="777240" y="5632704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1  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Calculator runs all five steps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</a:t>
            </a:r>
            <a:r>
              <a:rPr lang="en-US" sz="125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2  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automation starts at step 4 with approved stories</a:t>
            </a:r>
            <a:endParaRPr lang="en-US" sz="1250" dirty="0"/>
          </a:p>
        </p:txBody>
      </p:sp>
      <p:sp>
        <p:nvSpPr>
          <p:cNvPr id="74" name="Text 69"/>
          <p:cNvSpPr txBox="1"/>
          <p:nvPr/>
        </p:nvSpPr>
        <p:spPr>
          <a:xfrm>
            <a:off x="548640" y="6473952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QualiZeal AI CoE  ·  SWA Cargo  ·  Governed AI-assisted delivery on Kiro CLI  ·  Draft for discussion</a:t>
            </a:r>
            <a:endParaRPr lang="en-US" sz="900" dirty="0"/>
          </a:p>
        </p:txBody>
      </p:sp>
      <p:sp>
        <p:nvSpPr>
          <p:cNvPr id="75" name="Text 70"/>
          <p:cNvSpPr txBox="1"/>
          <p:nvPr/>
        </p:nvSpPr>
        <p:spPr>
          <a:xfrm>
            <a:off x="10725912" y="6473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3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weeks, with the Rate Calculator first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1615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1 architect + 1 AI engineer. Week-wise only — dates are set once the AI engineer and access are confirmed.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4370832" cy="274320"/>
          </a:xfrm>
          <a:prstGeom prst="roundRect">
            <a:avLst>
              <a:gd name="adj" fmla="val 20000"/>
            </a:avLst>
          </a:prstGeom>
          <a:solidFill>
            <a:srgbClr val="0E2240"/>
          </a:solidFill>
          <a:ln w="9525">
            <a:solidFill>
              <a:srgbClr val="0E224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737360"/>
            <a:ext cx="4151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Foundation: agents + guardrails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88920" y="2084832"/>
            <a:ext cx="6611112" cy="274320"/>
          </a:xfrm>
          <a:prstGeom prst="roundRect">
            <a:avLst>
              <a:gd name="adj" fmla="val 20000"/>
            </a:avLst>
          </a:prstGeom>
          <a:solidFill>
            <a:srgbClr val="F2A900"/>
          </a:solidFill>
          <a:ln w="9525">
            <a:solidFill>
              <a:srgbClr val="F2A9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98648" y="2084832"/>
            <a:ext cx="6391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1 · Rate Calculator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269480" y="2432304"/>
            <a:ext cx="4370832" cy="274320"/>
          </a:xfrm>
          <a:prstGeom prst="roundRect">
            <a:avLst>
              <a:gd name="adj" fmla="val 20000"/>
            </a:avLst>
          </a:prstGeom>
          <a:solidFill>
            <a:srgbClr val="3A5A80"/>
          </a:solidFill>
          <a:ln w="9525">
            <a:solidFill>
              <a:srgbClr val="3A5A8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79208" y="2432304"/>
            <a:ext cx="4151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2 · Test automation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852928"/>
            <a:ext cx="2130552" cy="2633472"/>
          </a:xfrm>
          <a:prstGeom prst="roundRect">
            <a:avLst>
              <a:gd name="adj" fmla="val 3433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852928"/>
            <a:ext cx="2130552" cy="749808"/>
          </a:xfrm>
          <a:prstGeom prst="roundRect">
            <a:avLst>
              <a:gd name="adj" fmla="val 9756"/>
            </a:avLst>
          </a:prstGeom>
          <a:solidFill>
            <a:srgbClr val="0E2240"/>
          </a:solidFill>
          <a:ln w="9525">
            <a:solidFill>
              <a:srgbClr val="0E224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" y="2889504"/>
            <a:ext cx="19110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and discover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3721608"/>
            <a:ext cx="192938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Access, Kiro workspace, guardrails</a:t>
            </a:r>
            <a:endParaRPr lang="en-US" sz="11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Calculator and Playwright repo walkthroughs</a:t>
            </a:r>
            <a:endParaRPr lang="en-US" sz="11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cuts and success measures agreed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" y="4992624"/>
            <a:ext cx="1911096" cy="365760"/>
          </a:xfrm>
          <a:prstGeom prst="roundRect">
            <a:avLst>
              <a:gd name="adj" fmla="val 15000"/>
            </a:avLst>
          </a:prstGeom>
          <a:solidFill>
            <a:srgbClr val="FFF4D6"/>
          </a:solidFill>
          <a:ln w="9525">
            <a:solidFill>
              <a:srgbClr val="EAD8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" y="5074920"/>
            <a:ext cx="201168" cy="201168"/>
          </a:xfrm>
          <a:prstGeom prst="diamond">
            <a:avLst/>
          </a:prstGeom>
          <a:solidFill>
            <a:srgbClr val="F2A900"/>
          </a:solidFill>
          <a:ln w="6350">
            <a:solidFill>
              <a:srgbClr val="B37D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42416" y="4992624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agreed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788920" y="2852928"/>
            <a:ext cx="2130552" cy="2633472"/>
          </a:xfrm>
          <a:prstGeom prst="roundRect">
            <a:avLst>
              <a:gd name="adj" fmla="val 3433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88920" y="2852928"/>
            <a:ext cx="2130552" cy="749808"/>
          </a:xfrm>
          <a:prstGeom prst="roundRect">
            <a:avLst>
              <a:gd name="adj" fmla="val 9756"/>
            </a:avLst>
          </a:prstGeom>
          <a:solidFill>
            <a:srgbClr val="0E2240"/>
          </a:solidFill>
          <a:ln w="9525">
            <a:solidFill>
              <a:srgbClr val="0E224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916936" y="2889504"/>
            <a:ext cx="19110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ready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2898648" y="3721608"/>
            <a:ext cx="192938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Story, Build, Test and Review agents live</a:t>
            </a:r>
            <a:endParaRPr lang="en-US" sz="11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 on one real Cargo story</a:t>
            </a:r>
            <a:endParaRPr lang="en-US" sz="11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Calculator stories and design approved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898648" y="4992624"/>
            <a:ext cx="1911096" cy="365760"/>
          </a:xfrm>
          <a:prstGeom prst="roundRect">
            <a:avLst>
              <a:gd name="adj" fmla="val 15000"/>
            </a:avLst>
          </a:prstGeom>
          <a:solidFill>
            <a:srgbClr val="FFF4D6"/>
          </a:solidFill>
          <a:ln w="9525">
            <a:solidFill>
              <a:srgbClr val="EAD8A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08376" y="5074920"/>
            <a:ext cx="201168" cy="201168"/>
          </a:xfrm>
          <a:prstGeom prst="diamond">
            <a:avLst/>
          </a:prstGeom>
          <a:solidFill>
            <a:srgbClr val="F2A900"/>
          </a:solidFill>
          <a:ln w="6350">
            <a:solidFill>
              <a:srgbClr val="B37D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282696" y="4992624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ready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29200" y="2852928"/>
            <a:ext cx="2130552" cy="2633472"/>
          </a:xfrm>
          <a:prstGeom prst="roundRect">
            <a:avLst>
              <a:gd name="adj" fmla="val 3433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0" y="2852928"/>
            <a:ext cx="2130552" cy="749808"/>
          </a:xfrm>
          <a:prstGeom prst="roundRect">
            <a:avLst>
              <a:gd name="adj" fmla="val 9756"/>
            </a:avLst>
          </a:prstGeom>
          <a:solidFill>
            <a:srgbClr val="0E2240"/>
          </a:solidFill>
          <a:ln w="9525">
            <a:solidFill>
              <a:srgbClr val="0E224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57216" y="2889504"/>
            <a:ext cx="19110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Rate Calculator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138928" y="3721608"/>
            <a:ext cx="192938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component and pricing integration</a:t>
            </a:r>
            <a:endParaRPr lang="en-US" sz="11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and contract tests, mocks where needed</a:t>
            </a:r>
            <a:endParaRPr lang="en-US" sz="11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loop until findings clear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138928" y="4992624"/>
            <a:ext cx="1911096" cy="365760"/>
          </a:xfrm>
          <a:prstGeom prst="roundRect">
            <a:avLst>
              <a:gd name="adj" fmla="val 15000"/>
            </a:avLst>
          </a:prstGeom>
          <a:solidFill>
            <a:srgbClr val="FFF4D6"/>
          </a:solidFill>
          <a:ln w="9525">
            <a:solidFill>
              <a:srgbClr val="EAD8A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248656" y="5074920"/>
            <a:ext cx="201168" cy="201168"/>
          </a:xfrm>
          <a:prstGeom prst="diamond">
            <a:avLst/>
          </a:prstGeom>
          <a:solidFill>
            <a:srgbClr val="F2A900"/>
          </a:solidFill>
          <a:ln w="6350">
            <a:solidFill>
              <a:srgbClr val="B37D0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522976" y="4992624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reviewed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269480" y="2852928"/>
            <a:ext cx="2130552" cy="2633472"/>
          </a:xfrm>
          <a:prstGeom prst="roundRect">
            <a:avLst>
              <a:gd name="adj" fmla="val 3433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269480" y="2852928"/>
            <a:ext cx="2130552" cy="749808"/>
          </a:xfrm>
          <a:prstGeom prst="roundRect">
            <a:avLst>
              <a:gd name="adj" fmla="val 9756"/>
            </a:avLst>
          </a:prstGeom>
          <a:solidFill>
            <a:srgbClr val="0E2240"/>
          </a:solidFill>
          <a:ln w="9525">
            <a:solidFill>
              <a:srgbClr val="0E224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397496" y="2889504"/>
            <a:ext cx="19110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Calculator on AWS dev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7379208" y="3721608"/>
            <a:ext cx="192938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and deployment to AWS dev</a:t>
            </a:r>
            <a:endParaRPr lang="en-US" sz="11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framework mapped</a:t>
            </a:r>
            <a:endParaRPr lang="en-US" sz="11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plans approved from stories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379208" y="4992624"/>
            <a:ext cx="1911096" cy="365760"/>
          </a:xfrm>
          <a:prstGeom prst="roundRect">
            <a:avLst>
              <a:gd name="adj" fmla="val 15000"/>
            </a:avLst>
          </a:prstGeom>
          <a:solidFill>
            <a:srgbClr val="FFF4D6"/>
          </a:solidFill>
          <a:ln w="9525">
            <a:solidFill>
              <a:srgbClr val="EAD8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88936" y="5074920"/>
            <a:ext cx="201168" cy="201168"/>
          </a:xfrm>
          <a:prstGeom prst="diamond">
            <a:avLst/>
          </a:prstGeom>
          <a:solidFill>
            <a:srgbClr val="F2A900"/>
          </a:solidFill>
          <a:ln w="6350">
            <a:solidFill>
              <a:srgbClr val="B37D0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763256" y="4992624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AWS dev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9509760" y="2852928"/>
            <a:ext cx="2130552" cy="2633472"/>
          </a:xfrm>
          <a:prstGeom prst="roundRect">
            <a:avLst>
              <a:gd name="adj" fmla="val 3433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509760" y="2852928"/>
            <a:ext cx="2130552" cy="749808"/>
          </a:xfrm>
          <a:prstGeom prst="roundRect">
            <a:avLst>
              <a:gd name="adj" fmla="val 9756"/>
            </a:avLst>
          </a:prstGeom>
          <a:solidFill>
            <a:srgbClr val="0E2240"/>
          </a:solidFill>
          <a:ln w="9525">
            <a:solidFill>
              <a:srgbClr val="0E224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637776" y="2889504"/>
            <a:ext cx="19110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automation + results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9619488" y="3721608"/>
            <a:ext cx="192938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tests generated and run</a:t>
            </a:r>
            <a:endParaRPr lang="en-US" sz="11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and coverage summary</a:t>
            </a:r>
            <a:endParaRPr lang="en-US" sz="110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vs manual evidence, phase-2 plan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619488" y="4992624"/>
            <a:ext cx="1911096" cy="365760"/>
          </a:xfrm>
          <a:prstGeom prst="roundRect">
            <a:avLst>
              <a:gd name="adj" fmla="val 15000"/>
            </a:avLst>
          </a:prstGeom>
          <a:solidFill>
            <a:srgbClr val="FFF4D6"/>
          </a:solidFill>
          <a:ln w="9525">
            <a:solidFill>
              <a:srgbClr val="EAD8A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729216" y="5074920"/>
            <a:ext cx="201168" cy="201168"/>
          </a:xfrm>
          <a:prstGeom prst="diamond">
            <a:avLst/>
          </a:prstGeom>
          <a:solidFill>
            <a:srgbClr val="F2A900"/>
          </a:solidFill>
          <a:ln w="6350">
            <a:solidFill>
              <a:srgbClr val="B37D0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0003536" y="4992624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+ results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48640" y="5632704"/>
            <a:ext cx="5486400" cy="585216"/>
          </a:xfrm>
          <a:prstGeom prst="roundRect">
            <a:avLst>
              <a:gd name="adj" fmla="val 12500"/>
            </a:avLst>
          </a:prstGeom>
          <a:solidFill>
            <a:srgbClr val="F7F9FC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76656" y="5724144"/>
            <a:ext cx="402336" cy="402336"/>
          </a:xfrm>
          <a:prstGeom prst="ellipse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pic>
        <p:nvPicPr>
          <p:cNvPr id="4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263" y="5828751"/>
            <a:ext cx="193121" cy="193121"/>
          </a:xfrm>
          <a:prstGeom prst="rect">
            <a:avLst/>
          </a:prstGeom>
        </p:spPr>
      </p:pic>
      <p:sp>
        <p:nvSpPr>
          <p:cNvPr id="49" name="Text 46"/>
          <p:cNvSpPr txBox="1"/>
          <p:nvPr/>
        </p:nvSpPr>
        <p:spPr>
          <a:xfrm>
            <a:off x="1188720" y="5632704"/>
            <a:ext cx="4754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 </a:t>
            </a: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guardrails, Story + Review agents, approvals</a:t>
            </a:r>
            <a:endParaRPr lang="en-US" sz="1250" dirty="0"/>
          </a:p>
        </p:txBody>
      </p:sp>
      <p:sp>
        <p:nvSpPr>
          <p:cNvPr id="50" name="Shape 47"/>
          <p:cNvSpPr/>
          <p:nvPr/>
        </p:nvSpPr>
        <p:spPr>
          <a:xfrm>
            <a:off x="6153912" y="5632704"/>
            <a:ext cx="5486400" cy="585216"/>
          </a:xfrm>
          <a:prstGeom prst="roundRect">
            <a:avLst>
              <a:gd name="adj" fmla="val 12500"/>
            </a:avLst>
          </a:prstGeom>
          <a:solidFill>
            <a:srgbClr val="F7F9FC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6281928" y="5724144"/>
            <a:ext cx="402336" cy="402336"/>
          </a:xfrm>
          <a:prstGeom prst="ellipse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pic>
        <p:nvPicPr>
          <p:cNvPr id="5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6535" y="5828751"/>
            <a:ext cx="193121" cy="193121"/>
          </a:xfrm>
          <a:prstGeom prst="rect">
            <a:avLst/>
          </a:prstGeom>
        </p:spPr>
      </p:pic>
      <p:sp>
        <p:nvSpPr>
          <p:cNvPr id="53" name="Text 49"/>
          <p:cNvSpPr txBox="1"/>
          <p:nvPr/>
        </p:nvSpPr>
        <p:spPr>
          <a:xfrm>
            <a:off x="6793992" y="5632704"/>
            <a:ext cx="4754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  </a:t>
            </a: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Test agents, Rate Calculator build, Playwright tests</a:t>
            </a:r>
            <a:endParaRPr lang="en-US" sz="1250" dirty="0"/>
          </a:p>
        </p:txBody>
      </p:sp>
      <p:sp>
        <p:nvSpPr>
          <p:cNvPr id="54" name="Text 50"/>
          <p:cNvSpPr txBox="1"/>
          <p:nvPr/>
        </p:nvSpPr>
        <p:spPr>
          <a:xfrm>
            <a:off x="548640" y="6473952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QualiZeal AI CoE  ·  SWA Cargo  ·  Governed AI-assisted delivery on Kiro CLI  ·  Draft for discussion</a:t>
            </a:r>
            <a:endParaRPr lang="en-US" sz="900" dirty="0"/>
          </a:p>
        </p:txBody>
      </p:sp>
      <p:sp>
        <p:nvSpPr>
          <p:cNvPr id="55" name="Text 51"/>
          <p:cNvSpPr txBox="1"/>
          <p:nvPr/>
        </p:nvSpPr>
        <p:spPr>
          <a:xfrm>
            <a:off x="10725912" y="6473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3A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AND NEXT STEPS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cut for speed — and what we need to start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8640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6276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for the POC — deferred, not dropped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41248" y="2157984"/>
            <a:ext cx="457200" cy="457200"/>
          </a:xfrm>
          <a:prstGeom prst="ellipse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276856"/>
            <a:ext cx="219456" cy="2194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2121408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Agents: six roles + coordinator → four roles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41248" y="2834640"/>
            <a:ext cx="457200" cy="457200"/>
          </a:xfrm>
          <a:prstGeom prst="ellipse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95351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2798064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gates: six → three (fast mode)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841248" y="3511296"/>
            <a:ext cx="457200" cy="457200"/>
          </a:xfrm>
          <a:prstGeom prst="ellipse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630168"/>
            <a:ext cx="219456" cy="21945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63040" y="3474720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Calculator: core flow and key error states; mocks where services aren’t ready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841248" y="4187952"/>
            <a:ext cx="457200" cy="457200"/>
          </a:xfrm>
          <a:prstGeom prst="ellipse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306824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463040" y="4151376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automation: a focused set of approved stories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841248" y="4864608"/>
            <a:ext cx="457200" cy="457200"/>
          </a:xfrm>
          <a:prstGeom prst="ellipse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983480"/>
            <a:ext cx="219456" cy="21945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463040" y="4828032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Pipeline-triggered agent runs and dashboards move to phase 2</a:t>
            </a:r>
            <a:endParaRPr lang="en-US" sz="1350" dirty="0"/>
          </a:p>
        </p:txBody>
      </p:sp>
      <p:sp>
        <p:nvSpPr>
          <p:cNvPr id="21" name="Shape 14"/>
          <p:cNvSpPr/>
          <p:nvPr/>
        </p:nvSpPr>
        <p:spPr>
          <a:xfrm>
            <a:off x="6153912" y="1481328"/>
            <a:ext cx="5486400" cy="4160520"/>
          </a:xfrm>
          <a:prstGeom prst="roundRect">
            <a:avLst>
              <a:gd name="adj" fmla="val 1758"/>
            </a:avLst>
          </a:prstGeom>
          <a:solidFill>
            <a:srgbClr val="F7F9FC"/>
          </a:solidFill>
          <a:ln w="9525">
            <a:solidFill>
              <a:srgbClr val="D5DB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15"/>
          <p:cNvSpPr txBox="1"/>
          <p:nvPr/>
        </p:nvSpPr>
        <p:spPr>
          <a:xfrm>
            <a:off x="6428232" y="16276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start week 1</a:t>
            </a:r>
            <a:endParaRPr lang="en-US" sz="1700" dirty="0"/>
          </a:p>
        </p:txBody>
      </p:sp>
      <p:sp>
        <p:nvSpPr>
          <p:cNvPr id="23" name="Shape 16"/>
          <p:cNvSpPr/>
          <p:nvPr/>
        </p:nvSpPr>
        <p:spPr>
          <a:xfrm>
            <a:off x="6446520" y="2157984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6446520" y="2157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7068312" y="2121408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  </a:t>
            </a:r>
            <a:r>
              <a:rPr lang="en-US" sz="13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— Veena and Kanchan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6446520" y="2834640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644652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7068312" y="2798064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Calculator repo  </a:t>
            </a:r>
            <a:r>
              <a:rPr lang="en-US" sz="13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walkthrough — David</a:t>
            </a:r>
            <a:endParaRPr lang="en-US" sz="1350" dirty="0"/>
          </a:p>
        </p:txBody>
      </p:sp>
      <p:sp>
        <p:nvSpPr>
          <p:cNvPr id="29" name="Shape 22"/>
          <p:cNvSpPr/>
          <p:nvPr/>
        </p:nvSpPr>
        <p:spPr>
          <a:xfrm>
            <a:off x="6446520" y="3511296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6446520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7068312" y="3474720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repo  </a:t>
            </a:r>
            <a:r>
              <a:rPr lang="en-US" sz="13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— Thirumagal</a:t>
            </a:r>
            <a:endParaRPr lang="en-US" sz="1350" dirty="0"/>
          </a:p>
        </p:txBody>
      </p:sp>
      <p:sp>
        <p:nvSpPr>
          <p:cNvPr id="32" name="Shape 25"/>
          <p:cNvSpPr/>
          <p:nvPr/>
        </p:nvSpPr>
        <p:spPr>
          <a:xfrm>
            <a:off x="6446520" y="4187952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6446520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4" name="Text 27"/>
          <p:cNvSpPr txBox="1"/>
          <p:nvPr/>
        </p:nvSpPr>
        <p:spPr>
          <a:xfrm>
            <a:off x="7068312" y="4151376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 </a:t>
            </a:r>
            <a:r>
              <a:rPr lang="en-US" sz="13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laptop, VPN, GitLab, Jira, AWS dev, Kiro Pro</a:t>
            </a:r>
            <a:endParaRPr lang="en-US" sz="1350" dirty="0"/>
          </a:p>
        </p:txBody>
      </p:sp>
      <p:sp>
        <p:nvSpPr>
          <p:cNvPr id="35" name="Shape 28"/>
          <p:cNvSpPr/>
          <p:nvPr/>
        </p:nvSpPr>
        <p:spPr>
          <a:xfrm>
            <a:off x="6446520" y="4864608"/>
            <a:ext cx="457200" cy="45720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6446520" y="4864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7" name="Text 30"/>
          <p:cNvSpPr txBox="1"/>
          <p:nvPr/>
        </p:nvSpPr>
        <p:spPr>
          <a:xfrm>
            <a:off x="7068312" y="4828032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Approver  </a:t>
            </a:r>
            <a:r>
              <a:rPr lang="en-US" sz="13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Cargo approver for the three gates</a:t>
            </a:r>
            <a:endParaRPr lang="en-US" sz="1350" dirty="0"/>
          </a:p>
        </p:txBody>
      </p:sp>
      <p:sp>
        <p:nvSpPr>
          <p:cNvPr id="38" name="Shape 31"/>
          <p:cNvSpPr/>
          <p:nvPr/>
        </p:nvSpPr>
        <p:spPr>
          <a:xfrm>
            <a:off x="548640" y="5815584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0E2240"/>
          </a:solidFill>
          <a:ln w="9525">
            <a:solidFill>
              <a:srgbClr val="0E2240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777240" y="5815584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Calculator running on AWS dev and Playwright tests from approved stories — with evidence of AI-assisted vs manual effort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48640" y="6473952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QualiZeal AI CoE  ·  SWA Cargo  ·  Governed AI-assisted delivery on Kiro CLI  ·  Draft for discussion</a:t>
            </a:r>
            <a:endParaRPr lang="en-US" sz="900" dirty="0"/>
          </a:p>
        </p:txBody>
      </p:sp>
      <p:sp>
        <p:nvSpPr>
          <p:cNvPr id="41" name="Text 34"/>
          <p:cNvSpPr txBox="1"/>
          <p:nvPr/>
        </p:nvSpPr>
        <p:spPr>
          <a:xfrm>
            <a:off x="10725912" y="6473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QualiZeal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SWA Cargo — Revised POC plan on Kiro CLI (v0.3)</dc:title>
  <dc:subject>PptxGenJS Presentation</dc:subject>
  <dc:creator>Prashobh — QualiZeal AI CoE</dc:creator>
  <cp:lastModifiedBy>Prashobh — QualiZeal AI CoE</cp:lastModifiedBy>
  <cp:revision>1</cp:revision>
  <dcterms:created xsi:type="dcterms:W3CDTF">2026-09-11T16:40:25Z</dcterms:created>
  <dcterms:modified xsi:type="dcterms:W3CDTF">2026-09-11T16:40:25Z</dcterms:modified>
</cp:coreProperties>
</file>