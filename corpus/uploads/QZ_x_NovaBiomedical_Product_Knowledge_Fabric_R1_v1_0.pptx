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Nova Biomedical Product Knowledge Fabric, Release 1 proposal from QualiZeal,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Playback of the draft scope. Left: what the platform does. Right: how it is built, deployed and governed.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problem, what the platform is, feature-to-value mapping, the six architectural building blocks, and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Release 1 architecture. The right rail summarises each band of the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view: pipeline, what runs inside Nova's account, which managed services back it, and the ownership / security / cost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is deliberately boring where it can be: managed AWS services, Python, Terraform. Model choice is configuration, not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overlapping phases across 16 weeks / 8 sprints, each ending in a go / no-go checkpoint with a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named deliverables; the working platform is the primary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composition and duration. Commercial value to be inserted before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285232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5285232" y="0"/>
            <a:ext cx="22860" cy="5143500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420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Biomedical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78608" y="457200"/>
            <a:ext cx="16459" cy="292608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8" name="Image 1" descr="assets/wordmar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98348"/>
            <a:ext cx="1783080" cy="2148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157276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spc="4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spc="4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FABRIC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50292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 1  ·  Agentic Solution &amp; Delivery Proposal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3054096"/>
            <a:ext cx="1280160" cy="32004"/>
          </a:xfrm>
          <a:prstGeom prst="rect">
            <a:avLst/>
          </a:prstGeom>
          <a:solidFill>
            <a:srgbClr val="E23A4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321868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governed home for approved product knowledge — grounded, cited answers, honest refusal, and full telemetry, deployed in Nova's own AWS account.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Aug, 2026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44714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QualiZeal AI Center of Excellence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65176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https://qualizeal.com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68580" cy="420624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4" name="Text 2"/>
          <p:cNvSpPr/>
          <p:nvPr/>
        </p:nvSpPr>
        <p:spPr>
          <a:xfrm>
            <a:off x="219456" y="82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Understanding &amp;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84848" y="109728"/>
            <a:ext cx="197510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pic>
        <p:nvPicPr>
          <p:cNvPr id="6" name="Image 0" descr="assets/qz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"/>
            <a:ext cx="292608" cy="2606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87768" y="182880"/>
            <a:ext cx="12802" cy="256032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8" name="Text 5"/>
          <p:cNvSpPr/>
          <p:nvPr/>
        </p:nvSpPr>
        <p:spPr>
          <a:xfrm>
            <a:off x="7342632" y="128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Biomedical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84048" y="603504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Biomedical is looking for a governed, source-grounded product knowledge platform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one home for approved IFUs, manuals, bulletins, release notes and knowledge articles, answering in plain English with citations, honest refusal and full telemetry, delivered as a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Release 1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in Nova's own AWS account.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4048" y="1225296"/>
            <a:ext cx="4041648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4048" y="1225296"/>
            <a:ext cx="4041648" cy="365760"/>
          </a:xfrm>
          <a:prstGeom prst="roundRect">
            <a:avLst>
              <a:gd name="adj" fmla="val 15000"/>
            </a:avLst>
          </a:prstGeom>
          <a:solidFill>
            <a:srgbClr val="16407E"/>
          </a:solidFill>
          <a:ln w="6350">
            <a:solidFill>
              <a:srgbClr val="1640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225296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Scope — Solution Capabilities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" y="1719072"/>
            <a:ext cx="363931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 ingestion from Amazon S3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IFUs, service manuals, bulletins, release notes, FAQs and knowledge articles, with rich metadata capture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governance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current-vs-superseded ranking, duplicate detection, conflicts quarantined to a curator queue, continuous re-indexing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retrieval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semantic + keyword with metadata filters and reranking over a Bedrock Knowledge Base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Grounded, cited answering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how-to, lookup, troubleshooting and discovery, every answer carrying sources and a confidence score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refusal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where approved sources are insufficient the platform declines rather than improvises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Nova-branded web application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chat, knowledge dashboard and telemetry dashboard, each surface scoped to the signed-in role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Orchestrator-readiness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documented APIs plus MCP tool definitions for a future Nova Cortex control plane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4718304" y="1225296"/>
            <a:ext cx="4041648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18304" y="1225296"/>
            <a:ext cx="4041648" cy="365760"/>
          </a:xfrm>
          <a:prstGeom prst="roundRect">
            <a:avLst>
              <a:gd name="adj" fmla="val 15000"/>
            </a:avLst>
          </a:prstGeom>
          <a:solidFill>
            <a:srgbClr val="16407E"/>
          </a:solidFill>
          <a:ln w="6350">
            <a:solidFill>
              <a:srgbClr val="1640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01184" y="1225296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Scope — Delivery &amp; Governance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19472" y="1719072"/>
            <a:ext cx="363931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Managed-service platform: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Bedrock Knowledge Bases, Aurora Serverless v2 with pgvector, Step Functions and ECS Fargate — custom logic focused on Nova's governance rules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deployment: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Nova's AWS account, Terraform IaC, Nova-owned repositories, Dev + Prod with UAT in Dev, Entra ID SSO via Cognito, private networking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abstraction: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Bedrock model switch by configuration, routing logged, prompt / token / cost telemetry per answer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&amp; access: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user, curator and admin roles enforced per route and per dashboard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Structured, checkpoint-driven delivery: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weeks · 8 sprints with go / no-go reviews and a working demonstration at every checkpoint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acceptance: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jointly signed evaluation set, thresholds agreed at sign-off, regression at every checkpoint</a:t>
            </a:r>
            <a:endParaRPr lang="en-US" sz="840" dirty="0"/>
          </a:p>
          <a:p>
            <a:pPr marL="152400" indent="-152400">
              <a:lnSpc>
                <a:spcPct val="102000"/>
              </a:lnSpc>
              <a:spcAft>
                <a:spcPts val="600"/>
              </a:spcAft>
              <a:buSzPct val="100000"/>
              <a:buFont typeface="Wingdings" pitchFamily="2" charset="2"/>
              <a:buChar char="ü"/>
            </a:pPr>
            <a:r>
              <a:rPr lang="en-US" sz="8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candidates: </a:t>
            </a:r>
            <a:pPr indent="0" marL="0">
              <a:lnSpc>
                <a:spcPct val="102000"/>
              </a:lnSpc>
              <a:buNone/>
            </a:pPr>
            <a:r>
              <a:rPr lang="en-US" sz="84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 answers, the SME feedback loop and a hosted MCP runtime — designed-in now, delivered with Nova Cortex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68580" cy="420624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4" name="Text 2"/>
          <p:cNvSpPr/>
          <p:nvPr/>
        </p:nvSpPr>
        <p:spPr>
          <a:xfrm>
            <a:off x="219456" y="82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Knowledge Fabric — Executive Summary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84848" y="109728"/>
            <a:ext cx="197510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pic>
        <p:nvPicPr>
          <p:cNvPr id="6" name="Image 0" descr="assets/qz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"/>
            <a:ext cx="292608" cy="2606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87768" y="182880"/>
            <a:ext cx="12802" cy="256032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8" name="Text 5"/>
          <p:cNvSpPr/>
          <p:nvPr/>
        </p:nvSpPr>
        <p:spPr>
          <a:xfrm>
            <a:off x="7342632" y="128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Biomedical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84048" y="640080"/>
            <a:ext cx="4315968" cy="987552"/>
          </a:xfrm>
          <a:prstGeom prst="roundRect">
            <a:avLst>
              <a:gd name="adj" fmla="val 5556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722376"/>
            <a:ext cx="3986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governed Product Knowledge Fabric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a question goes in, the platform retrieves from approved Nova documents only, verifies that the answer is grounded, and returns a cited response with a confidence score — or an honest refusal. Version control, curator review and telemetry are built in, not bolted on.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4828032" y="640080"/>
            <a:ext cx="3931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6949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We Solve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92624" y="914400"/>
            <a:ext cx="3675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knowledge is scattered across IFUs, manuals, bulletins and release notes</a:t>
            </a:r>
            <a:endParaRPr lang="en-US" sz="700" dirty="0"/>
          </a:p>
          <a:p>
            <a:pPr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 cannot tell quickly which version is current, and conflicts go unnoticed</a:t>
            </a:r>
            <a:endParaRPr lang="en-US" sz="700" dirty="0"/>
          </a:p>
          <a:p>
            <a:pPr marL="127000" indent="-127000">
              <a:lnSpc>
                <a:spcPct val="98000"/>
              </a:lnSpc>
              <a:buSzPct val="100000"/>
              <a:buChar char="•"/>
            </a:pPr>
            <a:r>
              <a:rPr lang="en-US" sz="7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General-purpose AI tools improvise about regulated products — no citations, no version awareness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84048" y="166420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Features &amp; Business Impact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901952"/>
          <a:ext cx="8375904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  <a:gridCol w="2615184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Feature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Description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Business Value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Governed Ingestion &amp; Version Control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S3 landing → Step Functions extract, metadata and version ranking; duplicates detected, conflicts quarantined for curator review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One approved source of truth — current versions answer by default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Grounded, Cited Answering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Bedrock Knowledge Base hybrid retrieval with filters and reranking; every answer carries source citations and a confidence score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Answers can be checked against the approved document, not taken on trust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Honest Refusal &amp; Guardrails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Grounding verification and citation-coverage checks on each response; below threshold the answer becomes a refusal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The platform never improvises about Nova products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Role-Scoped Access &amp; Telemetry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Entra ID via Cognito — user, curator, admin; prompts, tokens, cost and latency logged for every request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Access control and spend visibility from day one</a:t>
                      </a:r>
                      <a:endParaRPr lang="en-US" sz="76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384048" y="3328416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 1 Architecture — Governed Fabric on Managed AWS Services   </a:t>
            </a:r>
            <a:pPr indent="0" marL="0">
              <a:buNone/>
            </a:pPr>
            <a:r>
              <a:rPr lang="en-US" sz="800" i="1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(detailed on the Proposed Solution Architecture slide)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4048" y="3566160"/>
            <a:ext cx="1327404" cy="932688"/>
          </a:xfrm>
          <a:prstGeom prst="roundRect">
            <a:avLst>
              <a:gd name="adj" fmla="val 5882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18" name="Image 1" descr="assets/icons/inbox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3648456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" y="3813048"/>
            <a:ext cx="1126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</a:t>
            </a:r>
            <a:endParaRPr lang="en-US" sz="720" dirty="0"/>
          </a:p>
        </p:txBody>
      </p:sp>
      <p:sp>
        <p:nvSpPr>
          <p:cNvPr id="20" name="Text 15"/>
          <p:cNvSpPr/>
          <p:nvPr/>
        </p:nvSpPr>
        <p:spPr>
          <a:xfrm>
            <a:off x="484632" y="3995928"/>
            <a:ext cx="1126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landing · EventBridge + SQS · event-driven intake of Nova documents.</a:t>
            </a:r>
            <a:endParaRPr lang="en-US" sz="620" dirty="0"/>
          </a:p>
        </p:txBody>
      </p:sp>
      <p:sp>
        <p:nvSpPr>
          <p:cNvPr id="21" name="Shape 16"/>
          <p:cNvSpPr/>
          <p:nvPr/>
        </p:nvSpPr>
        <p:spPr>
          <a:xfrm>
            <a:off x="1793748" y="3566160"/>
            <a:ext cx="1327404" cy="932688"/>
          </a:xfrm>
          <a:prstGeom prst="roundRect">
            <a:avLst>
              <a:gd name="adj" fmla="val 5882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22" name="Image 2" descr="assets/icons/clipbo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332" y="3648456"/>
            <a:ext cx="146304" cy="1463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94332" y="3813048"/>
            <a:ext cx="1126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 Governance</a:t>
            </a:r>
            <a:endParaRPr lang="en-US" sz="720" dirty="0"/>
          </a:p>
        </p:txBody>
      </p:sp>
      <p:sp>
        <p:nvSpPr>
          <p:cNvPr id="24" name="Text 18"/>
          <p:cNvSpPr/>
          <p:nvPr/>
        </p:nvSpPr>
        <p:spPr>
          <a:xfrm>
            <a:off x="1894332" y="3995928"/>
            <a:ext cx="1126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· metadata · version rank. Current vs superseded, conflicts quarantined.</a:t>
            </a:r>
            <a:endParaRPr lang="en-US" sz="620" dirty="0"/>
          </a:p>
        </p:txBody>
      </p:sp>
      <p:sp>
        <p:nvSpPr>
          <p:cNvPr id="25" name="Shape 19"/>
          <p:cNvSpPr/>
          <p:nvPr/>
        </p:nvSpPr>
        <p:spPr>
          <a:xfrm>
            <a:off x="3203448" y="3566160"/>
            <a:ext cx="1327404" cy="932688"/>
          </a:xfrm>
          <a:prstGeom prst="roundRect">
            <a:avLst>
              <a:gd name="adj" fmla="val 5882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26" name="Image 3" descr="assets/icons/boo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032" y="3648456"/>
            <a:ext cx="146304" cy="1463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04032" y="3813048"/>
            <a:ext cx="1126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Base</a:t>
            </a:r>
            <a:endParaRPr lang="en-US" sz="720" dirty="0"/>
          </a:p>
        </p:txBody>
      </p:sp>
      <p:sp>
        <p:nvSpPr>
          <p:cNvPr id="28" name="Text 21"/>
          <p:cNvSpPr/>
          <p:nvPr/>
        </p:nvSpPr>
        <p:spPr>
          <a:xfrm>
            <a:off x="3304032" y="3995928"/>
            <a:ext cx="1126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Bedrock KB over Aurora pgvector. Hybrid search, filters, reranking.</a:t>
            </a:r>
            <a:endParaRPr lang="en-US" sz="620" dirty="0"/>
          </a:p>
        </p:txBody>
      </p:sp>
      <p:sp>
        <p:nvSpPr>
          <p:cNvPr id="29" name="Shape 22"/>
          <p:cNvSpPr/>
          <p:nvPr/>
        </p:nvSpPr>
        <p:spPr>
          <a:xfrm>
            <a:off x="4613148" y="3566160"/>
            <a:ext cx="1327404" cy="932688"/>
          </a:xfrm>
          <a:prstGeom prst="roundRect">
            <a:avLst>
              <a:gd name="adj" fmla="val 5882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30" name="Image 4" descr="assets/icons/comment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3648456"/>
            <a:ext cx="146304" cy="14630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13732" y="3813048"/>
            <a:ext cx="1126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 Pipeline</a:t>
            </a:r>
            <a:endParaRPr lang="en-US" sz="720" dirty="0"/>
          </a:p>
        </p:txBody>
      </p:sp>
      <p:sp>
        <p:nvSpPr>
          <p:cNvPr id="32" name="Text 24"/>
          <p:cNvSpPr/>
          <p:nvPr/>
        </p:nvSpPr>
        <p:spPr>
          <a:xfrm>
            <a:off x="4713732" y="3995928"/>
            <a:ext cx="1126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→ verify → answer. Cited response, confidence shown, refuse if weak.</a:t>
            </a:r>
            <a:endParaRPr lang="en-US" sz="620" dirty="0"/>
          </a:p>
        </p:txBody>
      </p:sp>
      <p:sp>
        <p:nvSpPr>
          <p:cNvPr id="33" name="Shape 25"/>
          <p:cNvSpPr/>
          <p:nvPr/>
        </p:nvSpPr>
        <p:spPr>
          <a:xfrm>
            <a:off x="6022848" y="3566160"/>
            <a:ext cx="1327404" cy="932688"/>
          </a:xfrm>
          <a:prstGeom prst="roundRect">
            <a:avLst>
              <a:gd name="adj" fmla="val 5882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34" name="Image 5" descr="assets/icons/user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432" y="3648456"/>
            <a:ext cx="146304" cy="14630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123432" y="3813048"/>
            <a:ext cx="1126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Curator Review</a:t>
            </a:r>
            <a:endParaRPr lang="en-US" sz="720" dirty="0"/>
          </a:p>
        </p:txBody>
      </p:sp>
      <p:sp>
        <p:nvSpPr>
          <p:cNvPr id="36" name="Text 27"/>
          <p:cNvSpPr/>
          <p:nvPr/>
        </p:nvSpPr>
        <p:spPr>
          <a:xfrm>
            <a:off x="6123432" y="3995928"/>
            <a:ext cx="1126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Ambiguous versions held for a curator to resolve in the Nova UI.</a:t>
            </a:r>
            <a:endParaRPr lang="en-US" sz="620" dirty="0"/>
          </a:p>
        </p:txBody>
      </p:sp>
      <p:sp>
        <p:nvSpPr>
          <p:cNvPr id="37" name="Shape 28"/>
          <p:cNvSpPr/>
          <p:nvPr/>
        </p:nvSpPr>
        <p:spPr>
          <a:xfrm>
            <a:off x="7432548" y="3566160"/>
            <a:ext cx="1327404" cy="932688"/>
          </a:xfrm>
          <a:prstGeom prst="roundRect">
            <a:avLst>
              <a:gd name="adj" fmla="val 5882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38" name="Image 6" descr="assets/icons/char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132" y="3648456"/>
            <a:ext cx="146304" cy="14630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533132" y="3813048"/>
            <a:ext cx="1126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Telemetry</a:t>
            </a:r>
            <a:endParaRPr lang="en-US" sz="720" dirty="0"/>
          </a:p>
        </p:txBody>
      </p:sp>
      <p:sp>
        <p:nvSpPr>
          <p:cNvPr id="40" name="Text 30"/>
          <p:cNvSpPr/>
          <p:nvPr/>
        </p:nvSpPr>
        <p:spPr>
          <a:xfrm>
            <a:off x="7533132" y="3995928"/>
            <a:ext cx="1126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OpenTelemetry → metrics store → usage, cost and knowledge dashboards.</a:t>
            </a:r>
            <a:endParaRPr lang="en-US" sz="620" dirty="0"/>
          </a:p>
        </p:txBody>
      </p:sp>
      <p:sp>
        <p:nvSpPr>
          <p:cNvPr id="41" name="Shape 31"/>
          <p:cNvSpPr/>
          <p:nvPr/>
        </p:nvSpPr>
        <p:spPr>
          <a:xfrm>
            <a:off x="384048" y="4572000"/>
            <a:ext cx="8375904" cy="420624"/>
          </a:xfrm>
          <a:prstGeom prst="roundRect">
            <a:avLst>
              <a:gd name="adj" fmla="val 13043"/>
            </a:avLst>
          </a:prstGeom>
          <a:solidFill>
            <a:srgbClr val="16407E"/>
          </a:solidFill>
          <a:ln/>
        </p:spPr>
      </p:sp>
      <p:sp>
        <p:nvSpPr>
          <p:cNvPr id="42" name="Text 32"/>
          <p:cNvSpPr/>
          <p:nvPr/>
        </p:nvSpPr>
        <p:spPr>
          <a:xfrm>
            <a:off x="566928" y="4572000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9FD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Differentiator:  </a:t>
            </a:r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governance-first, not chatbot-first — version control, grounding verification, honest refusal and per-answer cost telemetry are part of the platform, running in Nova's account on Nova-owned code.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68580" cy="420624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4" name="Text 2"/>
          <p:cNvSpPr/>
          <p:nvPr/>
        </p:nvSpPr>
        <p:spPr>
          <a:xfrm>
            <a:off x="219456" y="82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Solution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AWS services carry the platform; custom logic focuses on Nova's governance rules — deployed in Nova's AWS account, Terraform IaC, Nova-owned repositories.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84848" y="109728"/>
            <a:ext cx="197510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pic>
        <p:nvPicPr>
          <p:cNvPr id="7" name="Image 0" descr="assets/qz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"/>
            <a:ext cx="292608" cy="2606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87768" y="182880"/>
            <a:ext cx="12802" cy="256032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9" name="Text 6"/>
          <p:cNvSpPr/>
          <p:nvPr/>
        </p:nvSpPr>
        <p:spPr>
          <a:xfrm>
            <a:off x="7342632" y="128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Biomedical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84048" y="896112"/>
            <a:ext cx="5233110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pic>
        <p:nvPicPr>
          <p:cNvPr id="11" name="Image 1" descr="asset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9264"/>
            <a:ext cx="5086806" cy="39867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54902" y="896112"/>
            <a:ext cx="2905050" cy="635508"/>
          </a:xfrm>
          <a:prstGeom prst="roundRect">
            <a:avLst>
              <a:gd name="adj" fmla="val 8633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13" name="Image 2" descr="assets/icons/monito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486" y="978408"/>
            <a:ext cx="141732" cy="1417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56654" y="950976"/>
            <a:ext cx="2521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USER SEES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955486" y="1152144"/>
            <a:ext cx="270388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Nova-branded React application — chat with cited answers, knowledge dashboard and telemetry dashboard. Every surface scoped to the signed-in role.</a:t>
            </a:r>
            <a:endParaRPr lang="en-US" sz="660" dirty="0"/>
          </a:p>
        </p:txBody>
      </p:sp>
      <p:sp>
        <p:nvSpPr>
          <p:cNvPr id="16" name="Shape 11"/>
          <p:cNvSpPr/>
          <p:nvPr/>
        </p:nvSpPr>
        <p:spPr>
          <a:xfrm>
            <a:off x="5854902" y="1595628"/>
            <a:ext cx="2905050" cy="635508"/>
          </a:xfrm>
          <a:prstGeom prst="roundRect">
            <a:avLst>
              <a:gd name="adj" fmla="val 8633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17" name="Image 3" descr="assets/icons/i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486" y="1677924"/>
            <a:ext cx="141732" cy="1417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56654" y="1650492"/>
            <a:ext cx="2521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&amp; API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5955486" y="1851660"/>
            <a:ext cx="270388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 ID → Cognito OIDC federation → API Gateway with JWT authorizer → FastAPI RAG API on ECS Fargate, RBAC checked per route.</a:t>
            </a:r>
            <a:endParaRPr lang="en-US" sz="660" dirty="0"/>
          </a:p>
        </p:txBody>
      </p:sp>
      <p:sp>
        <p:nvSpPr>
          <p:cNvPr id="20" name="Shape 14"/>
          <p:cNvSpPr/>
          <p:nvPr/>
        </p:nvSpPr>
        <p:spPr>
          <a:xfrm>
            <a:off x="5854902" y="2295144"/>
            <a:ext cx="2905050" cy="635508"/>
          </a:xfrm>
          <a:prstGeom prst="roundRect">
            <a:avLst>
              <a:gd name="adj" fmla="val 8633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21" name="Image 4" descr="assets/icons/clipboar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486" y="2377440"/>
            <a:ext cx="141732" cy="1417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56654" y="2350008"/>
            <a:ext cx="2521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 &amp; VERSION GOVERNANCE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5955486" y="2551176"/>
            <a:ext cx="270388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landing → EventBridge + SQS → Step Functions: extract, metadata, version rank → curated S3 plus a curator queue for conflicts.</a:t>
            </a:r>
            <a:endParaRPr lang="en-US" sz="660" dirty="0"/>
          </a:p>
        </p:txBody>
      </p:sp>
      <p:sp>
        <p:nvSpPr>
          <p:cNvPr id="24" name="Shape 17"/>
          <p:cNvSpPr/>
          <p:nvPr/>
        </p:nvSpPr>
        <p:spPr>
          <a:xfrm>
            <a:off x="5854902" y="2994660"/>
            <a:ext cx="2905050" cy="635508"/>
          </a:xfrm>
          <a:prstGeom prst="roundRect">
            <a:avLst>
              <a:gd name="adj" fmla="val 8633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25" name="Image 5" descr="assets/icons/boo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486" y="3076956"/>
            <a:ext cx="141732" cy="1417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56654" y="3049524"/>
            <a:ext cx="2521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&amp; GROUNDED ANSWERING</a:t>
            </a:r>
            <a:endParaRPr lang="en-US" sz="700" dirty="0"/>
          </a:p>
        </p:txBody>
      </p:sp>
      <p:sp>
        <p:nvSpPr>
          <p:cNvPr id="27" name="Text 19"/>
          <p:cNvSpPr/>
          <p:nvPr/>
        </p:nvSpPr>
        <p:spPr>
          <a:xfrm>
            <a:off x="5955486" y="3250692"/>
            <a:ext cx="270388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Bedrock Knowledge Base with hybrid retrieval over Aurora pgvector; retrieve → verify → answer, with refusal when grounding is weak.</a:t>
            </a:r>
            <a:endParaRPr lang="en-US" sz="660" dirty="0"/>
          </a:p>
        </p:txBody>
      </p:sp>
      <p:sp>
        <p:nvSpPr>
          <p:cNvPr id="28" name="Shape 20"/>
          <p:cNvSpPr/>
          <p:nvPr/>
        </p:nvSpPr>
        <p:spPr>
          <a:xfrm>
            <a:off x="5854902" y="3694176"/>
            <a:ext cx="2905050" cy="635508"/>
          </a:xfrm>
          <a:prstGeom prst="roundRect">
            <a:avLst>
              <a:gd name="adj" fmla="val 8633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29" name="Image 6" descr="assets/icons/char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5486" y="3776472"/>
            <a:ext cx="141732" cy="1417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56654" y="3749040"/>
            <a:ext cx="2521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TELEMETRY</a:t>
            </a:r>
            <a:endParaRPr lang="en-US" sz="700" dirty="0"/>
          </a:p>
        </p:txBody>
      </p:sp>
      <p:sp>
        <p:nvSpPr>
          <p:cNvPr id="31" name="Text 22"/>
          <p:cNvSpPr/>
          <p:nvPr/>
        </p:nvSpPr>
        <p:spPr>
          <a:xfrm>
            <a:off x="5955486" y="3950208"/>
            <a:ext cx="270388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OpenTelemetry instrumentation → relational metrics store → metrics API serving the dashboards, filtered to the caller's role.</a:t>
            </a:r>
            <a:endParaRPr lang="en-US" sz="660" dirty="0"/>
          </a:p>
        </p:txBody>
      </p:sp>
      <p:sp>
        <p:nvSpPr>
          <p:cNvPr id="32" name="Shape 23"/>
          <p:cNvSpPr/>
          <p:nvPr/>
        </p:nvSpPr>
        <p:spPr>
          <a:xfrm>
            <a:off x="5854902" y="4393692"/>
            <a:ext cx="2905050" cy="635508"/>
          </a:xfrm>
          <a:prstGeom prst="roundRect">
            <a:avLst>
              <a:gd name="adj" fmla="val 8633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33" name="Image 7" descr="assets/icons/shield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5486" y="4475988"/>
            <a:ext cx="141732" cy="1417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156654" y="4448556"/>
            <a:ext cx="2521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FOUNDATION</a:t>
            </a:r>
            <a:endParaRPr lang="en-US" sz="700" dirty="0"/>
          </a:p>
        </p:txBody>
      </p:sp>
      <p:sp>
        <p:nvSpPr>
          <p:cNvPr id="35" name="Text 25"/>
          <p:cNvSpPr/>
          <p:nvPr/>
        </p:nvSpPr>
        <p:spPr>
          <a:xfrm>
            <a:off x="5955486" y="4649724"/>
            <a:ext cx="270388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networking, KMS encryption at rest, least-privilege IAM, CloudWatch, Terraform for Dev + Prod, and a full handover pack.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68580" cy="420624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4" name="Text 2"/>
          <p:cNvSpPr/>
          <p:nvPr/>
        </p:nvSpPr>
        <p:spPr>
          <a:xfrm>
            <a:off x="219456" y="82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runs and bills inside Nova's own AWS account — managed services first, Terraform-provisioned, promoted Dev → Prod from Nova-owned repositories.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96112"/>
            <a:ext cx="8375904" cy="475488"/>
          </a:xfrm>
          <a:prstGeom prst="roundRect">
            <a:avLst>
              <a:gd name="adj" fmla="val 11538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961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 / CD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80160" y="1005840"/>
            <a:ext cx="1029353" cy="256032"/>
          </a:xfrm>
          <a:prstGeom prst="chevron">
            <a:avLst/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1005840"/>
            <a:ext cx="919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2327801" y="1005840"/>
            <a:ext cx="1029353" cy="256032"/>
          </a:xfrm>
          <a:prstGeom prst="chevron">
            <a:avLst/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2665" y="1005840"/>
            <a:ext cx="919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build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3375442" y="1005840"/>
            <a:ext cx="1029353" cy="256032"/>
          </a:xfrm>
          <a:prstGeom prst="chevron">
            <a:avLst/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0306" y="1005840"/>
            <a:ext cx="919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+ contract tests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4423083" y="1005840"/>
            <a:ext cx="1029353" cy="256032"/>
          </a:xfrm>
          <a:prstGeom prst="chevron">
            <a:avLst/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7947" y="1005840"/>
            <a:ext cx="919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→ ECR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5470725" y="1005840"/>
            <a:ext cx="1029353" cy="256032"/>
          </a:xfrm>
          <a:prstGeom prst="chevron">
            <a:avLst/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5589" y="1005840"/>
            <a:ext cx="919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 apply</a:t>
            </a:r>
            <a:endParaRPr lang="en-US" sz="640" dirty="0"/>
          </a:p>
        </p:txBody>
      </p:sp>
      <p:sp>
        <p:nvSpPr>
          <p:cNvPr id="18" name="Shape 16"/>
          <p:cNvSpPr/>
          <p:nvPr/>
        </p:nvSpPr>
        <p:spPr>
          <a:xfrm>
            <a:off x="6518366" y="1005840"/>
            <a:ext cx="1029353" cy="256032"/>
          </a:xfrm>
          <a:prstGeom prst="chevron">
            <a:avLst/>
          </a:prstGeom>
          <a:solidFill>
            <a:srgbClr val="16407E"/>
          </a:solidFill>
          <a:ln w="9525">
            <a:solidFill>
              <a:srgbClr val="1640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3230" y="1005840"/>
            <a:ext cx="919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Dev · UAT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7566007" y="1005840"/>
            <a:ext cx="1029353" cy="256032"/>
          </a:xfrm>
          <a:prstGeom prst="chevron">
            <a:avLst/>
          </a:prstGeom>
          <a:solidFill>
            <a:srgbClr val="16407E"/>
          </a:solidFill>
          <a:ln w="9525">
            <a:solidFill>
              <a:srgbClr val="1640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871" y="1005840"/>
            <a:ext cx="919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Prod · approval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384048" y="1481328"/>
            <a:ext cx="5705856" cy="2615184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16407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48640" y="1527048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AWS account  ·  private VPC &amp; VPC endpoints  ·  least-privilege IAM  ·  KMS at rest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1847088"/>
            <a:ext cx="2633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" y="19751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2FB"/>
          </a:solidFill>
          <a:ln/>
        </p:spPr>
      </p:sp>
      <p:pic>
        <p:nvPicPr>
          <p:cNvPr id="26" name="Image 0" descr="assets/icons/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2061972"/>
            <a:ext cx="210312" cy="21031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15568" y="1947672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Application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15568" y="213055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· S3 + CloudFront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Nova-branded, role-scoped surfaces</a:t>
            </a:r>
            <a:endParaRPr lang="en-US" sz="660" dirty="0"/>
          </a:p>
        </p:txBody>
      </p:sp>
      <p:sp>
        <p:nvSpPr>
          <p:cNvPr id="29" name="Shape 26"/>
          <p:cNvSpPr/>
          <p:nvPr/>
        </p:nvSpPr>
        <p:spPr>
          <a:xfrm>
            <a:off x="3291840" y="1847088"/>
            <a:ext cx="2633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392424" y="19751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2FB"/>
          </a:solidFill>
          <a:ln/>
        </p:spPr>
      </p:sp>
      <p:pic>
        <p:nvPicPr>
          <p:cNvPr id="31" name="Image 1" descr="assets/icons/serv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292" y="2061972"/>
            <a:ext cx="210312" cy="21031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858768" y="1947672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API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858768" y="213055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on ECS Fargate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tasks always on, autoscaled</a:t>
            </a:r>
            <a:endParaRPr lang="en-US" sz="660" dirty="0"/>
          </a:p>
        </p:txBody>
      </p:sp>
      <p:sp>
        <p:nvSpPr>
          <p:cNvPr id="34" name="Shape 30"/>
          <p:cNvSpPr/>
          <p:nvPr/>
        </p:nvSpPr>
        <p:spPr>
          <a:xfrm>
            <a:off x="548640" y="2651760"/>
            <a:ext cx="2633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49224" y="27797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2FB"/>
          </a:solidFill>
          <a:ln/>
        </p:spPr>
      </p:sp>
      <p:pic>
        <p:nvPicPr>
          <p:cNvPr id="36" name="Image 2" descr="assets/icons/sitem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866644"/>
            <a:ext cx="210312" cy="21031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115568" y="2752344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Processing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1115568" y="2935224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Functions + Lambda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Event-driven, scales on demand</a:t>
            </a:r>
            <a:endParaRPr lang="en-US" sz="660" dirty="0"/>
          </a:p>
        </p:txBody>
      </p:sp>
      <p:sp>
        <p:nvSpPr>
          <p:cNvPr id="39" name="Shape 34"/>
          <p:cNvSpPr/>
          <p:nvPr/>
        </p:nvSpPr>
        <p:spPr>
          <a:xfrm>
            <a:off x="3291840" y="2651760"/>
            <a:ext cx="2633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3392424" y="27797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2FB"/>
          </a:solidFill>
          <a:ln/>
        </p:spPr>
      </p:sp>
      <p:pic>
        <p:nvPicPr>
          <p:cNvPr id="41" name="Image 3" descr="assets/icons/sync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292" y="2866644"/>
            <a:ext cx="210312" cy="21031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858768" y="2752344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Base Sync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3858768" y="2935224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Incremental re-indexing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Titan embeddings · reconciliation</a:t>
            </a:r>
            <a:endParaRPr lang="en-US" sz="660" dirty="0"/>
          </a:p>
        </p:txBody>
      </p:sp>
      <p:sp>
        <p:nvSpPr>
          <p:cNvPr id="44" name="Shape 38"/>
          <p:cNvSpPr/>
          <p:nvPr/>
        </p:nvSpPr>
        <p:spPr>
          <a:xfrm>
            <a:off x="548640" y="3474720"/>
            <a:ext cx="5376672" cy="512064"/>
          </a:xfrm>
          <a:prstGeom prst="roundRect">
            <a:avLst>
              <a:gd name="adj" fmla="val 10714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76656" y="3511296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" b="1" dirty="0">
                <a:solidFill>
                  <a:srgbClr val="1640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Environments:  </a:t>
            </a:r>
            <a:pPr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and Prod from one Terraform codebase, identical images promoted by tag; UAT runs in Dev. Secrets in Secrets Manager, no credentials in code, service-to-service access by IAM role only.</a:t>
            </a:r>
            <a:endParaRPr lang="en-US" sz="720" dirty="0"/>
          </a:p>
        </p:txBody>
      </p:sp>
      <p:sp>
        <p:nvSpPr>
          <p:cNvPr id="46" name="Shape 40"/>
          <p:cNvSpPr/>
          <p:nvPr/>
        </p:nvSpPr>
        <p:spPr>
          <a:xfrm>
            <a:off x="6272784" y="1481328"/>
            <a:ext cx="2487168" cy="2615184"/>
          </a:xfrm>
          <a:prstGeom prst="roundRect">
            <a:avLst>
              <a:gd name="adj" fmla="val 2206"/>
            </a:avLst>
          </a:prstGeom>
          <a:solidFill>
            <a:srgbClr val="F5F9FD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419088" y="15270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MANAGED SERVICES</a:t>
            </a:r>
            <a:endParaRPr lang="en-US" sz="800" dirty="0"/>
          </a:p>
        </p:txBody>
      </p:sp>
      <p:sp>
        <p:nvSpPr>
          <p:cNvPr id="48" name="Shape 42"/>
          <p:cNvSpPr/>
          <p:nvPr/>
        </p:nvSpPr>
        <p:spPr>
          <a:xfrm>
            <a:off x="6400800" y="1847088"/>
            <a:ext cx="223113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49" name="Image 4" descr="assets/icons/brai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33956"/>
            <a:ext cx="155448" cy="15544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711696" y="18653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Bedrock</a:t>
            </a:r>
            <a:endParaRPr lang="en-US" sz="720" dirty="0"/>
          </a:p>
        </p:txBody>
      </p:sp>
      <p:sp>
        <p:nvSpPr>
          <p:cNvPr id="51" name="Text 44"/>
          <p:cNvSpPr/>
          <p:nvPr/>
        </p:nvSpPr>
        <p:spPr>
          <a:xfrm>
            <a:off x="6711696" y="2011680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models, guardrails, routing</a:t>
            </a:r>
            <a:endParaRPr lang="en-US" sz="620" dirty="0"/>
          </a:p>
        </p:txBody>
      </p:sp>
      <p:sp>
        <p:nvSpPr>
          <p:cNvPr id="52" name="Shape 45"/>
          <p:cNvSpPr/>
          <p:nvPr/>
        </p:nvSpPr>
        <p:spPr>
          <a:xfrm>
            <a:off x="6400800" y="2226564"/>
            <a:ext cx="223113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53" name="Image 5" descr="assets/icons/databas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313432"/>
            <a:ext cx="155448" cy="15544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711696" y="22448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Aurora Serverless v2</a:t>
            </a:r>
            <a:endParaRPr lang="en-US" sz="720" dirty="0"/>
          </a:p>
        </p:txBody>
      </p:sp>
      <p:sp>
        <p:nvSpPr>
          <p:cNvPr id="55" name="Text 47"/>
          <p:cNvSpPr/>
          <p:nvPr/>
        </p:nvSpPr>
        <p:spPr>
          <a:xfrm>
            <a:off x="6711696" y="2391156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pgvector · scales toward zero</a:t>
            </a:r>
            <a:endParaRPr lang="en-US" sz="620" dirty="0"/>
          </a:p>
        </p:txBody>
      </p:sp>
      <p:sp>
        <p:nvSpPr>
          <p:cNvPr id="56" name="Shape 48"/>
          <p:cNvSpPr/>
          <p:nvPr/>
        </p:nvSpPr>
        <p:spPr>
          <a:xfrm>
            <a:off x="6400800" y="2606040"/>
            <a:ext cx="223113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57" name="Image 6" descr="assets/icons/archiv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692908"/>
            <a:ext cx="155448" cy="155448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6711696" y="26243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S3</a:t>
            </a:r>
            <a:endParaRPr lang="en-US" sz="720" dirty="0"/>
          </a:p>
        </p:txBody>
      </p:sp>
      <p:sp>
        <p:nvSpPr>
          <p:cNvPr id="59" name="Text 50"/>
          <p:cNvSpPr/>
          <p:nvPr/>
        </p:nvSpPr>
        <p:spPr>
          <a:xfrm>
            <a:off x="6711696" y="2770632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+ curated, versioned</a:t>
            </a:r>
            <a:endParaRPr lang="en-US" sz="620" dirty="0"/>
          </a:p>
        </p:txBody>
      </p:sp>
      <p:sp>
        <p:nvSpPr>
          <p:cNvPr id="60" name="Shape 51"/>
          <p:cNvSpPr/>
          <p:nvPr/>
        </p:nvSpPr>
        <p:spPr>
          <a:xfrm>
            <a:off x="6400800" y="2985516"/>
            <a:ext cx="223113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61" name="Image 7" descr="assets/icons/key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072384"/>
            <a:ext cx="155448" cy="15544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6711696" y="300380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Cognito + Entra ID</a:t>
            </a:r>
            <a:endParaRPr lang="en-US" sz="720" dirty="0"/>
          </a:p>
        </p:txBody>
      </p:sp>
      <p:sp>
        <p:nvSpPr>
          <p:cNvPr id="63" name="Text 53"/>
          <p:cNvSpPr/>
          <p:nvPr/>
        </p:nvSpPr>
        <p:spPr>
          <a:xfrm>
            <a:off x="6711696" y="3150108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OIDC federation · roles</a:t>
            </a:r>
            <a:endParaRPr lang="en-US" sz="620" dirty="0"/>
          </a:p>
        </p:txBody>
      </p:sp>
      <p:sp>
        <p:nvSpPr>
          <p:cNvPr id="64" name="Shape 54"/>
          <p:cNvSpPr/>
          <p:nvPr/>
        </p:nvSpPr>
        <p:spPr>
          <a:xfrm>
            <a:off x="6400800" y="3364992"/>
            <a:ext cx="223113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65" name="Image 8" descr="assets/icons/chart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451860"/>
            <a:ext cx="155448" cy="155448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6711696" y="338328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Telemetry store</a:t>
            </a:r>
            <a:endParaRPr lang="en-US" sz="720" dirty="0"/>
          </a:p>
        </p:txBody>
      </p:sp>
      <p:sp>
        <p:nvSpPr>
          <p:cNvPr id="67" name="Text 56"/>
          <p:cNvSpPr/>
          <p:nvPr/>
        </p:nvSpPr>
        <p:spPr>
          <a:xfrm>
            <a:off x="6711696" y="352958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· tokens, cost, latency</a:t>
            </a:r>
            <a:endParaRPr lang="en-US" sz="620" dirty="0"/>
          </a:p>
        </p:txBody>
      </p:sp>
      <p:sp>
        <p:nvSpPr>
          <p:cNvPr id="68" name="Shape 57"/>
          <p:cNvSpPr/>
          <p:nvPr/>
        </p:nvSpPr>
        <p:spPr>
          <a:xfrm>
            <a:off x="6400800" y="3744468"/>
            <a:ext cx="2231136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</p:sp>
      <p:pic>
        <p:nvPicPr>
          <p:cNvPr id="69" name="Image 9" descr="assets/icons/eye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831336"/>
            <a:ext cx="155448" cy="155448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6711696" y="37627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CloudWatch + KMS</a:t>
            </a:r>
            <a:endParaRPr lang="en-US" sz="720" dirty="0"/>
          </a:p>
        </p:txBody>
      </p:sp>
      <p:sp>
        <p:nvSpPr>
          <p:cNvPr id="71" name="Text 59"/>
          <p:cNvSpPr/>
          <p:nvPr/>
        </p:nvSpPr>
        <p:spPr>
          <a:xfrm>
            <a:off x="6711696" y="3909060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logs, alarms, managed keys</a:t>
            </a:r>
            <a:endParaRPr lang="en-US" sz="620" dirty="0"/>
          </a:p>
        </p:txBody>
      </p:sp>
      <p:sp>
        <p:nvSpPr>
          <p:cNvPr id="72" name="Shape 60"/>
          <p:cNvSpPr/>
          <p:nvPr/>
        </p:nvSpPr>
        <p:spPr>
          <a:xfrm>
            <a:off x="384048" y="4224528"/>
            <a:ext cx="2718816" cy="713232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3" name="Text 61"/>
          <p:cNvSpPr/>
          <p:nvPr/>
        </p:nvSpPr>
        <p:spPr>
          <a:xfrm>
            <a:off x="530352" y="4279392"/>
            <a:ext cx="244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Ownership</a:t>
            </a:r>
            <a:endParaRPr lang="en-US" sz="820" dirty="0"/>
          </a:p>
        </p:txBody>
      </p:sp>
      <p:sp>
        <p:nvSpPr>
          <p:cNvPr id="74" name="Text 62"/>
          <p:cNvSpPr/>
          <p:nvPr/>
        </p:nvSpPr>
        <p:spPr>
          <a:xfrm>
            <a:off x="530352" y="4471416"/>
            <a:ext cx="2426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7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and Terraform live in Nova repositories; QualiZeal builds and hands over, Nova operates.</a:t>
            </a:r>
            <a:endParaRPr lang="en-US" sz="700" dirty="0"/>
          </a:p>
        </p:txBody>
      </p:sp>
      <p:sp>
        <p:nvSpPr>
          <p:cNvPr id="75" name="Shape 63"/>
          <p:cNvSpPr/>
          <p:nvPr/>
        </p:nvSpPr>
        <p:spPr>
          <a:xfrm>
            <a:off x="3212592" y="4224528"/>
            <a:ext cx="2718816" cy="713232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6" name="Text 64"/>
          <p:cNvSpPr/>
          <p:nvPr/>
        </p:nvSpPr>
        <p:spPr>
          <a:xfrm>
            <a:off x="3358896" y="4279392"/>
            <a:ext cx="244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</a:t>
            </a:r>
            <a:endParaRPr lang="en-US" sz="820" dirty="0"/>
          </a:p>
        </p:txBody>
      </p:sp>
      <p:sp>
        <p:nvSpPr>
          <p:cNvPr id="77" name="Text 65"/>
          <p:cNvSpPr/>
          <p:nvPr/>
        </p:nvSpPr>
        <p:spPr>
          <a:xfrm>
            <a:off x="3358896" y="4471416"/>
            <a:ext cx="2426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7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 ID SSO, role-based access per route, private networking to the data tier, KMS keys throughout.</a:t>
            </a:r>
            <a:endParaRPr lang="en-US" sz="700" dirty="0"/>
          </a:p>
        </p:txBody>
      </p:sp>
      <p:sp>
        <p:nvSpPr>
          <p:cNvPr id="78" name="Shape 66"/>
          <p:cNvSpPr/>
          <p:nvPr/>
        </p:nvSpPr>
        <p:spPr>
          <a:xfrm>
            <a:off x="6041136" y="4224528"/>
            <a:ext cx="2718816" cy="713232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</p:sp>
      <p:sp>
        <p:nvSpPr>
          <p:cNvPr id="79" name="Text 67"/>
          <p:cNvSpPr/>
          <p:nvPr/>
        </p:nvSpPr>
        <p:spPr>
          <a:xfrm>
            <a:off x="6187440" y="4279392"/>
            <a:ext cx="244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&amp; scale</a:t>
            </a:r>
            <a:endParaRPr lang="en-US" sz="820" dirty="0"/>
          </a:p>
        </p:txBody>
      </p:sp>
      <p:sp>
        <p:nvSpPr>
          <p:cNvPr id="80" name="Text 68"/>
          <p:cNvSpPr/>
          <p:nvPr/>
        </p:nvSpPr>
        <p:spPr>
          <a:xfrm>
            <a:off x="6187440" y="4471416"/>
            <a:ext cx="2426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7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Serverless and scale-to-zero components sized for internal usage; Bedrock spend visible per answer.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68580" cy="420624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4" name="Text 2"/>
          <p:cNvSpPr/>
          <p:nvPr/>
        </p:nvSpPr>
        <p:spPr>
          <a:xfrm>
            <a:off x="219456" y="82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AWS-native and Python-first — managed services wherever they exist, so build effort goes into Nova's governance rules.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7863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EXPERIENCE &amp; IDENTITY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00584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0972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9" name="Image 0" descr="assets/icons/reac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175004"/>
            <a:ext cx="192024" cy="192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0624" y="14630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20624" y="16459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Nova-branded web app</a:t>
            </a:r>
            <a:endParaRPr lang="en-US" sz="610" dirty="0"/>
          </a:p>
        </p:txBody>
      </p:sp>
      <p:sp>
        <p:nvSpPr>
          <p:cNvPr id="12" name="Shape 9"/>
          <p:cNvSpPr/>
          <p:nvPr/>
        </p:nvSpPr>
        <p:spPr>
          <a:xfrm>
            <a:off x="1792224" y="100584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76856" y="10972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14" name="Image 1" descr="assets/icons/i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580" y="1175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14630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Entra ID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1828800" y="16459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sign-on, groups</a:t>
            </a:r>
            <a:endParaRPr lang="en-US" sz="610" dirty="0"/>
          </a:p>
        </p:txBody>
      </p:sp>
      <p:sp>
        <p:nvSpPr>
          <p:cNvPr id="17" name="Shape 13"/>
          <p:cNvSpPr/>
          <p:nvPr/>
        </p:nvSpPr>
        <p:spPr>
          <a:xfrm>
            <a:off x="3200400" y="100584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85032" y="10972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19" name="Image 2" descr="assets/icons/ke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56" y="1175004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36976" y="14630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Cognito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3236976" y="16459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OIDC federation, JWT</a:t>
            </a:r>
            <a:endParaRPr lang="en-US" sz="610" dirty="0"/>
          </a:p>
        </p:txBody>
      </p:sp>
      <p:sp>
        <p:nvSpPr>
          <p:cNvPr id="22" name="Shape 17"/>
          <p:cNvSpPr/>
          <p:nvPr/>
        </p:nvSpPr>
        <p:spPr>
          <a:xfrm>
            <a:off x="4608576" y="100584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93208" y="10972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24" name="Image 3" descr="assets/icons/rout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932" y="1175004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45152" y="14630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Gateway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4645152" y="16459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secured entry</a:t>
            </a:r>
            <a:endParaRPr lang="en-US" sz="610" dirty="0"/>
          </a:p>
        </p:txBody>
      </p:sp>
      <p:sp>
        <p:nvSpPr>
          <p:cNvPr id="27" name="Text 21"/>
          <p:cNvSpPr/>
          <p:nvPr/>
        </p:nvSpPr>
        <p:spPr>
          <a:xfrm>
            <a:off x="384048" y="18836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&amp; ANSWERING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84048" y="210312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68680" y="21945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30" name="Image 4" descr="assets/icons/brai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2272284"/>
            <a:ext cx="192024" cy="1920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0624" y="25603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Bedrock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420624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Sonnet 4.5 default</a:t>
            </a:r>
            <a:endParaRPr lang="en-US" sz="610" dirty="0"/>
          </a:p>
        </p:txBody>
      </p:sp>
      <p:sp>
        <p:nvSpPr>
          <p:cNvPr id="33" name="Shape 26"/>
          <p:cNvSpPr/>
          <p:nvPr/>
        </p:nvSpPr>
        <p:spPr>
          <a:xfrm>
            <a:off x="1792224" y="210312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2276856" y="21945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35" name="Image 5" descr="assets/icons/layer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4580" y="2272284"/>
            <a:ext cx="192024" cy="1920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828800" y="25603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Titan Embeddings V2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1828800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representation</a:t>
            </a:r>
            <a:endParaRPr lang="en-US" sz="610" dirty="0"/>
          </a:p>
        </p:txBody>
      </p:sp>
      <p:sp>
        <p:nvSpPr>
          <p:cNvPr id="38" name="Shape 30"/>
          <p:cNvSpPr/>
          <p:nvPr/>
        </p:nvSpPr>
        <p:spPr>
          <a:xfrm>
            <a:off x="3200400" y="210312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3685032" y="21945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40" name="Image 6" descr="assets/icons/boo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756" y="2272284"/>
            <a:ext cx="192024" cy="19202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236976" y="25603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Bedrock KB</a:t>
            </a:r>
            <a:endParaRPr lang="en-US" sz="700" dirty="0"/>
          </a:p>
        </p:txBody>
      </p:sp>
      <p:sp>
        <p:nvSpPr>
          <p:cNvPr id="42" name="Text 33"/>
          <p:cNvSpPr/>
          <p:nvPr/>
        </p:nvSpPr>
        <p:spPr>
          <a:xfrm>
            <a:off x="3236976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retrieval + rerank</a:t>
            </a:r>
            <a:endParaRPr lang="en-US" sz="610" dirty="0"/>
          </a:p>
        </p:txBody>
      </p:sp>
      <p:sp>
        <p:nvSpPr>
          <p:cNvPr id="43" name="Shape 34"/>
          <p:cNvSpPr/>
          <p:nvPr/>
        </p:nvSpPr>
        <p:spPr>
          <a:xfrm>
            <a:off x="4608576" y="210312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5093208" y="21945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45" name="Image 7" descr="assets/icons/databas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932" y="2272284"/>
            <a:ext cx="192024" cy="19202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4645152" y="25603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Aurora v2 · pgvector</a:t>
            </a:r>
            <a:endParaRPr lang="en-US" sz="700" dirty="0"/>
          </a:p>
        </p:txBody>
      </p:sp>
      <p:sp>
        <p:nvSpPr>
          <p:cNvPr id="47" name="Text 37"/>
          <p:cNvSpPr/>
          <p:nvPr/>
        </p:nvSpPr>
        <p:spPr>
          <a:xfrm>
            <a:off x="4645152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Serverless vector store</a:t>
            </a:r>
            <a:endParaRPr lang="en-US" sz="610" dirty="0"/>
          </a:p>
        </p:txBody>
      </p:sp>
      <p:sp>
        <p:nvSpPr>
          <p:cNvPr id="48" name="Shape 38"/>
          <p:cNvSpPr/>
          <p:nvPr/>
        </p:nvSpPr>
        <p:spPr>
          <a:xfrm>
            <a:off x="6016752" y="210312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6501384" y="21945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50" name="Image 8" descr="assets/icons/shield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108" y="2272284"/>
            <a:ext cx="192024" cy="192024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6053328" y="25603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Bedrock Guardrails</a:t>
            </a:r>
            <a:endParaRPr lang="en-US" sz="700" dirty="0"/>
          </a:p>
        </p:txBody>
      </p:sp>
      <p:sp>
        <p:nvSpPr>
          <p:cNvPr id="52" name="Text 41"/>
          <p:cNvSpPr/>
          <p:nvPr/>
        </p:nvSpPr>
        <p:spPr>
          <a:xfrm>
            <a:off x="6053328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&amp; refusal checks</a:t>
            </a:r>
            <a:endParaRPr lang="en-US" sz="610" dirty="0"/>
          </a:p>
        </p:txBody>
      </p:sp>
      <p:sp>
        <p:nvSpPr>
          <p:cNvPr id="53" name="Text 42"/>
          <p:cNvSpPr/>
          <p:nvPr/>
        </p:nvSpPr>
        <p:spPr>
          <a:xfrm>
            <a:off x="384048" y="29809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PLATFORM, DATA &amp; OPERATIONS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384048" y="320040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868680" y="32918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56" name="Image 9" descr="assets/icons/server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404" y="3369564"/>
            <a:ext cx="192024" cy="192024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420624" y="3657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· FastAPI</a:t>
            </a:r>
            <a:endParaRPr lang="en-US" sz="700" dirty="0"/>
          </a:p>
        </p:txBody>
      </p:sp>
      <p:sp>
        <p:nvSpPr>
          <p:cNvPr id="58" name="Text 46"/>
          <p:cNvSpPr/>
          <p:nvPr/>
        </p:nvSpPr>
        <p:spPr>
          <a:xfrm>
            <a:off x="420624" y="38404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API on ECS Fargate</a:t>
            </a:r>
            <a:endParaRPr lang="en-US" sz="610" dirty="0"/>
          </a:p>
        </p:txBody>
      </p:sp>
      <p:sp>
        <p:nvSpPr>
          <p:cNvPr id="59" name="Shape 47"/>
          <p:cNvSpPr/>
          <p:nvPr/>
        </p:nvSpPr>
        <p:spPr>
          <a:xfrm>
            <a:off x="1792224" y="320040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2276856" y="32918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61" name="Image 10" descr="assets/icons/sitemap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54580" y="3369564"/>
            <a:ext cx="192024" cy="192024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1828800" y="3657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Step Functions</a:t>
            </a:r>
            <a:endParaRPr lang="en-US" sz="700" dirty="0"/>
          </a:p>
        </p:txBody>
      </p:sp>
      <p:sp>
        <p:nvSpPr>
          <p:cNvPr id="63" name="Text 50"/>
          <p:cNvSpPr/>
          <p:nvPr/>
        </p:nvSpPr>
        <p:spPr>
          <a:xfrm>
            <a:off x="1828800" y="38404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processing pipeline</a:t>
            </a:r>
            <a:endParaRPr lang="en-US" sz="610" dirty="0"/>
          </a:p>
        </p:txBody>
      </p:sp>
      <p:sp>
        <p:nvSpPr>
          <p:cNvPr id="64" name="Shape 51"/>
          <p:cNvSpPr/>
          <p:nvPr/>
        </p:nvSpPr>
        <p:spPr>
          <a:xfrm>
            <a:off x="3200400" y="320040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3685032" y="32918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66" name="Image 11" descr="assets/icons/bolt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2756" y="3369564"/>
            <a:ext cx="192024" cy="192024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3236976" y="3657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EventBridge + SQS</a:t>
            </a:r>
            <a:endParaRPr lang="en-US" sz="700" dirty="0"/>
          </a:p>
        </p:txBody>
      </p:sp>
      <p:sp>
        <p:nvSpPr>
          <p:cNvPr id="68" name="Text 54"/>
          <p:cNvSpPr/>
          <p:nvPr/>
        </p:nvSpPr>
        <p:spPr>
          <a:xfrm>
            <a:off x="3236976" y="38404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 intake</a:t>
            </a:r>
            <a:endParaRPr lang="en-US" sz="610" dirty="0"/>
          </a:p>
        </p:txBody>
      </p:sp>
      <p:sp>
        <p:nvSpPr>
          <p:cNvPr id="69" name="Shape 55"/>
          <p:cNvSpPr/>
          <p:nvPr/>
        </p:nvSpPr>
        <p:spPr>
          <a:xfrm>
            <a:off x="4608576" y="320040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70" name="Shape 56"/>
          <p:cNvSpPr/>
          <p:nvPr/>
        </p:nvSpPr>
        <p:spPr>
          <a:xfrm>
            <a:off x="5093208" y="32918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71" name="Image 12" descr="assets/icons/archive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0932" y="3369564"/>
            <a:ext cx="192024" cy="192024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4645152" y="3657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S3</a:t>
            </a:r>
            <a:endParaRPr lang="en-US" sz="700" dirty="0"/>
          </a:p>
        </p:txBody>
      </p:sp>
      <p:sp>
        <p:nvSpPr>
          <p:cNvPr id="73" name="Text 58"/>
          <p:cNvSpPr/>
          <p:nvPr/>
        </p:nvSpPr>
        <p:spPr>
          <a:xfrm>
            <a:off x="4645152" y="38404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&amp; curated buckets</a:t>
            </a:r>
            <a:endParaRPr lang="en-US" sz="610" dirty="0"/>
          </a:p>
        </p:txBody>
      </p:sp>
      <p:sp>
        <p:nvSpPr>
          <p:cNvPr id="74" name="Shape 59"/>
          <p:cNvSpPr/>
          <p:nvPr/>
        </p:nvSpPr>
        <p:spPr>
          <a:xfrm>
            <a:off x="6016752" y="320040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75" name="Shape 60"/>
          <p:cNvSpPr/>
          <p:nvPr/>
        </p:nvSpPr>
        <p:spPr>
          <a:xfrm>
            <a:off x="6501384" y="32918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76" name="Image 13" descr="assets/icons/chart_nav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9108" y="3369564"/>
            <a:ext cx="192024" cy="192024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6053328" y="3657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OpenTelemetry</a:t>
            </a:r>
            <a:endParaRPr lang="en-US" sz="700" dirty="0"/>
          </a:p>
        </p:txBody>
      </p:sp>
      <p:sp>
        <p:nvSpPr>
          <p:cNvPr id="78" name="Text 62"/>
          <p:cNvSpPr/>
          <p:nvPr/>
        </p:nvSpPr>
        <p:spPr>
          <a:xfrm>
            <a:off x="6053328" y="38404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Tokens, cost, latency → MySQL</a:t>
            </a:r>
            <a:endParaRPr lang="en-US" sz="610" dirty="0"/>
          </a:p>
        </p:txBody>
      </p:sp>
      <p:sp>
        <p:nvSpPr>
          <p:cNvPr id="79" name="Shape 63"/>
          <p:cNvSpPr/>
          <p:nvPr/>
        </p:nvSpPr>
        <p:spPr>
          <a:xfrm>
            <a:off x="7424928" y="3200400"/>
            <a:ext cx="13167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80" name="Shape 64"/>
          <p:cNvSpPr/>
          <p:nvPr/>
        </p:nvSpPr>
        <p:spPr>
          <a:xfrm>
            <a:off x="7909560" y="32918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F2FB"/>
          </a:solidFill>
          <a:ln/>
        </p:spPr>
      </p:sp>
      <p:pic>
        <p:nvPicPr>
          <p:cNvPr id="81" name="Image 14" descr="assets/icons/cogs_nav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7284" y="3369564"/>
            <a:ext cx="192024" cy="192024"/>
          </a:xfrm>
          <a:prstGeom prst="rect">
            <a:avLst/>
          </a:prstGeom>
        </p:spPr>
      </p:pic>
      <p:sp>
        <p:nvSpPr>
          <p:cNvPr id="82" name="Text 65"/>
          <p:cNvSpPr/>
          <p:nvPr/>
        </p:nvSpPr>
        <p:spPr>
          <a:xfrm>
            <a:off x="7461504" y="3657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Terraform</a:t>
            </a:r>
            <a:endParaRPr lang="en-US" sz="700" dirty="0"/>
          </a:p>
        </p:txBody>
      </p:sp>
      <p:sp>
        <p:nvSpPr>
          <p:cNvPr id="83" name="Text 66"/>
          <p:cNvSpPr/>
          <p:nvPr/>
        </p:nvSpPr>
        <p:spPr>
          <a:xfrm>
            <a:off x="7461504" y="38404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· CloudWatch alarms</a:t>
            </a:r>
            <a:endParaRPr lang="en-US" sz="610" dirty="0"/>
          </a:p>
        </p:txBody>
      </p:sp>
      <p:sp>
        <p:nvSpPr>
          <p:cNvPr id="84" name="Shape 67"/>
          <p:cNvSpPr/>
          <p:nvPr/>
        </p:nvSpPr>
        <p:spPr>
          <a:xfrm>
            <a:off x="384048" y="4224528"/>
            <a:ext cx="8375904" cy="530352"/>
          </a:xfrm>
          <a:prstGeom prst="roundRect">
            <a:avLst>
              <a:gd name="adj" fmla="val 10345"/>
            </a:avLst>
          </a:prstGeom>
          <a:solidFill>
            <a:srgbClr val="16407E"/>
          </a:solidFill>
          <a:ln/>
        </p:spPr>
      </p:sp>
      <p:sp>
        <p:nvSpPr>
          <p:cNvPr id="85" name="Text 68"/>
          <p:cNvSpPr/>
          <p:nvPr/>
        </p:nvSpPr>
        <p:spPr>
          <a:xfrm>
            <a:off x="603504" y="4224528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9FD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Model-agnostic by design:  </a:t>
            </a:r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model call routes through a Bedrock abstraction layer, so provider and model choice stay swappable by configuration, versioned, logged and cost-capped — with routing decisions recorded on every request.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68580" cy="420624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4" name="Text 2"/>
          <p:cNvSpPr/>
          <p:nvPr/>
        </p:nvSpPr>
        <p:spPr>
          <a:xfrm>
            <a:off x="219456" y="82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16-Week Delivery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phased delivery overview with go / no-go checkpoints — phases overlap, and each closes with an accepted demonstration on Nova content.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0779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327355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363931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400507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437083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473659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510235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546811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583387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619963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656539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693115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729691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766267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802843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8394192" y="859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327355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931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00507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37083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3659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7" name="Shape 25"/>
          <p:cNvSpPr/>
          <p:nvPr/>
        </p:nvSpPr>
        <p:spPr>
          <a:xfrm>
            <a:off x="510235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6811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83387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19963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1" name="Shape 29"/>
          <p:cNvSpPr/>
          <p:nvPr/>
        </p:nvSpPr>
        <p:spPr>
          <a:xfrm>
            <a:off x="656539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2" name="Shape 30"/>
          <p:cNvSpPr/>
          <p:nvPr/>
        </p:nvSpPr>
        <p:spPr>
          <a:xfrm>
            <a:off x="693115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29691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4" name="Shape 32"/>
          <p:cNvSpPr/>
          <p:nvPr/>
        </p:nvSpPr>
        <p:spPr>
          <a:xfrm>
            <a:off x="766267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5" name="Shape 33"/>
          <p:cNvSpPr/>
          <p:nvPr/>
        </p:nvSpPr>
        <p:spPr>
          <a:xfrm>
            <a:off x="802843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6" name="Shape 34"/>
          <p:cNvSpPr/>
          <p:nvPr/>
        </p:nvSpPr>
        <p:spPr>
          <a:xfrm>
            <a:off x="8394192" y="1060704"/>
            <a:ext cx="5486" cy="2066544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107899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Initiate &amp; Frame · Discovery,</a:t>
            </a:r>
            <a:endParaRPr lang="en-US" sz="7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Alignment &amp; Solution Architecture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384048" y="1316736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1–2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2907792" y="1097280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 w="6350">
            <a:solidFill>
              <a:srgbClr val="EDF3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07792" y="109728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6407E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149504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 &amp; Access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384048" y="1659636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2–5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2907792" y="15133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 w="6350">
            <a:solidFill>
              <a:srgbClr val="EDF3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73552" y="151333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45" name="Text 43"/>
          <p:cNvSpPr/>
          <p:nvPr/>
        </p:nvSpPr>
        <p:spPr>
          <a:xfrm>
            <a:off x="384048" y="19110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 &amp; Version Governance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84048" y="207568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4–9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2907792" y="1929384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 w="6350">
            <a:solidFill>
              <a:srgbClr val="EDF3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05072" y="1929384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16407E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" y="232714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Answering, Experience &amp; Evaluation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384048" y="2491740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8–14</a:t>
            </a:r>
            <a:endParaRPr lang="en-US" sz="640" dirty="0"/>
          </a:p>
        </p:txBody>
      </p:sp>
      <p:sp>
        <p:nvSpPr>
          <p:cNvPr id="51" name="Shape 49"/>
          <p:cNvSpPr/>
          <p:nvPr/>
        </p:nvSpPr>
        <p:spPr>
          <a:xfrm>
            <a:off x="2907792" y="2345436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 w="6350">
            <a:solidFill>
              <a:srgbClr val="EDF3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68112" y="2345436"/>
            <a:ext cx="2560320" cy="219456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53" name="Text 51"/>
          <p:cNvSpPr/>
          <p:nvPr/>
        </p:nvSpPr>
        <p:spPr>
          <a:xfrm>
            <a:off x="384048" y="274320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Acceptance, Hardening &amp; Handover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384048" y="290779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13–16</a:t>
            </a:r>
            <a:endParaRPr lang="en-US" sz="640" dirty="0"/>
          </a:p>
        </p:txBody>
      </p:sp>
      <p:sp>
        <p:nvSpPr>
          <p:cNvPr id="55" name="Shape 53"/>
          <p:cNvSpPr/>
          <p:nvPr/>
        </p:nvSpPr>
        <p:spPr>
          <a:xfrm>
            <a:off x="2907792" y="2761488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 w="6350">
            <a:solidFill>
              <a:srgbClr val="EDF3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96912" y="2761488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16407E"/>
          </a:solidFill>
          <a:ln/>
        </p:spPr>
      </p:sp>
      <p:sp>
        <p:nvSpPr>
          <p:cNvPr id="57" name="Shape 55"/>
          <p:cNvSpPr/>
          <p:nvPr/>
        </p:nvSpPr>
        <p:spPr>
          <a:xfrm>
            <a:off x="384048" y="3218688"/>
            <a:ext cx="1602029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02920" y="3291840"/>
            <a:ext cx="1364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 &amp; Architecture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502920" y="3611880"/>
            <a:ext cx="136428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scope, working assumptions and the alignment points. Corpus, taxonomy and version rules reviewed. Target architecture, guardrails and NFRs signed off.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02920" y="4453128"/>
            <a:ext cx="1364285" cy="7315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61" name="Text 59"/>
          <p:cNvSpPr/>
          <p:nvPr/>
        </p:nvSpPr>
        <p:spPr>
          <a:xfrm>
            <a:off x="502920" y="4498848"/>
            <a:ext cx="13642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Sign-off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077517" y="3218688"/>
            <a:ext cx="1602029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2196389" y="3291840"/>
            <a:ext cx="1364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 &amp; Access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2196389" y="3611880"/>
            <a:ext cx="136428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environment and Terraform baseline. Entra ID app, groups and Cognito federation live. Repositories, CI and Bedrock enablement in place.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2196389" y="4453128"/>
            <a:ext cx="1364285" cy="7315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66" name="Text 64"/>
          <p:cNvSpPr/>
          <p:nvPr/>
        </p:nvSpPr>
        <p:spPr>
          <a:xfrm>
            <a:off x="2196389" y="4498848"/>
            <a:ext cx="13642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Sign-in Live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70986" y="3218688"/>
            <a:ext cx="1602029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889858" y="3291840"/>
            <a:ext cx="1364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 &amp; Governance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3889858" y="3611880"/>
            <a:ext cx="136428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pipeline on Nova documents. Metadata, version ranking, duplicate detection and the curator review queue working end to end.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889858" y="4453128"/>
            <a:ext cx="1364285" cy="7315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71" name="Text 69"/>
          <p:cNvSpPr/>
          <p:nvPr/>
        </p:nvSpPr>
        <p:spPr>
          <a:xfrm>
            <a:off x="3889858" y="4498848"/>
            <a:ext cx="13642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Corpus Governed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464454" y="3218688"/>
            <a:ext cx="1602029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583326" y="3291840"/>
            <a:ext cx="1364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Answering &amp; Experience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5583326" y="3611880"/>
            <a:ext cx="136428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retrieval with citations and confidence. Refusal controls and model routing. Nova-branded UI, dashboards and telemetry. Evaluation set built with SMEs.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583326" y="4453128"/>
            <a:ext cx="1364285" cy="7315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76" name="Text 74"/>
          <p:cNvSpPr/>
          <p:nvPr/>
        </p:nvSpPr>
        <p:spPr>
          <a:xfrm>
            <a:off x="5583326" y="4498848"/>
            <a:ext cx="13642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Cited Answers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157923" y="3218688"/>
            <a:ext cx="1602029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276795" y="3291840"/>
            <a:ext cx="1364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Acceptance &amp; Handover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7276795" y="3611880"/>
            <a:ext cx="136428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 against the signed evaluation set. UAT, hardening and security review. Runbook, guides, orchestrator-readiness package and knowledge transfer.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7276795" y="4453128"/>
            <a:ext cx="1364285" cy="7315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81" name="Text 79"/>
          <p:cNvSpPr/>
          <p:nvPr/>
        </p:nvSpPr>
        <p:spPr>
          <a:xfrm>
            <a:off x="7276795" y="4498848"/>
            <a:ext cx="13642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Acceptance &amp; Go-Live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84048" y="4846320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Indicative plan — the detailed timeline is set jointly once discovery inputs are confirmed; dependencies first, dates second. Evaluation runs alongside every phase.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68580" cy="420624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4" name="Text 2"/>
          <p:cNvSpPr/>
          <p:nvPr/>
        </p:nvSpPr>
        <p:spPr>
          <a:xfrm>
            <a:off x="219456" y="82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Deliverables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deliverables with clear descriptions — depth, formats and acceptance criteria are agreed jointly at engagement checkpoints.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84848" y="109728"/>
            <a:ext cx="197510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pic>
        <p:nvPicPr>
          <p:cNvPr id="7" name="Image 0" descr="assets/qz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"/>
            <a:ext cx="292608" cy="2606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87768" y="182880"/>
            <a:ext cx="12802" cy="256032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9" name="Text 6"/>
          <p:cNvSpPr/>
          <p:nvPr/>
        </p:nvSpPr>
        <p:spPr>
          <a:xfrm>
            <a:off x="7342632" y="128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Biomedical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32688"/>
          <a:ext cx="837590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089904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Deliverable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Description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Discovery, Architecture &amp; Alignment Pack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Confirmed scope and measurable success criteria; the four alignment points and working assumptions recorded and signed; architecture views, component responsibilities, security and guardrail approach, and non-functional considerations for Release 1.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Governed Ingestion &amp; Version Control Pipeline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Event-driven ingestion from Amazon S3 with metadata capture, current-vs-superseded ranking, duplicate detection, conflict quarantine and the curator review queue — operating on Nova's approved documents.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Product Knowledge Fabric (working software)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The primary outcome of this engagement: a Nova-branded application deployed in Nova's AWS account — chat with grounded, cited answers and honest refusal, knowledge and telemetry dashboards, and role-scoped access through Entra ID. A working platform Nova teams can use, extend and operate.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Orchestrator-Readiness Package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Documented APIs and MCP-compatible tool definitions so the fabric can be called as a specialist agent by a future Nova Cortex control plane, with the model-routing and configuration approach documented.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Evaluation, Evidence &amp; Handover Pack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505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The jointly built and signed evaluation set with results against agreed thresholds, including refusal behaviour; source code and Terraform in Nova repositories; runbook, admin, user and deployment guides; the evaluation harness for ongoing measurement; and structured knowledge transfer to Nova's Data &amp; AI and IT teams.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84048" y="471830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Indicative list — final deliverable scope is confirmed during discovery and refined at each go / no-go review.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68580" cy="420624"/>
          </a:xfrm>
          <a:prstGeom prst="rect">
            <a:avLst/>
          </a:prstGeom>
          <a:solidFill>
            <a:srgbClr val="16407E"/>
          </a:solidFill>
          <a:ln/>
        </p:spPr>
      </p:sp>
      <p:sp>
        <p:nvSpPr>
          <p:cNvPr id="4" name="Text 2"/>
          <p:cNvSpPr/>
          <p:nvPr/>
        </p:nvSpPr>
        <p:spPr>
          <a:xfrm>
            <a:off x="219456" y="82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84848" y="109728"/>
            <a:ext cx="197510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  <a:effectLst>
            <a:outerShdw sx="100000" sy="100000" kx="0" ky="0" algn="bl" rotWithShape="0" blurRad="76200" dist="12700" dir="5400000">
              <a:srgbClr val="9FB4CC">
                <a:alpha val="30000"/>
              </a:srgbClr>
            </a:outerShdw>
          </a:effectLst>
        </p:spPr>
      </p:sp>
      <p:pic>
        <p:nvPicPr>
          <p:cNvPr id="6" name="Image 0" descr="assets/qz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"/>
            <a:ext cx="292608" cy="2606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87768" y="182880"/>
            <a:ext cx="12802" cy="256032"/>
          </a:xfrm>
          <a:prstGeom prst="rect">
            <a:avLst/>
          </a:prstGeom>
          <a:solidFill>
            <a:srgbClr val="D7E3F2"/>
          </a:solidFill>
          <a:ln/>
        </p:spPr>
      </p:sp>
      <p:sp>
        <p:nvSpPr>
          <p:cNvPr id="8" name="Text 5"/>
          <p:cNvSpPr/>
          <p:nvPr/>
        </p:nvSpPr>
        <p:spPr>
          <a:xfrm>
            <a:off x="7342632" y="128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Biomedical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84048" y="6583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QualiZeal proposes to execute this engagement by deploying the following technical personnel at our </a:t>
            </a:r>
            <a:pPr indent="0" marL="0">
              <a:buNone/>
            </a:pPr>
            <a:r>
              <a:rPr lang="en-US" sz="1000" b="1" i="1" dirty="0">
                <a:solidFill>
                  <a:srgbClr val="1F2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Offshore Delivery Centre in Hyderabad, India</a:t>
            </a:r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4048" y="969264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duration of project discovery, design, implementation, evaluation and handover is 16 weeks with 8 sprints.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335024"/>
          <a:ext cx="7461504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1371600"/>
                <a:gridCol w="155448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Role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Number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Allocation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Duration (Weeks)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Program Manager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3A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50%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AI Architect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3A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50%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AI/ML Engineer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3A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100%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Data Engineer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3A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100%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Full Stack Developer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3A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100%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DevOps Engineer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3A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50%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QA &amp; Evaluation Engineer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3A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50%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</a:tr>
              <a:tr h="292608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 Cost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84048" y="4078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Notes: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38912" y="427939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excludes AWS consumption and any tool or license costs. All infrastructure and Amazon Bedrock model usage runs and bills within Nova Biomedical's own AWS account.</a:t>
            </a:r>
            <a:endParaRPr lang="en-US" sz="760" dirty="0"/>
          </a:p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 assumes an English-first Release 1, native-text source documents, and Nova-side inputs available at kickoff; scanned-document OCR is scoped separately.</a:t>
            </a:r>
            <a:endParaRPr lang="en-US" sz="760" dirty="0"/>
          </a:p>
          <a:p>
            <a:pPr marL="127000" indent="-127000">
              <a:lnSpc>
                <a:spcPct val="102000"/>
              </a:lnSpc>
              <a:buSzPct val="100000"/>
              <a:buChar char="•"/>
            </a:pPr>
            <a:r>
              <a:rPr lang="en-US" sz="760" dirty="0">
                <a:solidFill>
                  <a:srgbClr val="4450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Accepted checkpoint demonstrations baseline the delivered scope; changes follow a simple change-order path.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16407E"/>
          </a:solidFill>
          <a:ln/>
        </p:spPr>
      </p:sp>
      <p:pic>
        <p:nvPicPr>
          <p:cNvPr id="3" name="Image 0" descr="asset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0"/>
            <a:ext cx="4526280" cy="5061204"/>
          </a:xfrm>
          <a:prstGeom prst="rect">
            <a:avLst/>
          </a:prstGeom>
        </p:spPr>
      </p:pic>
      <p:pic>
        <p:nvPicPr>
          <p:cNvPr id="4" name="Image 1" descr="assets/wordmar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2606040" cy="3136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9751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AI-Infused  |  Platform Driven  |  Modern QE Company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" y="23957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658368" y="3090672"/>
            <a:ext cx="1188720" cy="32004"/>
          </a:xfrm>
          <a:prstGeom prst="rect">
            <a:avLst/>
          </a:prstGeom>
          <a:solidFill>
            <a:srgbClr val="E23A48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2552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63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Biomedical  ·  Product Knowledge Fabric — Release 1</a:t>
            </a:r>
            <a:endParaRPr lang="en-US" sz="880" dirty="0"/>
          </a:p>
        </p:txBody>
      </p:sp>
      <p:sp>
        <p:nvSpPr>
          <p:cNvPr id="9" name="Text 5"/>
          <p:cNvSpPr/>
          <p:nvPr/>
        </p:nvSpPr>
        <p:spPr>
          <a:xfrm>
            <a:off x="64008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4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https://qualizeal.com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QualiZeal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Biomedical - Product Knowledge Fabric R1</dc:title>
  <dc:subject>PptxGenJS Presentation</dc:subject>
  <dc:creator>QualiZeal</dc:creator>
  <cp:lastModifiedBy>QualiZeal</cp:lastModifiedBy>
  <cp:revision>1</cp:revision>
  <dcterms:created xsi:type="dcterms:W3CDTF">2026-08-19T08:27:40Z</dcterms:created>
  <dcterms:modified xsi:type="dcterms:W3CDTF">2026-08-19T08:27:40Z</dcterms:modified>
</cp:coreProperties>
</file>